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12192000"/>
  <p:notesSz cx="6858000" cy="9144000"/>
  <p:embeddedFontLst>
    <p:embeddedFont>
      <p:font typeface="Libre Franklin"/>
      <p:regular r:id="rId32"/>
      <p:bold r:id="rId33"/>
      <p:italic r:id="rId34"/>
      <p:boldItalic r:id="rId35"/>
    </p:embeddedFont>
    <p:embeddedFont>
      <p:font typeface="Nunito"/>
      <p:regular r:id="rId36"/>
      <p:bold r:id="rId37"/>
      <p:italic r:id="rId38"/>
      <p:boldItalic r:id="rId39"/>
    </p:embeddedFont>
    <p:embeddedFont>
      <p:font typeface="DM Sans SemiBold"/>
      <p:regular r:id="rId40"/>
      <p:bold r:id="rId41"/>
      <p:italic r:id="rId42"/>
      <p:boldItalic r:id="rId43"/>
    </p:embeddedFont>
    <p:embeddedFont>
      <p:font typeface="DM Sans"/>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8E168AB-235F-408B-90C5-038A2B515F37}">
  <a:tblStyle styleId="{E8E168AB-235F-408B-90C5-038A2B515F3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4114AE29-F4E9-42FB-9A9B-1C0D1D059E13}"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DMSansSemiBold-regular.fntdata"/><Relationship Id="rId20" Type="http://schemas.openxmlformats.org/officeDocument/2006/relationships/slide" Target="slides/slide15.xml"/><Relationship Id="rId42" Type="http://schemas.openxmlformats.org/officeDocument/2006/relationships/font" Target="fonts/DMSansSemiBold-italic.fntdata"/><Relationship Id="rId41" Type="http://schemas.openxmlformats.org/officeDocument/2006/relationships/font" Target="fonts/DMSansSemiBold-bold.fntdata"/><Relationship Id="rId22" Type="http://schemas.openxmlformats.org/officeDocument/2006/relationships/slide" Target="slides/slide17.xml"/><Relationship Id="rId44" Type="http://schemas.openxmlformats.org/officeDocument/2006/relationships/font" Target="fonts/DMSans-regular.fntdata"/><Relationship Id="rId21" Type="http://schemas.openxmlformats.org/officeDocument/2006/relationships/slide" Target="slides/slide16.xml"/><Relationship Id="rId43" Type="http://schemas.openxmlformats.org/officeDocument/2006/relationships/font" Target="fonts/DMSansSemiBold-boldItalic.fntdata"/><Relationship Id="rId24" Type="http://schemas.openxmlformats.org/officeDocument/2006/relationships/slide" Target="slides/slide19.xml"/><Relationship Id="rId46" Type="http://schemas.openxmlformats.org/officeDocument/2006/relationships/font" Target="fonts/DMSans-italic.fntdata"/><Relationship Id="rId23" Type="http://schemas.openxmlformats.org/officeDocument/2006/relationships/slide" Target="slides/slide18.xml"/><Relationship Id="rId45" Type="http://schemas.openxmlformats.org/officeDocument/2006/relationships/font" Target="fonts/DMSans-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schemas.openxmlformats.org/officeDocument/2006/relationships/font" Target="fonts/DMSans-boldItalic.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LibreFranklin-bold.fntdata"/><Relationship Id="rId10" Type="http://schemas.openxmlformats.org/officeDocument/2006/relationships/slide" Target="slides/slide5.xml"/><Relationship Id="rId32" Type="http://schemas.openxmlformats.org/officeDocument/2006/relationships/font" Target="fonts/LibreFranklin-regular.fntdata"/><Relationship Id="rId13" Type="http://schemas.openxmlformats.org/officeDocument/2006/relationships/slide" Target="slides/slide8.xml"/><Relationship Id="rId35" Type="http://schemas.openxmlformats.org/officeDocument/2006/relationships/font" Target="fonts/LibreFranklin-boldItalic.fntdata"/><Relationship Id="rId12" Type="http://schemas.openxmlformats.org/officeDocument/2006/relationships/slide" Target="slides/slide7.xml"/><Relationship Id="rId34" Type="http://schemas.openxmlformats.org/officeDocument/2006/relationships/font" Target="fonts/LibreFranklin-italic.fntdata"/><Relationship Id="rId15" Type="http://schemas.openxmlformats.org/officeDocument/2006/relationships/slide" Target="slides/slide10.xml"/><Relationship Id="rId37" Type="http://schemas.openxmlformats.org/officeDocument/2006/relationships/font" Target="fonts/Nunito-bold.fntdata"/><Relationship Id="rId14" Type="http://schemas.openxmlformats.org/officeDocument/2006/relationships/slide" Target="slides/slide9.xml"/><Relationship Id="rId36" Type="http://schemas.openxmlformats.org/officeDocument/2006/relationships/font" Target="fonts/Nunito-regular.fntdata"/><Relationship Id="rId17" Type="http://schemas.openxmlformats.org/officeDocument/2006/relationships/slide" Target="slides/slide12.xml"/><Relationship Id="rId39" Type="http://schemas.openxmlformats.org/officeDocument/2006/relationships/font" Target="fonts/Nunito-boldItalic.fntdata"/><Relationship Id="rId16" Type="http://schemas.openxmlformats.org/officeDocument/2006/relationships/slide" Target="slides/slide11.xml"/><Relationship Id="rId38" Type="http://schemas.openxmlformats.org/officeDocument/2006/relationships/font" Target="fonts/Nunito-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133" name="Google Shape;13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cfd7e05b1_0_4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140" name="Google Shape;140;g3acfd7e05b1_0_4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150" name="Google Shape;15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acfd7e05b1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158" name="Google Shape;158;g3acfd7e05b1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acfd7e05b1_1_1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166" name="Google Shape;166;g3acfd7e05b1_1_1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acfd7e05b1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174" name="Google Shape;174;g3acfd7e05b1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ad4736a1f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g3ad4736a1f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ad4736a1f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g3ad4736a1f6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acfd7e05b1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201" name="Google Shape;201;g3acfd7e05b1_0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acfd7e05b1_0_1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209" name="Google Shape;209;g3acfd7e05b1_0_1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ad3e39930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ad3e39930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ad3e39930c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ad3e39930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ad3e39930c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ad3e39930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237" name="Google Shape;23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acfd7e05b1_0_3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243" name="Google Shape;243;g3acfd7e05b1_0_3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acfd7e05b1_0_3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249" name="Google Shape;249;g3acfd7e05b1_0_3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258" name="Google Shape;25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acfd7e05b1_0_3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270" name="Google Shape;270;g3acfd7e05b1_0_3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278" name="Google Shape;27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acfd7e05b1_0_3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287" name="Google Shape;287;g3acfd7e05b1_0_3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acfd7e05b1_0_3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300" name="Google Shape;300;g3acfd7e05b1_0_3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acfd7e05b1_0_3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307" name="Google Shape;307;g3acfd7e05b1_0_3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acfd7e05b1_1_1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acfd7e05b1_1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acfd7e05b1_1_1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acfd7e05b1_1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acfd7e05b1_0_4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326" name="Google Shape;326;g3acfd7e05b1_0_4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acfd7e05b1_0_4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334" name="Google Shape;334;g3acfd7e05b1_0_4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Custom Layout">
  <p:cSld name="25_Custom Layout">
    <p:spTree>
      <p:nvGrpSpPr>
        <p:cNvPr id="6" name="Shape 6"/>
        <p:cNvGrpSpPr/>
        <p:nvPr/>
      </p:nvGrpSpPr>
      <p:grpSpPr>
        <a:xfrm>
          <a:off x="0" y="0"/>
          <a:ext cx="0" cy="0"/>
          <a:chOff x="0" y="0"/>
          <a:chExt cx="0" cy="0"/>
        </a:xfrm>
      </p:grpSpPr>
      <p:sp>
        <p:nvSpPr>
          <p:cNvPr id="7" name="Google Shape;7;p2"/>
          <p:cNvSpPr/>
          <p:nvPr>
            <p:ph idx="2" type="pic"/>
          </p:nvPr>
        </p:nvSpPr>
        <p:spPr>
          <a:xfrm>
            <a:off x="839416" y="2106037"/>
            <a:ext cx="3313113" cy="3915351"/>
          </a:xfrm>
          <a:prstGeom prst="rect">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ustom Layout">
  <p:cSld name="4_Custom Layout">
    <p:spTree>
      <p:nvGrpSpPr>
        <p:cNvPr id="8" name="Shape 8"/>
        <p:cNvGrpSpPr/>
        <p:nvPr/>
      </p:nvGrpSpPr>
      <p:grpSpPr>
        <a:xfrm>
          <a:off x="0" y="0"/>
          <a:ext cx="0" cy="0"/>
          <a:chOff x="0" y="0"/>
          <a:chExt cx="0" cy="0"/>
        </a:xfrm>
      </p:grpSpPr>
      <p:sp>
        <p:nvSpPr>
          <p:cNvPr id="9" name="Google Shape;9;p3"/>
          <p:cNvSpPr/>
          <p:nvPr>
            <p:ph idx="2" type="pic"/>
          </p:nvPr>
        </p:nvSpPr>
        <p:spPr>
          <a:xfrm>
            <a:off x="7032625" y="620713"/>
            <a:ext cx="5159375" cy="5616575"/>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Custom Layout">
  <p:cSld name="21_Custom Layout">
    <p:spTree>
      <p:nvGrpSpPr>
        <p:cNvPr id="10" name="Shape 10"/>
        <p:cNvGrpSpPr/>
        <p:nvPr/>
      </p:nvGrpSpPr>
      <p:grpSpPr>
        <a:xfrm>
          <a:off x="0" y="0"/>
          <a:ext cx="0" cy="0"/>
          <a:chOff x="0" y="0"/>
          <a:chExt cx="0" cy="0"/>
        </a:xfrm>
      </p:grpSpPr>
      <p:sp>
        <p:nvSpPr>
          <p:cNvPr id="11" name="Google Shape;11;p4"/>
          <p:cNvSpPr/>
          <p:nvPr>
            <p:ph idx="2" type="pic"/>
          </p:nvPr>
        </p:nvSpPr>
        <p:spPr>
          <a:xfrm>
            <a:off x="6973888" y="1270000"/>
            <a:ext cx="2451100" cy="2451100"/>
          </a:xfrm>
          <a:prstGeom prst="rect">
            <a:avLst/>
          </a:prstGeom>
          <a:noFill/>
          <a:ln>
            <a:noFill/>
          </a:ln>
        </p:spPr>
      </p:sp>
      <p:sp>
        <p:nvSpPr>
          <p:cNvPr id="12" name="Google Shape;12;p4"/>
          <p:cNvSpPr/>
          <p:nvPr>
            <p:ph idx="3" type="pic"/>
          </p:nvPr>
        </p:nvSpPr>
        <p:spPr>
          <a:xfrm>
            <a:off x="8404225" y="3721100"/>
            <a:ext cx="2451100" cy="245110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Custom Layout">
  <p:cSld name="22_Custom Layout">
    <p:spTree>
      <p:nvGrpSpPr>
        <p:cNvPr id="13" name="Shape 13"/>
        <p:cNvGrpSpPr/>
        <p:nvPr/>
      </p:nvGrpSpPr>
      <p:grpSpPr>
        <a:xfrm>
          <a:off x="0" y="0"/>
          <a:ext cx="0" cy="0"/>
          <a:chOff x="0" y="0"/>
          <a:chExt cx="0" cy="0"/>
        </a:xfrm>
      </p:grpSpPr>
      <p:sp>
        <p:nvSpPr>
          <p:cNvPr id="14" name="Google Shape;14;p5"/>
          <p:cNvSpPr/>
          <p:nvPr>
            <p:ph idx="2" type="pic"/>
          </p:nvPr>
        </p:nvSpPr>
        <p:spPr>
          <a:xfrm>
            <a:off x="2359904" y="704850"/>
            <a:ext cx="3736096" cy="5447018"/>
          </a:xfrm>
          <a:prstGeom prst="rect">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_Custom Layout">
  <p:cSld name="36_Custom Layout">
    <p:spTree>
      <p:nvGrpSpPr>
        <p:cNvPr id="15" name="Shape 15"/>
        <p:cNvGrpSpPr/>
        <p:nvPr/>
      </p:nvGrpSpPr>
      <p:grpSpPr>
        <a:xfrm>
          <a:off x="0" y="0"/>
          <a:ext cx="0" cy="0"/>
          <a:chOff x="0" y="0"/>
          <a:chExt cx="0" cy="0"/>
        </a:xfrm>
      </p:grpSpPr>
      <p:sp>
        <p:nvSpPr>
          <p:cNvPr id="16" name="Google Shape;16;p6"/>
          <p:cNvSpPr/>
          <p:nvPr>
            <p:ph idx="2" type="pic"/>
          </p:nvPr>
        </p:nvSpPr>
        <p:spPr>
          <a:xfrm>
            <a:off x="7964488" y="1649413"/>
            <a:ext cx="4227512" cy="5208587"/>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7" name="Shape 17"/>
        <p:cNvGrpSpPr/>
        <p:nvPr/>
      </p:nvGrpSpPr>
      <p:grpSpPr>
        <a:xfrm>
          <a:off x="0" y="0"/>
          <a:ext cx="0" cy="0"/>
          <a:chOff x="0" y="0"/>
          <a:chExt cx="0" cy="0"/>
        </a:xfrm>
      </p:grpSpPr>
      <p:sp>
        <p:nvSpPr>
          <p:cNvPr id="18" name="Google Shape;18;p7"/>
          <p:cNvSpPr/>
          <p:nvPr>
            <p:ph idx="2" type="pic"/>
          </p:nvPr>
        </p:nvSpPr>
        <p:spPr>
          <a:xfrm>
            <a:off x="1416050" y="1340769"/>
            <a:ext cx="7213600" cy="4176462"/>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8_Custom Layout">
  <p:cSld name="38_Custom Layout">
    <p:spTree>
      <p:nvGrpSpPr>
        <p:cNvPr id="19" name="Shape 19"/>
        <p:cNvGrpSpPr/>
        <p:nvPr/>
      </p:nvGrpSpPr>
      <p:grpSpPr>
        <a:xfrm>
          <a:off x="0" y="0"/>
          <a:ext cx="0" cy="0"/>
          <a:chOff x="0" y="0"/>
          <a:chExt cx="0" cy="0"/>
        </a:xfrm>
      </p:grpSpPr>
      <p:sp>
        <p:nvSpPr>
          <p:cNvPr id="20" name="Google Shape;20;p8"/>
          <p:cNvSpPr/>
          <p:nvPr>
            <p:ph idx="2" type="pic"/>
          </p:nvPr>
        </p:nvSpPr>
        <p:spPr>
          <a:xfrm>
            <a:off x="1416050" y="1340769"/>
            <a:ext cx="7213600" cy="4176462"/>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1" name="Shape 21"/>
        <p:cNvGrpSpPr/>
        <p:nvPr/>
      </p:nvGrpSpPr>
      <p:grpSpPr>
        <a:xfrm>
          <a:off x="0" y="0"/>
          <a:ext cx="0" cy="0"/>
          <a:chOff x="0" y="0"/>
          <a:chExt cx="0" cy="0"/>
        </a:xfrm>
      </p:grpSpPr>
      <p:sp>
        <p:nvSpPr>
          <p:cNvPr id="22" name="Google Shape;22;p9"/>
          <p:cNvSpPr/>
          <p:nvPr>
            <p:ph idx="2" type="pic"/>
          </p:nvPr>
        </p:nvSpPr>
        <p:spPr>
          <a:xfrm>
            <a:off x="1055688" y="620688"/>
            <a:ext cx="4104208" cy="5616624"/>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23" name="Shape 23"/>
        <p:cNvGrpSpPr/>
        <p:nvPr/>
      </p:nvGrpSpPr>
      <p:grpSpPr>
        <a:xfrm>
          <a:off x="0" y="0"/>
          <a:ext cx="0" cy="0"/>
          <a:chOff x="0" y="0"/>
          <a:chExt cx="0" cy="0"/>
        </a:xfrm>
      </p:grpSpPr>
      <p:sp>
        <p:nvSpPr>
          <p:cNvPr id="24" name="Google Shape;24;p10"/>
          <p:cNvSpPr/>
          <p:nvPr>
            <p:ph idx="2" type="pic"/>
          </p:nvPr>
        </p:nvSpPr>
        <p:spPr>
          <a:xfrm>
            <a:off x="815975" y="2234263"/>
            <a:ext cx="3524641" cy="3757881"/>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25" name="Shape 25"/>
        <p:cNvGrpSpPr/>
        <p:nvPr/>
      </p:nvGrpSpPr>
      <p:grpSpPr>
        <a:xfrm>
          <a:off x="0" y="0"/>
          <a:ext cx="0" cy="0"/>
          <a:chOff x="0" y="0"/>
          <a:chExt cx="0" cy="0"/>
        </a:xfrm>
      </p:grpSpPr>
      <p:sp>
        <p:nvSpPr>
          <p:cNvPr id="26" name="Google Shape;26;p11"/>
          <p:cNvSpPr/>
          <p:nvPr>
            <p:ph idx="2" type="pic"/>
          </p:nvPr>
        </p:nvSpPr>
        <p:spPr>
          <a:xfrm>
            <a:off x="0" y="2997200"/>
            <a:ext cx="5159375" cy="386080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27" name="Shape 27"/>
        <p:cNvGrpSpPr/>
        <p:nvPr/>
      </p:nvGrpSpPr>
      <p:grpSpPr>
        <a:xfrm>
          <a:off x="0" y="0"/>
          <a:ext cx="0" cy="0"/>
          <a:chOff x="0" y="0"/>
          <a:chExt cx="0" cy="0"/>
        </a:xfrm>
      </p:grpSpPr>
      <p:sp>
        <p:nvSpPr>
          <p:cNvPr id="28" name="Google Shape;28;p12"/>
          <p:cNvSpPr/>
          <p:nvPr>
            <p:ph idx="2" type="pic"/>
          </p:nvPr>
        </p:nvSpPr>
        <p:spPr>
          <a:xfrm>
            <a:off x="7032625" y="0"/>
            <a:ext cx="3743325" cy="4365625"/>
          </a:xfrm>
          <a:prstGeom prst="rect">
            <a:avLst/>
          </a:prstGeom>
          <a:noFill/>
          <a:ln>
            <a:noFill/>
          </a:ln>
        </p:spPr>
      </p:sp>
      <p:sp>
        <p:nvSpPr>
          <p:cNvPr id="29" name="Google Shape;29;p12"/>
          <p:cNvSpPr/>
          <p:nvPr>
            <p:ph idx="3" type="pic"/>
          </p:nvPr>
        </p:nvSpPr>
        <p:spPr>
          <a:xfrm>
            <a:off x="7032625" y="4581525"/>
            <a:ext cx="3743895" cy="2276475"/>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ustom Layout">
  <p:cSld name="3_Custom Layout">
    <p:spTree>
      <p:nvGrpSpPr>
        <p:cNvPr id="30" name="Shape 30"/>
        <p:cNvGrpSpPr/>
        <p:nvPr/>
      </p:nvGrpSpPr>
      <p:grpSpPr>
        <a:xfrm>
          <a:off x="0" y="0"/>
          <a:ext cx="0" cy="0"/>
          <a:chOff x="0" y="0"/>
          <a:chExt cx="0" cy="0"/>
        </a:xfrm>
      </p:grpSpPr>
      <p:sp>
        <p:nvSpPr>
          <p:cNvPr id="31" name="Google Shape;31;p13"/>
          <p:cNvSpPr/>
          <p:nvPr>
            <p:ph idx="2" type="pic"/>
          </p:nvPr>
        </p:nvSpPr>
        <p:spPr>
          <a:xfrm>
            <a:off x="8904288" y="0"/>
            <a:ext cx="3287712" cy="3432175"/>
          </a:xfrm>
          <a:prstGeom prst="rect">
            <a:avLst/>
          </a:prstGeom>
          <a:noFill/>
          <a:ln>
            <a:noFill/>
          </a:ln>
        </p:spPr>
      </p:sp>
      <p:sp>
        <p:nvSpPr>
          <p:cNvPr id="32" name="Google Shape;32;p13"/>
          <p:cNvSpPr/>
          <p:nvPr>
            <p:ph idx="3" type="pic"/>
          </p:nvPr>
        </p:nvSpPr>
        <p:spPr>
          <a:xfrm>
            <a:off x="8904288" y="3425825"/>
            <a:ext cx="3287712" cy="3432175"/>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ustom Layout">
  <p:cSld name="7_Custom Layout">
    <p:spTree>
      <p:nvGrpSpPr>
        <p:cNvPr id="33" name="Shape 33"/>
        <p:cNvGrpSpPr/>
        <p:nvPr/>
      </p:nvGrpSpPr>
      <p:grpSpPr>
        <a:xfrm>
          <a:off x="0" y="0"/>
          <a:ext cx="0" cy="0"/>
          <a:chOff x="0" y="0"/>
          <a:chExt cx="0" cy="0"/>
        </a:xfrm>
      </p:grpSpPr>
      <p:sp>
        <p:nvSpPr>
          <p:cNvPr id="34" name="Google Shape;34;p14"/>
          <p:cNvSpPr/>
          <p:nvPr>
            <p:ph idx="2" type="pic"/>
          </p:nvPr>
        </p:nvSpPr>
        <p:spPr>
          <a:xfrm>
            <a:off x="7962900" y="1204913"/>
            <a:ext cx="2843213" cy="4867275"/>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Custom Layout">
  <p:cSld name="8_Custom Layout">
    <p:spTree>
      <p:nvGrpSpPr>
        <p:cNvPr id="35" name="Shape 35"/>
        <p:cNvGrpSpPr/>
        <p:nvPr/>
      </p:nvGrpSpPr>
      <p:grpSpPr>
        <a:xfrm>
          <a:off x="0" y="0"/>
          <a:ext cx="0" cy="0"/>
          <a:chOff x="0" y="0"/>
          <a:chExt cx="0" cy="0"/>
        </a:xfrm>
      </p:grpSpPr>
      <p:sp>
        <p:nvSpPr>
          <p:cNvPr id="36" name="Google Shape;36;p15"/>
          <p:cNvSpPr/>
          <p:nvPr>
            <p:ph idx="2" type="pic"/>
          </p:nvPr>
        </p:nvSpPr>
        <p:spPr>
          <a:xfrm>
            <a:off x="4223792" y="842020"/>
            <a:ext cx="3744416" cy="5177780"/>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_Custom Layout">
  <p:cSld name="39_Custom Layout">
    <p:spTree>
      <p:nvGrpSpPr>
        <p:cNvPr id="37" name="Shape 37"/>
        <p:cNvGrpSpPr/>
        <p:nvPr/>
      </p:nvGrpSpPr>
      <p:grpSpPr>
        <a:xfrm>
          <a:off x="0" y="0"/>
          <a:ext cx="0" cy="0"/>
          <a:chOff x="0" y="0"/>
          <a:chExt cx="0" cy="0"/>
        </a:xfrm>
      </p:grpSpPr>
      <p:sp>
        <p:nvSpPr>
          <p:cNvPr id="38" name="Google Shape;38;p16"/>
          <p:cNvSpPr/>
          <p:nvPr>
            <p:ph idx="2" type="pic"/>
          </p:nvPr>
        </p:nvSpPr>
        <p:spPr>
          <a:xfrm>
            <a:off x="781050" y="4833938"/>
            <a:ext cx="922338" cy="1403350"/>
          </a:xfrm>
          <a:prstGeom prst="rect">
            <a:avLst/>
          </a:prstGeom>
          <a:noFill/>
          <a:ln>
            <a:noFill/>
          </a:ln>
        </p:spPr>
      </p:sp>
      <p:sp>
        <p:nvSpPr>
          <p:cNvPr id="39" name="Google Shape;39;p16"/>
          <p:cNvSpPr/>
          <p:nvPr>
            <p:ph idx="3" type="pic"/>
          </p:nvPr>
        </p:nvSpPr>
        <p:spPr>
          <a:xfrm>
            <a:off x="3802063" y="4833938"/>
            <a:ext cx="1628775" cy="1403350"/>
          </a:xfrm>
          <a:prstGeom prst="rect">
            <a:avLst/>
          </a:prstGeom>
          <a:noFill/>
          <a:ln>
            <a:noFill/>
          </a:ln>
        </p:spPr>
      </p:sp>
      <p:sp>
        <p:nvSpPr>
          <p:cNvPr id="40" name="Google Shape;40;p16"/>
          <p:cNvSpPr/>
          <p:nvPr>
            <p:ph idx="4" type="pic"/>
          </p:nvPr>
        </p:nvSpPr>
        <p:spPr>
          <a:xfrm>
            <a:off x="6824663" y="5516563"/>
            <a:ext cx="1628775" cy="720725"/>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Custom Layout">
  <p:cSld name="9_Custom Layout">
    <p:spTree>
      <p:nvGrpSpPr>
        <p:cNvPr id="41" name="Shape 41"/>
        <p:cNvGrpSpPr/>
        <p:nvPr/>
      </p:nvGrpSpPr>
      <p:grpSpPr>
        <a:xfrm>
          <a:off x="0" y="0"/>
          <a:ext cx="0" cy="0"/>
          <a:chOff x="0" y="0"/>
          <a:chExt cx="0" cy="0"/>
        </a:xfrm>
      </p:grpSpPr>
      <p:sp>
        <p:nvSpPr>
          <p:cNvPr id="42" name="Google Shape;42;p17"/>
          <p:cNvSpPr/>
          <p:nvPr>
            <p:ph idx="2" type="pic"/>
          </p:nvPr>
        </p:nvSpPr>
        <p:spPr>
          <a:xfrm>
            <a:off x="785439" y="2124210"/>
            <a:ext cx="2002512" cy="4091589"/>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Custom Layout">
  <p:cSld name="10_Custom Layout">
    <p:spTree>
      <p:nvGrpSpPr>
        <p:cNvPr id="43" name="Shape 43"/>
        <p:cNvGrpSpPr/>
        <p:nvPr/>
      </p:nvGrpSpPr>
      <p:grpSpPr>
        <a:xfrm>
          <a:off x="0" y="0"/>
          <a:ext cx="0" cy="0"/>
          <a:chOff x="0" y="0"/>
          <a:chExt cx="0" cy="0"/>
        </a:xfrm>
      </p:grpSpPr>
      <p:sp>
        <p:nvSpPr>
          <p:cNvPr id="44" name="Google Shape;44;p18"/>
          <p:cNvSpPr/>
          <p:nvPr>
            <p:ph idx="2" type="pic"/>
          </p:nvPr>
        </p:nvSpPr>
        <p:spPr>
          <a:xfrm>
            <a:off x="809625" y="2492375"/>
            <a:ext cx="2066925" cy="2808288"/>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Custom Layout">
  <p:cSld name="11_Custom Layout">
    <p:spTree>
      <p:nvGrpSpPr>
        <p:cNvPr id="45" name="Shape 45"/>
        <p:cNvGrpSpPr/>
        <p:nvPr/>
      </p:nvGrpSpPr>
      <p:grpSpPr>
        <a:xfrm>
          <a:off x="0" y="0"/>
          <a:ext cx="0" cy="0"/>
          <a:chOff x="0" y="0"/>
          <a:chExt cx="0" cy="0"/>
        </a:xfrm>
      </p:grpSpPr>
      <p:sp>
        <p:nvSpPr>
          <p:cNvPr id="46" name="Google Shape;46;p19"/>
          <p:cNvSpPr/>
          <p:nvPr>
            <p:ph idx="2" type="pic"/>
          </p:nvPr>
        </p:nvSpPr>
        <p:spPr>
          <a:xfrm>
            <a:off x="6096000" y="0"/>
            <a:ext cx="6096000" cy="6858000"/>
          </a:xfrm>
          <a:prstGeom prst="rect">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Custom Layout">
  <p:cSld name="12_Custom Layout">
    <p:spTree>
      <p:nvGrpSpPr>
        <p:cNvPr id="47" name="Shape 47"/>
        <p:cNvGrpSpPr/>
        <p:nvPr/>
      </p:nvGrpSpPr>
      <p:grpSpPr>
        <a:xfrm>
          <a:off x="0" y="0"/>
          <a:ext cx="0" cy="0"/>
          <a:chOff x="0" y="0"/>
          <a:chExt cx="0" cy="0"/>
        </a:xfrm>
      </p:grpSpPr>
      <p:sp>
        <p:nvSpPr>
          <p:cNvPr id="48" name="Google Shape;48;p20"/>
          <p:cNvSpPr/>
          <p:nvPr>
            <p:ph idx="2" type="pic"/>
          </p:nvPr>
        </p:nvSpPr>
        <p:spPr>
          <a:xfrm>
            <a:off x="7023100" y="1700213"/>
            <a:ext cx="2816225" cy="5157787"/>
          </a:xfrm>
          <a:prstGeom prst="rect">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Custom Layout">
  <p:cSld name="13_Custom Layout">
    <p:spTree>
      <p:nvGrpSpPr>
        <p:cNvPr id="49" name="Shape 49"/>
        <p:cNvGrpSpPr/>
        <p:nvPr/>
      </p:nvGrpSpPr>
      <p:grpSpPr>
        <a:xfrm>
          <a:off x="0" y="0"/>
          <a:ext cx="0" cy="0"/>
          <a:chOff x="0" y="0"/>
          <a:chExt cx="0" cy="0"/>
        </a:xfrm>
      </p:grpSpPr>
      <p:sp>
        <p:nvSpPr>
          <p:cNvPr id="50" name="Google Shape;50;p21"/>
          <p:cNvSpPr/>
          <p:nvPr>
            <p:ph idx="2" type="pic"/>
          </p:nvPr>
        </p:nvSpPr>
        <p:spPr>
          <a:xfrm>
            <a:off x="2124075" y="1762125"/>
            <a:ext cx="3971925" cy="1738313"/>
          </a:xfrm>
          <a:prstGeom prst="rect">
            <a:avLst/>
          </a:prstGeom>
          <a:noFill/>
          <a:ln>
            <a:noFill/>
          </a:ln>
        </p:spPr>
      </p:sp>
      <p:sp>
        <p:nvSpPr>
          <p:cNvPr id="51" name="Google Shape;51;p21"/>
          <p:cNvSpPr/>
          <p:nvPr>
            <p:ph idx="3" type="pic"/>
          </p:nvPr>
        </p:nvSpPr>
        <p:spPr>
          <a:xfrm>
            <a:off x="6096000" y="3490913"/>
            <a:ext cx="3971925" cy="1738312"/>
          </a:xfrm>
          <a:prstGeom prst="rect">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Custom Layout">
  <p:cSld name="14_Custom Layout">
    <p:spTree>
      <p:nvGrpSpPr>
        <p:cNvPr id="52" name="Shape 52"/>
        <p:cNvGrpSpPr/>
        <p:nvPr/>
      </p:nvGrpSpPr>
      <p:grpSpPr>
        <a:xfrm>
          <a:off x="0" y="0"/>
          <a:ext cx="0" cy="0"/>
          <a:chOff x="0" y="0"/>
          <a:chExt cx="0" cy="0"/>
        </a:xfrm>
      </p:grpSpPr>
      <p:sp>
        <p:nvSpPr>
          <p:cNvPr id="53" name="Google Shape;53;p22"/>
          <p:cNvSpPr/>
          <p:nvPr>
            <p:ph idx="2" type="pic"/>
          </p:nvPr>
        </p:nvSpPr>
        <p:spPr>
          <a:xfrm>
            <a:off x="1871713" y="1935956"/>
            <a:ext cx="2255887" cy="4074728"/>
          </a:xfrm>
          <a:prstGeom prst="round2SameRect">
            <a:avLst>
              <a:gd fmla="val 7237" name="adj1"/>
              <a:gd fmla="val 0" name="adj2"/>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Custom Layout">
  <p:cSld name="15_Custom Layout">
    <p:spTree>
      <p:nvGrpSpPr>
        <p:cNvPr id="54" name="Shape 54"/>
        <p:cNvGrpSpPr/>
        <p:nvPr/>
      </p:nvGrpSpPr>
      <p:grpSpPr>
        <a:xfrm>
          <a:off x="0" y="0"/>
          <a:ext cx="0" cy="0"/>
          <a:chOff x="0" y="0"/>
          <a:chExt cx="0" cy="0"/>
        </a:xfrm>
      </p:grpSpPr>
      <p:sp>
        <p:nvSpPr>
          <p:cNvPr id="55" name="Google Shape;55;p23"/>
          <p:cNvSpPr/>
          <p:nvPr>
            <p:ph idx="2" type="pic"/>
          </p:nvPr>
        </p:nvSpPr>
        <p:spPr>
          <a:xfrm>
            <a:off x="6311900" y="2841625"/>
            <a:ext cx="3652838" cy="2286000"/>
          </a:xfrm>
          <a:prstGeom prst="rect">
            <a:avLst/>
          </a:prstGeom>
          <a:no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Custom Layout">
  <p:cSld name="16_Custom Layout">
    <p:spTree>
      <p:nvGrpSpPr>
        <p:cNvPr id="56" name="Shape 56"/>
        <p:cNvGrpSpPr/>
        <p:nvPr/>
      </p:nvGrpSpPr>
      <p:grpSpPr>
        <a:xfrm>
          <a:off x="0" y="0"/>
          <a:ext cx="0" cy="0"/>
          <a:chOff x="0" y="0"/>
          <a:chExt cx="0" cy="0"/>
        </a:xfrm>
      </p:grpSpPr>
      <p:sp>
        <p:nvSpPr>
          <p:cNvPr id="57" name="Google Shape;57;p24"/>
          <p:cNvSpPr/>
          <p:nvPr>
            <p:ph idx="2" type="pic"/>
          </p:nvPr>
        </p:nvSpPr>
        <p:spPr>
          <a:xfrm>
            <a:off x="6289676" y="2539999"/>
            <a:ext cx="4156074" cy="3114675"/>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Custom Layout">
  <p:cSld name="17_Custom Layout">
    <p:spTree>
      <p:nvGrpSpPr>
        <p:cNvPr id="58" name="Shape 58"/>
        <p:cNvGrpSpPr/>
        <p:nvPr/>
      </p:nvGrpSpPr>
      <p:grpSpPr>
        <a:xfrm>
          <a:off x="0" y="0"/>
          <a:ext cx="0" cy="0"/>
          <a:chOff x="0" y="0"/>
          <a:chExt cx="0" cy="0"/>
        </a:xfrm>
      </p:grpSpPr>
      <p:sp>
        <p:nvSpPr>
          <p:cNvPr id="59" name="Google Shape;59;p25"/>
          <p:cNvSpPr/>
          <p:nvPr>
            <p:ph idx="2" type="pic"/>
          </p:nvPr>
        </p:nvSpPr>
        <p:spPr>
          <a:xfrm>
            <a:off x="5397500" y="2636838"/>
            <a:ext cx="2690813" cy="2663825"/>
          </a:xfrm>
          <a:prstGeom prst="rect">
            <a:avLst/>
          </a:prstGeom>
          <a:noFill/>
          <a:ln>
            <a:noFill/>
          </a:ln>
        </p:spPr>
      </p:sp>
      <p:sp>
        <p:nvSpPr>
          <p:cNvPr id="60" name="Google Shape;60;p25"/>
          <p:cNvSpPr/>
          <p:nvPr>
            <p:ph idx="3" type="pic"/>
          </p:nvPr>
        </p:nvSpPr>
        <p:spPr>
          <a:xfrm>
            <a:off x="8088313" y="2636838"/>
            <a:ext cx="2689225" cy="2663825"/>
          </a:xfrm>
          <a:prstGeom prst="rect">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Custom Layout">
  <p:cSld name="18_Custom Layout">
    <p:spTree>
      <p:nvGrpSpPr>
        <p:cNvPr id="61" name="Shape 61"/>
        <p:cNvGrpSpPr/>
        <p:nvPr/>
      </p:nvGrpSpPr>
      <p:grpSpPr>
        <a:xfrm>
          <a:off x="0" y="0"/>
          <a:ext cx="0" cy="0"/>
          <a:chOff x="0" y="0"/>
          <a:chExt cx="0" cy="0"/>
        </a:xfrm>
      </p:grpSpPr>
      <p:sp>
        <p:nvSpPr>
          <p:cNvPr id="62" name="Google Shape;62;p26"/>
          <p:cNvSpPr/>
          <p:nvPr>
            <p:ph idx="2" type="pic"/>
          </p:nvPr>
        </p:nvSpPr>
        <p:spPr>
          <a:xfrm>
            <a:off x="4151313" y="3429000"/>
            <a:ext cx="1296987" cy="1295400"/>
          </a:xfrm>
          <a:prstGeom prst="rect">
            <a:avLst/>
          </a:prstGeom>
          <a:noFill/>
          <a:ln>
            <a:noFill/>
          </a:ln>
        </p:spPr>
      </p:sp>
      <p:sp>
        <p:nvSpPr>
          <p:cNvPr id="63" name="Google Shape;63;p26"/>
          <p:cNvSpPr/>
          <p:nvPr>
            <p:ph idx="3" type="pic"/>
          </p:nvPr>
        </p:nvSpPr>
        <p:spPr>
          <a:xfrm>
            <a:off x="5448300" y="2133600"/>
            <a:ext cx="1295400" cy="1295400"/>
          </a:xfrm>
          <a:prstGeom prst="rect">
            <a:avLst/>
          </a:prstGeom>
          <a:noFill/>
          <a:ln>
            <a:noFill/>
          </a:ln>
        </p:spPr>
      </p:sp>
      <p:sp>
        <p:nvSpPr>
          <p:cNvPr id="64" name="Google Shape;64;p26"/>
          <p:cNvSpPr/>
          <p:nvPr>
            <p:ph idx="4" type="pic"/>
          </p:nvPr>
        </p:nvSpPr>
        <p:spPr>
          <a:xfrm>
            <a:off x="6743700" y="2133600"/>
            <a:ext cx="1296988" cy="1295400"/>
          </a:xfrm>
          <a:prstGeom prst="rect">
            <a:avLst/>
          </a:prstGeom>
          <a:noFill/>
          <a:ln>
            <a:noFill/>
          </a:ln>
        </p:spPr>
      </p:sp>
      <p:sp>
        <p:nvSpPr>
          <p:cNvPr id="65" name="Google Shape;65;p26"/>
          <p:cNvSpPr/>
          <p:nvPr>
            <p:ph idx="5" type="pic"/>
          </p:nvPr>
        </p:nvSpPr>
        <p:spPr>
          <a:xfrm>
            <a:off x="5448300" y="3429000"/>
            <a:ext cx="1295400" cy="1295400"/>
          </a:xfrm>
          <a:prstGeom prst="rect">
            <a:avLst/>
          </a:prstGeom>
          <a:no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_Custom Layout">
  <p:cSld name="40_Custom Layout">
    <p:spTree>
      <p:nvGrpSpPr>
        <p:cNvPr id="66" name="Shape 66"/>
        <p:cNvGrpSpPr/>
        <p:nvPr/>
      </p:nvGrpSpPr>
      <p:grpSpPr>
        <a:xfrm>
          <a:off x="0" y="0"/>
          <a:ext cx="0" cy="0"/>
          <a:chOff x="0" y="0"/>
          <a:chExt cx="0" cy="0"/>
        </a:xfrm>
      </p:grpSpPr>
      <p:sp>
        <p:nvSpPr>
          <p:cNvPr id="67" name="Google Shape;67;p27"/>
          <p:cNvSpPr/>
          <p:nvPr>
            <p:ph idx="2" type="pic"/>
          </p:nvPr>
        </p:nvSpPr>
        <p:spPr>
          <a:xfrm>
            <a:off x="808038" y="2276475"/>
            <a:ext cx="2881312" cy="3240088"/>
          </a:xfrm>
          <a:prstGeom prst="rect">
            <a:avLst/>
          </a:prstGeom>
          <a:noFill/>
          <a:ln>
            <a:noFill/>
          </a:ln>
        </p:spPr>
      </p:sp>
      <p:sp>
        <p:nvSpPr>
          <p:cNvPr id="68" name="Google Shape;68;p27"/>
          <p:cNvSpPr/>
          <p:nvPr>
            <p:ph idx="3" type="pic"/>
          </p:nvPr>
        </p:nvSpPr>
        <p:spPr>
          <a:xfrm>
            <a:off x="7319963" y="2276475"/>
            <a:ext cx="4872037" cy="3240088"/>
          </a:xfrm>
          <a:prstGeom prst="rect">
            <a:avLst/>
          </a:prstGeom>
          <a:no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Custom Layout">
  <p:cSld name="20_Custom Layout">
    <p:spTree>
      <p:nvGrpSpPr>
        <p:cNvPr id="69" name="Shape 69"/>
        <p:cNvGrpSpPr/>
        <p:nvPr/>
      </p:nvGrpSpPr>
      <p:grpSpPr>
        <a:xfrm>
          <a:off x="0" y="0"/>
          <a:ext cx="0" cy="0"/>
          <a:chOff x="0" y="0"/>
          <a:chExt cx="0" cy="0"/>
        </a:xfrm>
      </p:grpSpPr>
      <p:sp>
        <p:nvSpPr>
          <p:cNvPr id="70" name="Google Shape;70;p28"/>
          <p:cNvSpPr/>
          <p:nvPr>
            <p:ph idx="2" type="pic"/>
          </p:nvPr>
        </p:nvSpPr>
        <p:spPr>
          <a:xfrm>
            <a:off x="816174" y="2296952"/>
            <a:ext cx="3393876" cy="3681413"/>
          </a:xfrm>
          <a:prstGeom prst="rect">
            <a:avLst/>
          </a:prstGeom>
          <a:no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_Custom Layout">
  <p:cSld name="41_Custom Layout">
    <p:spTree>
      <p:nvGrpSpPr>
        <p:cNvPr id="71" name="Shape 71"/>
        <p:cNvGrpSpPr/>
        <p:nvPr/>
      </p:nvGrpSpPr>
      <p:grpSpPr>
        <a:xfrm>
          <a:off x="0" y="0"/>
          <a:ext cx="0" cy="0"/>
          <a:chOff x="0" y="0"/>
          <a:chExt cx="0" cy="0"/>
        </a:xfrm>
      </p:grpSpPr>
      <p:sp>
        <p:nvSpPr>
          <p:cNvPr id="72" name="Google Shape;72;p29"/>
          <p:cNvSpPr/>
          <p:nvPr>
            <p:ph idx="2" type="pic"/>
          </p:nvPr>
        </p:nvSpPr>
        <p:spPr>
          <a:xfrm>
            <a:off x="839788" y="0"/>
            <a:ext cx="5256212" cy="3429000"/>
          </a:xfrm>
          <a:prstGeom prst="rect">
            <a:avLst/>
          </a:prstGeom>
          <a:noFill/>
          <a:ln>
            <a:noFill/>
          </a:ln>
        </p:spPr>
      </p:sp>
      <p:sp>
        <p:nvSpPr>
          <p:cNvPr id="73" name="Google Shape;73;p29"/>
          <p:cNvSpPr/>
          <p:nvPr>
            <p:ph idx="3" type="pic"/>
          </p:nvPr>
        </p:nvSpPr>
        <p:spPr>
          <a:xfrm>
            <a:off x="8904288" y="2492375"/>
            <a:ext cx="2132012" cy="3554413"/>
          </a:xfrm>
          <a:prstGeom prst="rect">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_Custom Layout">
  <p:cSld name="42_Custom Layout">
    <p:spTree>
      <p:nvGrpSpPr>
        <p:cNvPr id="74" name="Shape 74"/>
        <p:cNvGrpSpPr/>
        <p:nvPr/>
      </p:nvGrpSpPr>
      <p:grpSpPr>
        <a:xfrm>
          <a:off x="0" y="0"/>
          <a:ext cx="0" cy="0"/>
          <a:chOff x="0" y="0"/>
          <a:chExt cx="0" cy="0"/>
        </a:xfrm>
      </p:grpSpPr>
      <p:sp>
        <p:nvSpPr>
          <p:cNvPr id="75" name="Google Shape;75;p30"/>
          <p:cNvSpPr/>
          <p:nvPr>
            <p:ph idx="2" type="pic"/>
          </p:nvPr>
        </p:nvSpPr>
        <p:spPr>
          <a:xfrm>
            <a:off x="5159375" y="0"/>
            <a:ext cx="2808288" cy="5143500"/>
          </a:xfrm>
          <a:prstGeom prst="rect">
            <a:avLst/>
          </a:prstGeom>
          <a:no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Custom Layout">
  <p:cSld name="23_Custom Layout">
    <p:spTree>
      <p:nvGrpSpPr>
        <p:cNvPr id="76" name="Shape 76"/>
        <p:cNvGrpSpPr/>
        <p:nvPr/>
      </p:nvGrpSpPr>
      <p:grpSpPr>
        <a:xfrm>
          <a:off x="0" y="0"/>
          <a:ext cx="0" cy="0"/>
          <a:chOff x="0" y="0"/>
          <a:chExt cx="0" cy="0"/>
        </a:xfrm>
      </p:grpSpPr>
      <p:sp>
        <p:nvSpPr>
          <p:cNvPr id="77" name="Google Shape;77;p31"/>
          <p:cNvSpPr/>
          <p:nvPr>
            <p:ph idx="2" type="pic"/>
          </p:nvPr>
        </p:nvSpPr>
        <p:spPr>
          <a:xfrm>
            <a:off x="8642558" y="2275410"/>
            <a:ext cx="3549442" cy="3168352"/>
          </a:xfrm>
          <a:prstGeom prst="rect">
            <a:avLst/>
          </a:prstGeom>
          <a:no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3_Custom Layout">
  <p:cSld name="43_Custom Layout">
    <p:spTree>
      <p:nvGrpSpPr>
        <p:cNvPr id="78" name="Shape 78"/>
        <p:cNvGrpSpPr/>
        <p:nvPr/>
      </p:nvGrpSpPr>
      <p:grpSpPr>
        <a:xfrm>
          <a:off x="0" y="0"/>
          <a:ext cx="0" cy="0"/>
          <a:chOff x="0" y="0"/>
          <a:chExt cx="0" cy="0"/>
        </a:xfrm>
      </p:grpSpPr>
      <p:sp>
        <p:nvSpPr>
          <p:cNvPr id="79" name="Google Shape;79;p32"/>
          <p:cNvSpPr/>
          <p:nvPr>
            <p:ph idx="2" type="pic"/>
          </p:nvPr>
        </p:nvSpPr>
        <p:spPr>
          <a:xfrm>
            <a:off x="9466263" y="1851025"/>
            <a:ext cx="1082675" cy="1082675"/>
          </a:xfrm>
          <a:prstGeom prst="rect">
            <a:avLst/>
          </a:prstGeom>
          <a:noFill/>
          <a:ln>
            <a:noFill/>
          </a:ln>
        </p:spPr>
      </p:sp>
      <p:sp>
        <p:nvSpPr>
          <p:cNvPr id="80" name="Google Shape;80;p32"/>
          <p:cNvSpPr/>
          <p:nvPr>
            <p:ph idx="3" type="pic"/>
          </p:nvPr>
        </p:nvSpPr>
        <p:spPr>
          <a:xfrm>
            <a:off x="9466263" y="3318499"/>
            <a:ext cx="1082675" cy="1082675"/>
          </a:xfrm>
          <a:prstGeom prst="rect">
            <a:avLst/>
          </a:prstGeom>
          <a:noFill/>
          <a:ln>
            <a:noFill/>
          </a:ln>
        </p:spPr>
      </p:sp>
      <p:sp>
        <p:nvSpPr>
          <p:cNvPr id="81" name="Google Shape;81;p32"/>
          <p:cNvSpPr/>
          <p:nvPr>
            <p:ph idx="4" type="pic"/>
          </p:nvPr>
        </p:nvSpPr>
        <p:spPr>
          <a:xfrm>
            <a:off x="9466263" y="4785973"/>
            <a:ext cx="1082675" cy="1082675"/>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4_Custom Layout">
  <p:cSld name="44_Custom Layout">
    <p:spTree>
      <p:nvGrpSpPr>
        <p:cNvPr id="82" name="Shape 82"/>
        <p:cNvGrpSpPr/>
        <p:nvPr/>
      </p:nvGrpSpPr>
      <p:grpSpPr>
        <a:xfrm>
          <a:off x="0" y="0"/>
          <a:ext cx="0" cy="0"/>
          <a:chOff x="0" y="0"/>
          <a:chExt cx="0" cy="0"/>
        </a:xfrm>
      </p:grpSpPr>
      <p:sp>
        <p:nvSpPr>
          <p:cNvPr id="83" name="Google Shape;83;p33"/>
          <p:cNvSpPr/>
          <p:nvPr>
            <p:ph idx="2" type="pic"/>
          </p:nvPr>
        </p:nvSpPr>
        <p:spPr>
          <a:xfrm>
            <a:off x="820738" y="2149475"/>
            <a:ext cx="1939925" cy="3313113"/>
          </a:xfrm>
          <a:prstGeom prst="rect">
            <a:avLst/>
          </a:prstGeom>
          <a:noFill/>
          <a:ln>
            <a:noFill/>
          </a:ln>
        </p:spPr>
      </p:sp>
      <p:sp>
        <p:nvSpPr>
          <p:cNvPr id="84" name="Google Shape;84;p33"/>
          <p:cNvSpPr/>
          <p:nvPr>
            <p:ph idx="3" type="pic"/>
          </p:nvPr>
        </p:nvSpPr>
        <p:spPr>
          <a:xfrm>
            <a:off x="2760663" y="2149475"/>
            <a:ext cx="1941512" cy="3313113"/>
          </a:xfrm>
          <a:prstGeom prst="rect">
            <a:avLst/>
          </a:prstGeom>
          <a:noFill/>
          <a:ln>
            <a:noFill/>
          </a:ln>
        </p:spPr>
      </p:sp>
      <p:sp>
        <p:nvSpPr>
          <p:cNvPr id="85" name="Google Shape;85;p33"/>
          <p:cNvSpPr/>
          <p:nvPr>
            <p:ph idx="4" type="pic"/>
          </p:nvPr>
        </p:nvSpPr>
        <p:spPr>
          <a:xfrm>
            <a:off x="4702175" y="2149475"/>
            <a:ext cx="1939925" cy="3313113"/>
          </a:xfrm>
          <a:prstGeom prst="rect">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5_Custom Layout">
  <p:cSld name="45_Custom Layout">
    <p:spTree>
      <p:nvGrpSpPr>
        <p:cNvPr id="86" name="Shape 86"/>
        <p:cNvGrpSpPr/>
        <p:nvPr/>
      </p:nvGrpSpPr>
      <p:grpSpPr>
        <a:xfrm>
          <a:off x="0" y="0"/>
          <a:ext cx="0" cy="0"/>
          <a:chOff x="0" y="0"/>
          <a:chExt cx="0" cy="0"/>
        </a:xfrm>
      </p:grpSpPr>
      <p:sp>
        <p:nvSpPr>
          <p:cNvPr id="87" name="Google Shape;87;p34"/>
          <p:cNvSpPr/>
          <p:nvPr>
            <p:ph idx="2" type="pic"/>
          </p:nvPr>
        </p:nvSpPr>
        <p:spPr>
          <a:xfrm>
            <a:off x="5848350" y="3835400"/>
            <a:ext cx="5030788" cy="3022600"/>
          </a:xfrm>
          <a:prstGeom prst="rect">
            <a:avLst/>
          </a:prstGeom>
          <a:no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Custom Layout">
  <p:cSld name="26_Custom Layout">
    <p:spTree>
      <p:nvGrpSpPr>
        <p:cNvPr id="88" name="Shape 88"/>
        <p:cNvGrpSpPr/>
        <p:nvPr/>
      </p:nvGrpSpPr>
      <p:grpSpPr>
        <a:xfrm>
          <a:off x="0" y="0"/>
          <a:ext cx="0" cy="0"/>
          <a:chOff x="0" y="0"/>
          <a:chExt cx="0" cy="0"/>
        </a:xfrm>
      </p:grpSpPr>
      <p:sp>
        <p:nvSpPr>
          <p:cNvPr id="89" name="Google Shape;89;p35"/>
          <p:cNvSpPr/>
          <p:nvPr>
            <p:ph idx="2" type="pic"/>
          </p:nvPr>
        </p:nvSpPr>
        <p:spPr>
          <a:xfrm>
            <a:off x="819150" y="2682875"/>
            <a:ext cx="7005638" cy="4175125"/>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Custom Layout">
  <p:cSld name="28_Custom Layout">
    <p:spTree>
      <p:nvGrpSpPr>
        <p:cNvPr id="90" name="Shape 90"/>
        <p:cNvGrpSpPr/>
        <p:nvPr/>
      </p:nvGrpSpPr>
      <p:grpSpPr>
        <a:xfrm>
          <a:off x="0" y="0"/>
          <a:ext cx="0" cy="0"/>
          <a:chOff x="0" y="0"/>
          <a:chExt cx="0" cy="0"/>
        </a:xfrm>
      </p:grpSpPr>
      <p:sp>
        <p:nvSpPr>
          <p:cNvPr id="91" name="Google Shape;91;p36"/>
          <p:cNvSpPr/>
          <p:nvPr>
            <p:ph idx="2" type="pic"/>
          </p:nvPr>
        </p:nvSpPr>
        <p:spPr>
          <a:xfrm>
            <a:off x="839788" y="2206625"/>
            <a:ext cx="3767231" cy="3217863"/>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Custom Layout">
  <p:cSld name="29_Custom Layout">
    <p:spTree>
      <p:nvGrpSpPr>
        <p:cNvPr id="92" name="Shape 92"/>
        <p:cNvGrpSpPr/>
        <p:nvPr/>
      </p:nvGrpSpPr>
      <p:grpSpPr>
        <a:xfrm>
          <a:off x="0" y="0"/>
          <a:ext cx="0" cy="0"/>
          <a:chOff x="0" y="0"/>
          <a:chExt cx="0" cy="0"/>
        </a:xfrm>
      </p:grpSpPr>
      <p:sp>
        <p:nvSpPr>
          <p:cNvPr id="93" name="Google Shape;93;p37"/>
          <p:cNvSpPr/>
          <p:nvPr>
            <p:ph idx="2" type="pic"/>
          </p:nvPr>
        </p:nvSpPr>
        <p:spPr>
          <a:xfrm>
            <a:off x="811213" y="2352675"/>
            <a:ext cx="1873250" cy="1871663"/>
          </a:xfrm>
          <a:prstGeom prst="rect">
            <a:avLst/>
          </a:prstGeom>
          <a:noFill/>
          <a:ln>
            <a:noFill/>
          </a:ln>
        </p:spPr>
      </p:sp>
      <p:sp>
        <p:nvSpPr>
          <p:cNvPr id="94" name="Google Shape;94;p37"/>
          <p:cNvSpPr/>
          <p:nvPr>
            <p:ph idx="3" type="pic"/>
          </p:nvPr>
        </p:nvSpPr>
        <p:spPr>
          <a:xfrm>
            <a:off x="6442075" y="2352675"/>
            <a:ext cx="1871663" cy="1871663"/>
          </a:xfrm>
          <a:prstGeom prst="rect">
            <a:avLst/>
          </a:prstGeom>
          <a:noFill/>
          <a:ln>
            <a:no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_Custom Layout">
  <p:cSld name="30_Custom Layout">
    <p:spTree>
      <p:nvGrpSpPr>
        <p:cNvPr id="95" name="Shape 95"/>
        <p:cNvGrpSpPr/>
        <p:nvPr/>
      </p:nvGrpSpPr>
      <p:grpSpPr>
        <a:xfrm>
          <a:off x="0" y="0"/>
          <a:ext cx="0" cy="0"/>
          <a:chOff x="0" y="0"/>
          <a:chExt cx="0" cy="0"/>
        </a:xfrm>
      </p:grpSpPr>
      <p:sp>
        <p:nvSpPr>
          <p:cNvPr id="96" name="Google Shape;96;p38"/>
          <p:cNvSpPr/>
          <p:nvPr>
            <p:ph idx="2" type="pic"/>
          </p:nvPr>
        </p:nvSpPr>
        <p:spPr>
          <a:xfrm>
            <a:off x="8640569" y="3547004"/>
            <a:ext cx="2376264" cy="3310996"/>
          </a:xfrm>
          <a:prstGeom prst="rect">
            <a:avLst/>
          </a:prstGeom>
          <a:noFill/>
          <a:ln>
            <a:noFill/>
          </a:ln>
        </p:spPr>
      </p:sp>
      <p:sp>
        <p:nvSpPr>
          <p:cNvPr id="97" name="Google Shape;97;p38"/>
          <p:cNvSpPr/>
          <p:nvPr>
            <p:ph idx="3" type="pic"/>
          </p:nvPr>
        </p:nvSpPr>
        <p:spPr>
          <a:xfrm>
            <a:off x="4419600" y="0"/>
            <a:ext cx="1885950" cy="2971800"/>
          </a:xfrm>
          <a:prstGeom prst="rect">
            <a:avLst/>
          </a:prstGeom>
          <a:noFill/>
          <a:ln>
            <a:noFill/>
          </a:ln>
        </p:spPr>
      </p:sp>
      <p:sp>
        <p:nvSpPr>
          <p:cNvPr id="98" name="Google Shape;98;p38"/>
          <p:cNvSpPr/>
          <p:nvPr>
            <p:ph idx="4" type="pic"/>
          </p:nvPr>
        </p:nvSpPr>
        <p:spPr>
          <a:xfrm>
            <a:off x="2460625" y="5076825"/>
            <a:ext cx="2606675" cy="1781175"/>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6_Custom Layout">
  <p:cSld name="46_Custom Layout">
    <p:spTree>
      <p:nvGrpSpPr>
        <p:cNvPr id="99" name="Shape 99"/>
        <p:cNvGrpSpPr/>
        <p:nvPr/>
      </p:nvGrpSpPr>
      <p:grpSpPr>
        <a:xfrm>
          <a:off x="0" y="0"/>
          <a:ext cx="0" cy="0"/>
          <a:chOff x="0" y="0"/>
          <a:chExt cx="0" cy="0"/>
        </a:xfrm>
      </p:grpSpPr>
      <p:sp>
        <p:nvSpPr>
          <p:cNvPr id="100" name="Google Shape;100;p39"/>
          <p:cNvSpPr/>
          <p:nvPr>
            <p:ph idx="2" type="pic"/>
          </p:nvPr>
        </p:nvSpPr>
        <p:spPr>
          <a:xfrm>
            <a:off x="698500" y="2143125"/>
            <a:ext cx="2095500" cy="1655763"/>
          </a:xfrm>
          <a:prstGeom prst="rect">
            <a:avLst/>
          </a:prstGeom>
          <a:noFill/>
          <a:ln>
            <a:noFill/>
          </a:ln>
        </p:spPr>
      </p:sp>
      <p:sp>
        <p:nvSpPr>
          <p:cNvPr id="101" name="Google Shape;101;p39"/>
          <p:cNvSpPr/>
          <p:nvPr>
            <p:ph idx="3" type="pic"/>
          </p:nvPr>
        </p:nvSpPr>
        <p:spPr>
          <a:xfrm>
            <a:off x="3386138" y="2143125"/>
            <a:ext cx="2097087" cy="1655763"/>
          </a:xfrm>
          <a:prstGeom prst="rect">
            <a:avLst/>
          </a:prstGeom>
          <a:noFill/>
          <a:ln>
            <a:noFill/>
          </a:ln>
        </p:spPr>
      </p:sp>
      <p:sp>
        <p:nvSpPr>
          <p:cNvPr id="102" name="Google Shape;102;p39"/>
          <p:cNvSpPr/>
          <p:nvPr>
            <p:ph idx="4" type="pic"/>
          </p:nvPr>
        </p:nvSpPr>
        <p:spPr>
          <a:xfrm>
            <a:off x="6073775" y="2143125"/>
            <a:ext cx="2095500" cy="1655763"/>
          </a:xfrm>
          <a:prstGeom prst="rect">
            <a:avLst/>
          </a:prstGeom>
          <a:noFill/>
          <a:ln>
            <a:noFill/>
          </a:ln>
        </p:spPr>
      </p:sp>
      <p:sp>
        <p:nvSpPr>
          <p:cNvPr id="103" name="Google Shape;103;p39"/>
          <p:cNvSpPr/>
          <p:nvPr>
            <p:ph idx="5" type="pic"/>
          </p:nvPr>
        </p:nvSpPr>
        <p:spPr>
          <a:xfrm>
            <a:off x="8759825" y="2143125"/>
            <a:ext cx="2097088" cy="1655763"/>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Custom Layout">
  <p:cSld name="31_Custom Layout">
    <p:spTree>
      <p:nvGrpSpPr>
        <p:cNvPr id="104" name="Shape 104"/>
        <p:cNvGrpSpPr/>
        <p:nvPr/>
      </p:nvGrpSpPr>
      <p:grpSpPr>
        <a:xfrm>
          <a:off x="0" y="0"/>
          <a:ext cx="0" cy="0"/>
          <a:chOff x="0" y="0"/>
          <a:chExt cx="0" cy="0"/>
        </a:xfrm>
      </p:grpSpPr>
      <p:sp>
        <p:nvSpPr>
          <p:cNvPr id="105" name="Google Shape;105;p40"/>
          <p:cNvSpPr/>
          <p:nvPr>
            <p:ph idx="2" type="pic"/>
          </p:nvPr>
        </p:nvSpPr>
        <p:spPr>
          <a:xfrm>
            <a:off x="5519738" y="855663"/>
            <a:ext cx="2697162" cy="3168650"/>
          </a:xfrm>
          <a:prstGeom prst="rect">
            <a:avLst/>
          </a:prstGeom>
          <a:noFill/>
          <a:ln>
            <a:noFill/>
          </a:ln>
        </p:spPr>
      </p:sp>
      <p:sp>
        <p:nvSpPr>
          <p:cNvPr id="106" name="Google Shape;106;p40"/>
          <p:cNvSpPr/>
          <p:nvPr>
            <p:ph idx="3" type="pic"/>
          </p:nvPr>
        </p:nvSpPr>
        <p:spPr>
          <a:xfrm>
            <a:off x="8216900" y="2865438"/>
            <a:ext cx="2697163" cy="3168650"/>
          </a:xfrm>
          <a:prstGeom prst="rect">
            <a:avLst/>
          </a:prstGeom>
          <a:no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_Custom Layout">
  <p:cSld name="32_Custom Layout">
    <p:spTree>
      <p:nvGrpSpPr>
        <p:cNvPr id="107" name="Shape 107"/>
        <p:cNvGrpSpPr/>
        <p:nvPr/>
      </p:nvGrpSpPr>
      <p:grpSpPr>
        <a:xfrm>
          <a:off x="0" y="0"/>
          <a:ext cx="0" cy="0"/>
          <a:chOff x="0" y="0"/>
          <a:chExt cx="0" cy="0"/>
        </a:xfrm>
      </p:grpSpPr>
      <p:sp>
        <p:nvSpPr>
          <p:cNvPr id="108" name="Google Shape;108;p41"/>
          <p:cNvSpPr/>
          <p:nvPr>
            <p:ph idx="2" type="pic"/>
          </p:nvPr>
        </p:nvSpPr>
        <p:spPr>
          <a:xfrm>
            <a:off x="827088" y="2516188"/>
            <a:ext cx="4230687" cy="2592387"/>
          </a:xfrm>
          <a:prstGeom prst="rect">
            <a:avLst/>
          </a:prstGeom>
          <a:no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_Custom Layout">
  <p:cSld name="34_Custom Layout">
    <p:spTree>
      <p:nvGrpSpPr>
        <p:cNvPr id="109" name="Shape 109"/>
        <p:cNvGrpSpPr/>
        <p:nvPr/>
      </p:nvGrpSpPr>
      <p:grpSpPr>
        <a:xfrm>
          <a:off x="0" y="0"/>
          <a:ext cx="0" cy="0"/>
          <a:chOff x="0" y="0"/>
          <a:chExt cx="0" cy="0"/>
        </a:xfrm>
      </p:grpSpPr>
      <p:sp>
        <p:nvSpPr>
          <p:cNvPr id="110" name="Google Shape;110;p42"/>
          <p:cNvSpPr/>
          <p:nvPr>
            <p:ph idx="2" type="pic"/>
          </p:nvPr>
        </p:nvSpPr>
        <p:spPr>
          <a:xfrm>
            <a:off x="847725" y="4365625"/>
            <a:ext cx="10496550" cy="2492375"/>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_Custom Layout">
  <p:cSld name="35_Custom Layout">
    <p:spTree>
      <p:nvGrpSpPr>
        <p:cNvPr id="111" name="Shape 111"/>
        <p:cNvGrpSpPr/>
        <p:nvPr/>
      </p:nvGrpSpPr>
      <p:grpSpPr>
        <a:xfrm>
          <a:off x="0" y="0"/>
          <a:ext cx="0" cy="0"/>
          <a:chOff x="0" y="0"/>
          <a:chExt cx="0" cy="0"/>
        </a:xfrm>
      </p:grpSpPr>
      <p:sp>
        <p:nvSpPr>
          <p:cNvPr id="112" name="Google Shape;112;p43"/>
          <p:cNvSpPr/>
          <p:nvPr>
            <p:ph idx="2" type="pic"/>
          </p:nvPr>
        </p:nvSpPr>
        <p:spPr>
          <a:xfrm>
            <a:off x="5951983" y="2781300"/>
            <a:ext cx="2233613" cy="3148013"/>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_Custom Layout">
  <p:cSld name="47_Custom Layout">
    <p:spTree>
      <p:nvGrpSpPr>
        <p:cNvPr id="113" name="Shape 113"/>
        <p:cNvGrpSpPr/>
        <p:nvPr/>
      </p:nvGrpSpPr>
      <p:grpSpPr>
        <a:xfrm>
          <a:off x="0" y="0"/>
          <a:ext cx="0" cy="0"/>
          <a:chOff x="0" y="0"/>
          <a:chExt cx="0" cy="0"/>
        </a:xfrm>
      </p:grpSpPr>
      <p:sp>
        <p:nvSpPr>
          <p:cNvPr id="114" name="Google Shape;114;p44"/>
          <p:cNvSpPr/>
          <p:nvPr>
            <p:ph idx="2" type="pic"/>
          </p:nvPr>
        </p:nvSpPr>
        <p:spPr>
          <a:xfrm>
            <a:off x="1148633" y="3344863"/>
            <a:ext cx="807230" cy="807161"/>
          </a:xfrm>
          <a:prstGeom prst="ellipse">
            <a:avLst/>
          </a:prstGeom>
          <a:noFill/>
          <a:ln>
            <a:noFill/>
          </a:ln>
        </p:spPr>
      </p:sp>
      <p:sp>
        <p:nvSpPr>
          <p:cNvPr id="115" name="Google Shape;115;p44"/>
          <p:cNvSpPr/>
          <p:nvPr>
            <p:ph idx="3" type="pic"/>
          </p:nvPr>
        </p:nvSpPr>
        <p:spPr>
          <a:xfrm>
            <a:off x="4753436" y="3344863"/>
            <a:ext cx="807230" cy="807161"/>
          </a:xfrm>
          <a:prstGeom prst="ellipse">
            <a:avLst/>
          </a:prstGeom>
          <a:noFill/>
          <a:ln>
            <a:noFill/>
          </a:ln>
        </p:spPr>
      </p:sp>
      <p:sp>
        <p:nvSpPr>
          <p:cNvPr id="116" name="Google Shape;116;p44"/>
          <p:cNvSpPr/>
          <p:nvPr>
            <p:ph idx="4" type="pic"/>
          </p:nvPr>
        </p:nvSpPr>
        <p:spPr>
          <a:xfrm>
            <a:off x="8358243" y="3344863"/>
            <a:ext cx="807230" cy="807161"/>
          </a:xfrm>
          <a:prstGeom prst="ellipse">
            <a:avLst/>
          </a:prstGeom>
          <a:no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17" name="Shape 117"/>
        <p:cNvGrpSpPr/>
        <p:nvPr/>
      </p:nvGrpSpPr>
      <p:grpSpPr>
        <a:xfrm>
          <a:off x="0" y="0"/>
          <a:ext cx="0" cy="0"/>
          <a:chOff x="0" y="0"/>
          <a:chExt cx="0" cy="0"/>
        </a:xfrm>
      </p:grpSpPr>
      <p:sp>
        <p:nvSpPr>
          <p:cNvPr id="118" name="Google Shape;118;p45"/>
          <p:cNvSpPr/>
          <p:nvPr/>
        </p:nvSpPr>
        <p:spPr>
          <a:xfrm>
            <a:off x="0" y="4578350"/>
            <a:ext cx="12188700" cy="2279700"/>
          </a:xfrm>
          <a:prstGeom prst="rect">
            <a:avLst/>
          </a:pr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19" name="Google Shape;119;p45"/>
          <p:cNvSpPr/>
          <p:nvPr>
            <p:ph idx="2" type="pic"/>
          </p:nvPr>
        </p:nvSpPr>
        <p:spPr>
          <a:xfrm>
            <a:off x="15" y="0"/>
            <a:ext cx="12192000" cy="4578300"/>
          </a:xfrm>
          <a:prstGeom prst="rect">
            <a:avLst/>
          </a:prstGeom>
          <a:solidFill>
            <a:srgbClr val="D8D8D8"/>
          </a:solidFill>
          <a:ln>
            <a:noFill/>
          </a:ln>
        </p:spPr>
      </p:sp>
      <p:sp>
        <p:nvSpPr>
          <p:cNvPr id="120" name="Google Shape;120;p45"/>
          <p:cNvSpPr txBox="1"/>
          <p:nvPr>
            <p:ph type="title"/>
          </p:nvPr>
        </p:nvSpPr>
        <p:spPr>
          <a:xfrm>
            <a:off x="1097279" y="4799362"/>
            <a:ext cx="10113600" cy="743700"/>
          </a:xfrm>
          <a:prstGeom prst="rect">
            <a:avLst/>
          </a:prstGeom>
          <a:noFill/>
          <a:ln>
            <a:noFill/>
          </a:ln>
        </p:spPr>
        <p:txBody>
          <a:bodyPr anchorCtr="0" anchor="b" bIns="0" lIns="91425" spcFirstLastPara="1" rIns="91425" wrap="square" tIns="0">
            <a:noAutofit/>
          </a:bodyPr>
          <a:lstStyle>
            <a:lvl1pPr lvl="0" algn="l">
              <a:lnSpc>
                <a:spcPct val="90000"/>
              </a:lnSpc>
              <a:spcBef>
                <a:spcPts val="0"/>
              </a:spcBef>
              <a:spcAft>
                <a:spcPts val="0"/>
              </a:spcAft>
              <a:buClr>
                <a:srgbClr val="FFFFFF"/>
              </a:buClr>
              <a:buSzPts val="3600"/>
              <a:buFont typeface="Bookman Old Style"/>
              <a:buChar char="●"/>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p45"/>
          <p:cNvSpPr txBox="1"/>
          <p:nvPr>
            <p:ph idx="1" type="body"/>
          </p:nvPr>
        </p:nvSpPr>
        <p:spPr>
          <a:xfrm>
            <a:off x="1097279" y="5715000"/>
            <a:ext cx="10113300" cy="609600"/>
          </a:xfrm>
          <a:prstGeom prst="rect">
            <a:avLst/>
          </a:prstGeom>
          <a:noFill/>
          <a:ln>
            <a:noFill/>
          </a:ln>
        </p:spPr>
        <p:txBody>
          <a:bodyPr anchorCtr="0" anchor="t" bIns="0" lIns="91425" spcFirstLastPara="1" rIns="91425" wrap="square" tIns="0">
            <a:normAutofit/>
          </a:bodyPr>
          <a:lstStyle>
            <a:lvl1pPr indent="-228600" lvl="0" marL="457200" algn="l">
              <a:lnSpc>
                <a:spcPct val="110000"/>
              </a:lnSpc>
              <a:spcBef>
                <a:spcPts val="0"/>
              </a:spcBef>
              <a:spcAft>
                <a:spcPts val="0"/>
              </a:spcAft>
              <a:buSzPts val="1800"/>
              <a:buNone/>
              <a:defRPr sz="1800">
                <a:solidFill>
                  <a:srgbClr val="FFFFFF"/>
                </a:solidFill>
              </a:defRPr>
            </a:lvl1pPr>
            <a:lvl2pPr indent="-228600" lvl="1" marL="914400" algn="l">
              <a:lnSpc>
                <a:spcPct val="100000"/>
              </a:lnSpc>
              <a:spcBef>
                <a:spcPts val="600"/>
              </a:spcBef>
              <a:spcAft>
                <a:spcPts val="0"/>
              </a:spcAft>
              <a:buClr>
                <a:srgbClr val="3F3F3F"/>
              </a:buClr>
              <a:buSzPts val="1200"/>
              <a:buNone/>
              <a:defRPr sz="1200"/>
            </a:lvl2pPr>
            <a:lvl3pPr indent="-228600" lvl="2" marL="1371600" algn="l">
              <a:lnSpc>
                <a:spcPct val="100000"/>
              </a:lnSpc>
              <a:spcBef>
                <a:spcPts val="400"/>
              </a:spcBef>
              <a:spcAft>
                <a:spcPts val="0"/>
              </a:spcAft>
              <a:buClr>
                <a:srgbClr val="3F3F3F"/>
              </a:buClr>
              <a:buSzPts val="1000"/>
              <a:buNone/>
              <a:defRPr sz="1000"/>
            </a:lvl3pPr>
            <a:lvl4pPr indent="-228600" lvl="3" marL="1828800" algn="l">
              <a:lnSpc>
                <a:spcPct val="100000"/>
              </a:lnSpc>
              <a:spcBef>
                <a:spcPts val="400"/>
              </a:spcBef>
              <a:spcAft>
                <a:spcPts val="0"/>
              </a:spcAft>
              <a:buClr>
                <a:srgbClr val="3F3F3F"/>
              </a:buClr>
              <a:buSzPts val="900"/>
              <a:buNone/>
              <a:defRPr sz="900"/>
            </a:lvl4pPr>
            <a:lvl5pPr indent="-228600" lvl="4" marL="2286000" algn="l">
              <a:lnSpc>
                <a:spcPct val="100000"/>
              </a:lnSpc>
              <a:spcBef>
                <a:spcPts val="400"/>
              </a:spcBef>
              <a:spcAft>
                <a:spcPts val="0"/>
              </a:spcAft>
              <a:buClr>
                <a:srgbClr val="3F3F3F"/>
              </a:buClr>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122" name="Google Shape;122;p45"/>
          <p:cNvSpPr txBox="1"/>
          <p:nvPr>
            <p:ph idx="10" type="dt"/>
          </p:nvPr>
        </p:nvSpPr>
        <p:spPr>
          <a:xfrm>
            <a:off x="8218426" y="6446838"/>
            <a:ext cx="25848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45"/>
          <p:cNvSpPr txBox="1"/>
          <p:nvPr>
            <p:ph idx="11" type="ftr"/>
          </p:nvPr>
        </p:nvSpPr>
        <p:spPr>
          <a:xfrm>
            <a:off x="1097279" y="6446838"/>
            <a:ext cx="68184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45"/>
          <p:cNvSpPr txBox="1"/>
          <p:nvPr>
            <p:ph idx="12" type="sldNum"/>
          </p:nvPr>
        </p:nvSpPr>
        <p:spPr>
          <a:xfrm>
            <a:off x="10993582" y="6446838"/>
            <a:ext cx="780000" cy="365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type="obj">
  <p:cSld name="OBJECT">
    <p:spTree>
      <p:nvGrpSpPr>
        <p:cNvPr id="125" name="Shape 125"/>
        <p:cNvGrpSpPr/>
        <p:nvPr/>
      </p:nvGrpSpPr>
      <p:grpSpPr>
        <a:xfrm>
          <a:off x="0" y="0"/>
          <a:ext cx="0" cy="0"/>
          <a:chOff x="0" y="0"/>
          <a:chExt cx="0" cy="0"/>
        </a:xfrm>
      </p:grpSpPr>
      <p:sp>
        <p:nvSpPr>
          <p:cNvPr id="126" name="Google Shape;126;p4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Char cha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 name="Google Shape;127;p4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 name="Google Shape;128;p4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4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4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theme" Target="../theme/theme2.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iris.who.int/server/api/core/bitstreams/b82789de-df63-41ba-8058-25f9f5da0c40/content" TargetMode="External"/><Relationship Id="rId4" Type="http://schemas.openxmlformats.org/officeDocument/2006/relationships/hyperlink" Target="https://www.who.int/news/item/19-11-2015-stunting-in-a-nutshell" TargetMode="External"/><Relationship Id="rId5" Type="http://schemas.openxmlformats.org/officeDocument/2006/relationships/image" Target="../media/image10.png"/><Relationship Id="rId6" Type="http://schemas.openxmlformats.org/officeDocument/2006/relationships/hyperlink" Target="http://openalex.org"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15.png"/><Relationship Id="rId6"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4.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hyperlink" Target="https://iris.who.int/server/api/core/bitstreams/b82789de-df63-41ba-8058-25f9f5da0c40/content" TargetMode="External"/><Relationship Id="rId4" Type="http://schemas.openxmlformats.org/officeDocument/2006/relationships/hyperlink" Target="https://www.who.int/news/item/19-11-2015-stunting-in-a-nutshel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E7492"/>
            </a:gs>
            <a:gs pos="100000">
              <a:srgbClr val="2F363F"/>
            </a:gs>
          </a:gsLst>
          <a:lin ang="5400012" scaled="0"/>
        </a:gradFill>
      </p:bgPr>
    </p:bg>
    <p:spTree>
      <p:nvGrpSpPr>
        <p:cNvPr id="134" name="Shape 134"/>
        <p:cNvGrpSpPr/>
        <p:nvPr/>
      </p:nvGrpSpPr>
      <p:grpSpPr>
        <a:xfrm>
          <a:off x="0" y="0"/>
          <a:ext cx="0" cy="0"/>
          <a:chOff x="0" y="0"/>
          <a:chExt cx="0" cy="0"/>
        </a:xfrm>
      </p:grpSpPr>
      <p:pic>
        <p:nvPicPr>
          <p:cNvPr descr="A close up of a piece of paper with a pencil laying on top" id="135" name="Google Shape;135;p47"/>
          <p:cNvPicPr preferRelativeResize="0"/>
          <p:nvPr/>
        </p:nvPicPr>
        <p:blipFill rotWithShape="1">
          <a:blip r:embed="rId3">
            <a:alphaModFix/>
          </a:blip>
          <a:srcRect b="16616" l="0" r="0" t="16623"/>
          <a:stretch/>
        </p:blipFill>
        <p:spPr>
          <a:xfrm>
            <a:off x="15" y="10"/>
            <a:ext cx="12191985" cy="4578338"/>
          </a:xfrm>
          <a:prstGeom prst="rect">
            <a:avLst/>
          </a:prstGeom>
          <a:noFill/>
          <a:ln>
            <a:noFill/>
          </a:ln>
        </p:spPr>
      </p:pic>
      <p:sp>
        <p:nvSpPr>
          <p:cNvPr id="136" name="Google Shape;136;p47"/>
          <p:cNvSpPr txBox="1"/>
          <p:nvPr>
            <p:ph type="title"/>
          </p:nvPr>
        </p:nvSpPr>
        <p:spPr>
          <a:xfrm>
            <a:off x="746722" y="4910400"/>
            <a:ext cx="10698600" cy="1284600"/>
          </a:xfrm>
          <a:prstGeom prst="rect">
            <a:avLst/>
          </a:prstGeom>
          <a:noFill/>
          <a:ln>
            <a:noFill/>
          </a:ln>
        </p:spPr>
        <p:txBody>
          <a:bodyPr anchorCtr="0" anchor="t" bIns="0" lIns="91425" spcFirstLastPara="1" rIns="91425" wrap="square" tIns="0">
            <a:noAutofit/>
          </a:bodyPr>
          <a:lstStyle/>
          <a:p>
            <a:pPr indent="0" lvl="0" marL="0" rtl="0" algn="l">
              <a:lnSpc>
                <a:spcPct val="90000"/>
              </a:lnSpc>
              <a:spcBef>
                <a:spcPts val="0"/>
              </a:spcBef>
              <a:spcAft>
                <a:spcPts val="0"/>
              </a:spcAft>
              <a:buClr>
                <a:srgbClr val="FFFFFF"/>
              </a:buClr>
              <a:buSzPts val="3000"/>
              <a:buFont typeface="Bookman Old Style"/>
              <a:buNone/>
            </a:pPr>
            <a:r>
              <a:rPr lang="en-US" sz="3000">
                <a:solidFill>
                  <a:schemeClr val="lt1"/>
                </a:solidFill>
                <a:latin typeface="DM Sans SemiBold"/>
                <a:ea typeface="DM Sans SemiBold"/>
                <a:cs typeface="DM Sans SemiBold"/>
                <a:sym typeface="DM Sans SemiBold"/>
              </a:rPr>
              <a:t>Factors associated with Anemia and Stunting for children under age 5 of Bangladesh: A study using BDHS 2010 data</a:t>
            </a:r>
            <a:endParaRPr sz="3000">
              <a:solidFill>
                <a:schemeClr val="lt1"/>
              </a:solidFill>
              <a:latin typeface="DM Sans SemiBold"/>
              <a:ea typeface="DM Sans SemiBold"/>
              <a:cs typeface="DM Sans SemiBold"/>
              <a:sym typeface="DM Sans SemiBold"/>
            </a:endParaRPr>
          </a:p>
        </p:txBody>
      </p:sp>
      <p:sp>
        <p:nvSpPr>
          <p:cNvPr id="137" name="Google Shape;137;p47"/>
          <p:cNvSpPr txBox="1"/>
          <p:nvPr>
            <p:ph idx="1" type="body"/>
          </p:nvPr>
        </p:nvSpPr>
        <p:spPr>
          <a:xfrm>
            <a:off x="746725" y="6195002"/>
            <a:ext cx="10113300" cy="465600"/>
          </a:xfrm>
          <a:prstGeom prst="rect">
            <a:avLst/>
          </a:prstGeom>
          <a:noFill/>
          <a:ln>
            <a:noFill/>
          </a:ln>
        </p:spPr>
        <p:txBody>
          <a:bodyPr anchorCtr="0" anchor="t" bIns="0" lIns="91425" spcFirstLastPara="1" rIns="91425" wrap="square" tIns="0">
            <a:normAutofit/>
          </a:bodyPr>
          <a:lstStyle/>
          <a:p>
            <a:pPr indent="0" lvl="0" marL="0" rtl="0" algn="l">
              <a:lnSpc>
                <a:spcPct val="110000"/>
              </a:lnSpc>
              <a:spcBef>
                <a:spcPts val="0"/>
              </a:spcBef>
              <a:spcAft>
                <a:spcPts val="0"/>
              </a:spcAft>
              <a:buSzPts val="2400"/>
              <a:buNone/>
            </a:pPr>
            <a:r>
              <a:rPr lang="en-US">
                <a:solidFill>
                  <a:schemeClr val="lt1"/>
                </a:solidFill>
                <a:latin typeface="DM Sans"/>
                <a:ea typeface="DM Sans"/>
                <a:cs typeface="DM Sans"/>
                <a:sym typeface="DM Sans"/>
              </a:rPr>
              <a:t>Rezoanoor Rahman, Wenjing Liu &amp; Yihao Zhao</a:t>
            </a:r>
            <a:endParaRPr>
              <a:solidFill>
                <a:schemeClr val="lt1"/>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48"/>
          <p:cNvSpPr/>
          <p:nvPr/>
        </p:nvSpPr>
        <p:spPr>
          <a:xfrm>
            <a:off x="8305005" y="0"/>
            <a:ext cx="38871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Calibri"/>
              <a:ea typeface="Calibri"/>
              <a:cs typeface="Calibri"/>
              <a:sym typeface="Calibri"/>
            </a:endParaRPr>
          </a:p>
        </p:txBody>
      </p:sp>
      <p:sp>
        <p:nvSpPr>
          <p:cNvPr id="143" name="Google Shape;143;p48"/>
          <p:cNvSpPr/>
          <p:nvPr/>
        </p:nvSpPr>
        <p:spPr>
          <a:xfrm>
            <a:off x="476250" y="1542232"/>
            <a:ext cx="11236200" cy="47517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4" name="Google Shape;144;p48"/>
          <p:cNvSpPr txBox="1"/>
          <p:nvPr/>
        </p:nvSpPr>
        <p:spPr>
          <a:xfrm>
            <a:off x="416850" y="764550"/>
            <a:ext cx="11295600" cy="38850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00"/>
              </a:buClr>
              <a:buSzPts val="2400"/>
              <a:buFont typeface="Arial"/>
              <a:buNone/>
            </a:pPr>
            <a:r>
              <a:rPr b="1" lang="en-US" sz="2400">
                <a:solidFill>
                  <a:schemeClr val="accent2"/>
                </a:solidFill>
                <a:latin typeface="DM Sans"/>
                <a:ea typeface="DM Sans"/>
                <a:cs typeface="DM Sans"/>
                <a:sym typeface="DM Sans"/>
              </a:rPr>
              <a:t>Introduction</a:t>
            </a:r>
            <a:endParaRPr b="1" i="0" sz="2400" u="none" cap="none" strike="noStrike">
              <a:solidFill>
                <a:schemeClr val="accent2"/>
              </a:solidFill>
              <a:latin typeface="DM Sans"/>
              <a:ea typeface="DM Sans"/>
              <a:cs typeface="DM Sans"/>
              <a:sym typeface="DM Sans"/>
            </a:endParaRPr>
          </a:p>
        </p:txBody>
      </p:sp>
      <p:sp>
        <p:nvSpPr>
          <p:cNvPr id="145" name="Google Shape;145;p48"/>
          <p:cNvSpPr txBox="1"/>
          <p:nvPr/>
        </p:nvSpPr>
        <p:spPr>
          <a:xfrm>
            <a:off x="476250" y="1542229"/>
            <a:ext cx="4971300" cy="4751700"/>
          </a:xfrm>
          <a:prstGeom prst="rect">
            <a:avLst/>
          </a:prstGeom>
          <a:noFill/>
          <a:ln>
            <a:noFill/>
          </a:ln>
        </p:spPr>
        <p:txBody>
          <a:bodyPr anchorCtr="0" anchor="t" bIns="45700" lIns="91425" spcFirstLastPara="1" rIns="91425" wrap="square" tIns="45700">
            <a:noAutofit/>
          </a:bodyPr>
          <a:lstStyle/>
          <a:p>
            <a:pPr indent="-330200" lvl="0" marL="457200" rtl="0" algn="l">
              <a:lnSpc>
                <a:spcPct val="150000"/>
              </a:lnSpc>
              <a:spcBef>
                <a:spcPts val="0"/>
              </a:spcBef>
              <a:spcAft>
                <a:spcPts val="0"/>
              </a:spcAft>
              <a:buClr>
                <a:schemeClr val="dk1"/>
              </a:buClr>
              <a:buSzPts val="1600"/>
              <a:buChar char="•"/>
            </a:pPr>
            <a:r>
              <a:rPr lang="en-US" sz="1600">
                <a:solidFill>
                  <a:schemeClr val="dk1"/>
                </a:solidFill>
                <a:latin typeface="DM Sans"/>
                <a:ea typeface="DM Sans"/>
                <a:cs typeface="DM Sans"/>
                <a:sym typeface="DM Sans"/>
              </a:rPr>
              <a:t>Definitions (WHO)</a:t>
            </a:r>
            <a:endParaRPr sz="1600">
              <a:solidFill>
                <a:schemeClr val="dk1"/>
              </a:solidFill>
              <a:latin typeface="DM Sans"/>
              <a:ea typeface="DM Sans"/>
              <a:cs typeface="DM Sans"/>
              <a:sym typeface="DM Sans"/>
            </a:endParaRPr>
          </a:p>
          <a:p>
            <a:pPr indent="-330200" lvl="1" marL="914400" rtl="0" algn="l">
              <a:lnSpc>
                <a:spcPct val="150000"/>
              </a:lnSpc>
              <a:spcBef>
                <a:spcPts val="0"/>
              </a:spcBef>
              <a:spcAft>
                <a:spcPts val="0"/>
              </a:spcAft>
              <a:buClr>
                <a:schemeClr val="dk1"/>
              </a:buClr>
              <a:buSzPts val="1600"/>
              <a:buChar char="○"/>
            </a:pPr>
            <a:r>
              <a:rPr lang="en-US" sz="1600">
                <a:solidFill>
                  <a:schemeClr val="dk1"/>
                </a:solidFill>
                <a:latin typeface="DM Sans"/>
                <a:ea typeface="DM Sans"/>
                <a:cs typeface="DM Sans"/>
                <a:sym typeface="DM Sans"/>
              </a:rPr>
              <a:t>Anemia(0/1): Haemoglobin concentration &lt;110 g/L [</a:t>
            </a:r>
            <a:r>
              <a:rPr lang="en-US" sz="1600" u="sng">
                <a:solidFill>
                  <a:schemeClr val="dk1"/>
                </a:solidFill>
                <a:latin typeface="DM Sans"/>
                <a:ea typeface="DM Sans"/>
                <a:cs typeface="DM Sans"/>
                <a:sym typeface="DM Sans"/>
                <a:hlinkClick r:id="rId3">
                  <a:extLst>
                    <a:ext uri="{A12FA001-AC4F-418D-AE19-62706E023703}">
                      <ahyp:hlinkClr val="tx"/>
                    </a:ext>
                  </a:extLst>
                </a:hlinkClick>
              </a:rPr>
              <a:t>1</a:t>
            </a:r>
            <a:r>
              <a:rPr lang="en-US" sz="1600">
                <a:solidFill>
                  <a:schemeClr val="dk1"/>
                </a:solidFill>
                <a:latin typeface="DM Sans"/>
                <a:ea typeface="DM Sans"/>
                <a:cs typeface="DM Sans"/>
                <a:sym typeface="DM Sans"/>
              </a:rPr>
              <a:t>]</a:t>
            </a:r>
            <a:endParaRPr sz="1600">
              <a:solidFill>
                <a:schemeClr val="dk1"/>
              </a:solidFill>
              <a:latin typeface="DM Sans"/>
              <a:ea typeface="DM Sans"/>
              <a:cs typeface="DM Sans"/>
              <a:sym typeface="DM Sans"/>
            </a:endParaRPr>
          </a:p>
          <a:p>
            <a:pPr indent="-330200" lvl="1" marL="914400" rtl="0" algn="l">
              <a:lnSpc>
                <a:spcPct val="150000"/>
              </a:lnSpc>
              <a:spcBef>
                <a:spcPts val="0"/>
              </a:spcBef>
              <a:spcAft>
                <a:spcPts val="0"/>
              </a:spcAft>
              <a:buClr>
                <a:schemeClr val="dk1"/>
              </a:buClr>
              <a:buSzPts val="1600"/>
              <a:buChar char="○"/>
            </a:pPr>
            <a:r>
              <a:rPr lang="en-US" sz="1600">
                <a:solidFill>
                  <a:schemeClr val="dk1"/>
                </a:solidFill>
                <a:latin typeface="DM Sans"/>
                <a:ea typeface="DM Sans"/>
                <a:cs typeface="DM Sans"/>
                <a:sym typeface="DM Sans"/>
              </a:rPr>
              <a:t>Stunting (0/1):  if height-for-age is more than two standard deviations below the WHO Child Growth Standards median [</a:t>
            </a:r>
            <a:r>
              <a:rPr lang="en-US" sz="1600" u="sng">
                <a:solidFill>
                  <a:schemeClr val="dk1"/>
                </a:solidFill>
                <a:latin typeface="DM Sans"/>
                <a:ea typeface="DM Sans"/>
                <a:cs typeface="DM Sans"/>
                <a:sym typeface="DM Sans"/>
                <a:hlinkClick r:id="rId4">
                  <a:extLst>
                    <a:ext uri="{A12FA001-AC4F-418D-AE19-62706E023703}">
                      <ahyp:hlinkClr val="tx"/>
                    </a:ext>
                  </a:extLst>
                </a:hlinkClick>
              </a:rPr>
              <a:t>2</a:t>
            </a:r>
            <a:r>
              <a:rPr lang="en-US" sz="1600">
                <a:solidFill>
                  <a:schemeClr val="dk1"/>
                </a:solidFill>
                <a:latin typeface="DM Sans"/>
                <a:ea typeface="DM Sans"/>
                <a:cs typeface="DM Sans"/>
                <a:sym typeface="DM Sans"/>
              </a:rPr>
              <a:t>]</a:t>
            </a:r>
            <a:endParaRPr sz="1600">
              <a:solidFill>
                <a:srgbClr val="424242"/>
              </a:solidFill>
              <a:latin typeface="DM Sans"/>
              <a:ea typeface="DM Sans"/>
              <a:cs typeface="DM Sans"/>
              <a:sym typeface="DM Sans"/>
            </a:endParaRPr>
          </a:p>
          <a:p>
            <a:pPr indent="-330200" lvl="0" marL="457200" rtl="0" algn="l">
              <a:lnSpc>
                <a:spcPct val="115000"/>
              </a:lnSpc>
              <a:spcBef>
                <a:spcPts val="0"/>
              </a:spcBef>
              <a:spcAft>
                <a:spcPts val="0"/>
              </a:spcAft>
              <a:buClr>
                <a:srgbClr val="424242"/>
              </a:buClr>
              <a:buSzPts val="1600"/>
              <a:buFont typeface="DM Sans"/>
              <a:buChar char="•"/>
            </a:pPr>
            <a:r>
              <a:rPr lang="en-US" sz="1600">
                <a:solidFill>
                  <a:srgbClr val="424242"/>
                </a:solidFill>
                <a:latin typeface="DM Sans"/>
                <a:ea typeface="DM Sans"/>
                <a:cs typeface="DM Sans"/>
                <a:sym typeface="DM Sans"/>
              </a:rPr>
              <a:t>Anemia and stunting negatively affects cognitive development and learning ability.</a:t>
            </a:r>
            <a:endParaRPr sz="1600">
              <a:solidFill>
                <a:srgbClr val="424242"/>
              </a:solidFill>
              <a:latin typeface="DM Sans"/>
              <a:ea typeface="DM Sans"/>
              <a:cs typeface="DM Sans"/>
              <a:sym typeface="DM Sans"/>
            </a:endParaRPr>
          </a:p>
          <a:p>
            <a:pPr indent="-330200" lvl="0" marL="457200" rtl="0" algn="l">
              <a:lnSpc>
                <a:spcPct val="115000"/>
              </a:lnSpc>
              <a:spcBef>
                <a:spcPts val="0"/>
              </a:spcBef>
              <a:spcAft>
                <a:spcPts val="0"/>
              </a:spcAft>
              <a:buClr>
                <a:srgbClr val="424242"/>
              </a:buClr>
              <a:buSzPts val="1600"/>
              <a:buFont typeface="DM Sans"/>
              <a:buChar char="•"/>
            </a:pPr>
            <a:r>
              <a:rPr lang="en-US" sz="1600">
                <a:solidFill>
                  <a:srgbClr val="424242"/>
                </a:solidFill>
                <a:latin typeface="DM Sans"/>
                <a:ea typeface="DM Sans"/>
                <a:cs typeface="DM Sans"/>
                <a:sym typeface="DM Sans"/>
              </a:rPr>
              <a:t>Number of publications with keywords in 2024: </a:t>
            </a:r>
            <a:endParaRPr sz="1600">
              <a:solidFill>
                <a:srgbClr val="424242"/>
              </a:solidFill>
              <a:latin typeface="DM Sans"/>
              <a:ea typeface="DM Sans"/>
              <a:cs typeface="DM Sans"/>
              <a:sym typeface="DM Sans"/>
            </a:endParaRPr>
          </a:p>
          <a:p>
            <a:pPr indent="-330200" lvl="1" marL="914400" rtl="0" algn="l">
              <a:lnSpc>
                <a:spcPct val="115000"/>
              </a:lnSpc>
              <a:spcBef>
                <a:spcPts val="0"/>
              </a:spcBef>
              <a:spcAft>
                <a:spcPts val="0"/>
              </a:spcAft>
              <a:buClr>
                <a:srgbClr val="424242"/>
              </a:buClr>
              <a:buSzPts val="1600"/>
              <a:buFont typeface="DM Sans"/>
              <a:buChar char="○"/>
            </a:pPr>
            <a:r>
              <a:rPr lang="en-US" sz="1600">
                <a:solidFill>
                  <a:srgbClr val="424242"/>
                </a:solidFill>
                <a:latin typeface="DM Sans"/>
                <a:ea typeface="DM Sans"/>
                <a:cs typeface="DM Sans"/>
                <a:sym typeface="DM Sans"/>
              </a:rPr>
              <a:t>Anemia:14,404</a:t>
            </a:r>
            <a:endParaRPr sz="1600">
              <a:solidFill>
                <a:srgbClr val="424242"/>
              </a:solidFill>
              <a:latin typeface="DM Sans"/>
              <a:ea typeface="DM Sans"/>
              <a:cs typeface="DM Sans"/>
              <a:sym typeface="DM Sans"/>
            </a:endParaRPr>
          </a:p>
          <a:p>
            <a:pPr indent="-330200" lvl="1" marL="914400" rtl="0" algn="l">
              <a:lnSpc>
                <a:spcPct val="115000"/>
              </a:lnSpc>
              <a:spcBef>
                <a:spcPts val="0"/>
              </a:spcBef>
              <a:spcAft>
                <a:spcPts val="0"/>
              </a:spcAft>
              <a:buClr>
                <a:srgbClr val="424242"/>
              </a:buClr>
              <a:buSzPts val="1600"/>
              <a:buFont typeface="DM Sans"/>
              <a:buChar char="○"/>
            </a:pPr>
            <a:r>
              <a:rPr lang="en-US" sz="1600">
                <a:solidFill>
                  <a:srgbClr val="424242"/>
                </a:solidFill>
                <a:latin typeface="DM Sans"/>
                <a:ea typeface="DM Sans"/>
                <a:cs typeface="DM Sans"/>
                <a:sym typeface="DM Sans"/>
              </a:rPr>
              <a:t>Stunting: 6,707</a:t>
            </a:r>
            <a:endParaRPr sz="1600">
              <a:solidFill>
                <a:srgbClr val="424242"/>
              </a:solidFill>
              <a:latin typeface="DM Sans"/>
              <a:ea typeface="DM Sans"/>
              <a:cs typeface="DM Sans"/>
              <a:sym typeface="DM Sans"/>
            </a:endParaRPr>
          </a:p>
          <a:p>
            <a:pPr indent="-330200" lvl="0" marL="457200" rtl="0" algn="l">
              <a:lnSpc>
                <a:spcPct val="115000"/>
              </a:lnSpc>
              <a:spcBef>
                <a:spcPts val="0"/>
              </a:spcBef>
              <a:spcAft>
                <a:spcPts val="0"/>
              </a:spcAft>
              <a:buClr>
                <a:srgbClr val="424242"/>
              </a:buClr>
              <a:buSzPts val="1600"/>
              <a:buFont typeface="DM Sans"/>
              <a:buChar char="•"/>
            </a:pPr>
            <a:r>
              <a:rPr lang="en-US" sz="1600">
                <a:solidFill>
                  <a:srgbClr val="424242"/>
                </a:solidFill>
                <a:latin typeface="DM Sans"/>
                <a:ea typeface="DM Sans"/>
                <a:cs typeface="DM Sans"/>
                <a:sym typeface="DM Sans"/>
              </a:rPr>
              <a:t>Prediction models are useful for target interventions (e.g. nutrition programs, supplements) to the children most at risk.</a:t>
            </a:r>
            <a:endParaRPr sz="1600">
              <a:solidFill>
                <a:schemeClr val="accent2"/>
              </a:solidFill>
              <a:latin typeface="DM Sans"/>
              <a:ea typeface="DM Sans"/>
              <a:cs typeface="DM Sans"/>
              <a:sym typeface="DM Sans"/>
            </a:endParaRPr>
          </a:p>
          <a:p>
            <a:pPr indent="0" lvl="0" marL="0" marR="0" rtl="0" algn="l">
              <a:lnSpc>
                <a:spcPct val="150000"/>
              </a:lnSpc>
              <a:spcBef>
                <a:spcPts val="400"/>
              </a:spcBef>
              <a:spcAft>
                <a:spcPts val="0"/>
              </a:spcAft>
              <a:buClr>
                <a:srgbClr val="000000"/>
              </a:buClr>
              <a:buSzPts val="1200"/>
              <a:buFont typeface="Arial"/>
              <a:buNone/>
            </a:pPr>
            <a:r>
              <a:t/>
            </a:r>
            <a:endParaRPr b="0" i="0" sz="1200" u="none" cap="none" strike="noStrike">
              <a:solidFill>
                <a:schemeClr val="accent2"/>
              </a:solidFill>
              <a:latin typeface="DM Sans"/>
              <a:ea typeface="DM Sans"/>
              <a:cs typeface="DM Sans"/>
              <a:sym typeface="DM Sans"/>
            </a:endParaRPr>
          </a:p>
        </p:txBody>
      </p:sp>
      <p:pic>
        <p:nvPicPr>
          <p:cNvPr id="146" name="Google Shape;146;p48"/>
          <p:cNvPicPr preferRelativeResize="0"/>
          <p:nvPr/>
        </p:nvPicPr>
        <p:blipFill rotWithShape="1">
          <a:blip r:embed="rId5">
            <a:alphaModFix/>
          </a:blip>
          <a:srcRect b="0" l="0" r="0" t="0"/>
          <a:stretch/>
        </p:blipFill>
        <p:spPr>
          <a:xfrm>
            <a:off x="5447550" y="2233803"/>
            <a:ext cx="6264900" cy="3238500"/>
          </a:xfrm>
          <a:prstGeom prst="rect">
            <a:avLst/>
          </a:prstGeom>
          <a:noFill/>
          <a:ln>
            <a:noFill/>
          </a:ln>
        </p:spPr>
      </p:pic>
      <p:sp>
        <p:nvSpPr>
          <p:cNvPr id="147" name="Google Shape;147;p48"/>
          <p:cNvSpPr txBox="1"/>
          <p:nvPr/>
        </p:nvSpPr>
        <p:spPr>
          <a:xfrm>
            <a:off x="6626100" y="5677125"/>
            <a:ext cx="3907800" cy="246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i="1" lang="en-US">
                <a:solidFill>
                  <a:schemeClr val="dk1"/>
                </a:solidFill>
                <a:latin typeface="Libre Franklin"/>
                <a:ea typeface="Libre Franklin"/>
                <a:cs typeface="Libre Franklin"/>
                <a:sym typeface="Libre Franklin"/>
              </a:rPr>
              <a:t>Data Source: </a:t>
            </a:r>
            <a:r>
              <a:rPr i="1" lang="en-US" u="sng">
                <a:solidFill>
                  <a:srgbClr val="AF4345"/>
                </a:solidFill>
                <a:latin typeface="Libre Franklin"/>
                <a:ea typeface="Libre Franklin"/>
                <a:cs typeface="Libre Franklin"/>
                <a:sym typeface="Libre Franklin"/>
                <a:hlinkClick r:id="rId6">
                  <a:extLst>
                    <a:ext uri="{A12FA001-AC4F-418D-AE19-62706E023703}">
                      <ahyp:hlinkClr val="tx"/>
                    </a:ext>
                  </a:extLst>
                </a:hlinkClick>
              </a:rPr>
              <a:t>openalex.org</a:t>
            </a:r>
            <a:endParaRPr b="1" i="0" sz="1000" u="none" cap="none" strike="noStrike">
              <a:solidFill>
                <a:schemeClr val="accent2"/>
              </a:solidFill>
              <a:latin typeface="DM Sans"/>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49"/>
          <p:cNvSpPr/>
          <p:nvPr/>
        </p:nvSpPr>
        <p:spPr>
          <a:xfrm>
            <a:off x="4223792" y="0"/>
            <a:ext cx="7968300" cy="6858000"/>
          </a:xfrm>
          <a:prstGeom prst="rect">
            <a:avLst/>
          </a:prstGeom>
          <a:solidFill>
            <a:srgbClr val="F2F2F2"/>
          </a:solidFill>
          <a:ln cap="flat" cmpd="sng" w="9525">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3" name="Google Shape;153;p49"/>
          <p:cNvSpPr txBox="1"/>
          <p:nvPr/>
        </p:nvSpPr>
        <p:spPr>
          <a:xfrm>
            <a:off x="479425" y="1633350"/>
            <a:ext cx="3364200" cy="3764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1" lang="en-US" sz="1600">
                <a:solidFill>
                  <a:schemeClr val="accent2"/>
                </a:solidFill>
                <a:latin typeface="DM Sans"/>
                <a:ea typeface="DM Sans"/>
                <a:cs typeface="DM Sans"/>
                <a:sym typeface="DM Sans"/>
              </a:rPr>
              <a:t>Response Variables</a:t>
            </a:r>
            <a:endParaRPr b="1" sz="1600">
              <a:solidFill>
                <a:schemeClr val="accent2"/>
              </a:solidFill>
              <a:latin typeface="DM Sans"/>
              <a:ea typeface="DM Sans"/>
              <a:cs typeface="DM Sans"/>
              <a:sym typeface="DM Sans"/>
            </a:endParaRPr>
          </a:p>
          <a:p>
            <a:pPr indent="-330200" lvl="0" marL="457200" rtl="0" algn="l">
              <a:lnSpc>
                <a:spcPct val="150000"/>
              </a:lnSpc>
              <a:spcBef>
                <a:spcPts val="0"/>
              </a:spcBef>
              <a:spcAft>
                <a:spcPts val="0"/>
              </a:spcAft>
              <a:buClr>
                <a:schemeClr val="dk1"/>
              </a:buClr>
              <a:buSzPts val="1600"/>
              <a:buChar char="•"/>
            </a:pPr>
            <a:r>
              <a:rPr lang="en-US" sz="1600">
                <a:solidFill>
                  <a:schemeClr val="accent2"/>
                </a:solidFill>
                <a:latin typeface="DM Sans"/>
                <a:ea typeface="DM Sans"/>
                <a:cs typeface="DM Sans"/>
                <a:sym typeface="DM Sans"/>
              </a:rPr>
              <a:t>Anemia (0/1)</a:t>
            </a:r>
            <a:endParaRPr sz="1600">
              <a:solidFill>
                <a:schemeClr val="accent2"/>
              </a:solidFill>
              <a:latin typeface="DM Sans"/>
              <a:ea typeface="DM Sans"/>
              <a:cs typeface="DM Sans"/>
              <a:sym typeface="DM Sans"/>
            </a:endParaRPr>
          </a:p>
          <a:p>
            <a:pPr indent="-330200" lvl="0" marL="457200" rtl="0" algn="l">
              <a:lnSpc>
                <a:spcPct val="150000"/>
              </a:lnSpc>
              <a:spcBef>
                <a:spcPts val="0"/>
              </a:spcBef>
              <a:spcAft>
                <a:spcPts val="0"/>
              </a:spcAft>
              <a:buClr>
                <a:schemeClr val="accent2"/>
              </a:buClr>
              <a:buSzPts val="1600"/>
              <a:buFont typeface="DM Sans"/>
              <a:buChar char="•"/>
            </a:pPr>
            <a:r>
              <a:rPr lang="en-US" sz="1600">
                <a:solidFill>
                  <a:schemeClr val="accent2"/>
                </a:solidFill>
                <a:latin typeface="DM Sans"/>
                <a:ea typeface="DM Sans"/>
                <a:cs typeface="DM Sans"/>
                <a:sym typeface="DM Sans"/>
              </a:rPr>
              <a:t>Stunting (0/1)</a:t>
            </a:r>
            <a:endParaRPr sz="1600">
              <a:solidFill>
                <a:schemeClr val="accent2"/>
              </a:solidFill>
              <a:latin typeface="DM Sans"/>
              <a:ea typeface="DM Sans"/>
              <a:cs typeface="DM Sans"/>
              <a:sym typeface="DM Sans"/>
            </a:endParaRPr>
          </a:p>
          <a:p>
            <a:pPr indent="0" lvl="0" marL="0" marR="0" rtl="0" algn="l">
              <a:lnSpc>
                <a:spcPct val="150000"/>
              </a:lnSpc>
              <a:spcBef>
                <a:spcPts val="0"/>
              </a:spcBef>
              <a:spcAft>
                <a:spcPts val="0"/>
              </a:spcAft>
              <a:buNone/>
            </a:pPr>
            <a:r>
              <a:rPr b="1" lang="en-US" sz="1600">
                <a:solidFill>
                  <a:schemeClr val="accent2"/>
                </a:solidFill>
                <a:latin typeface="DM Sans"/>
                <a:ea typeface="DM Sans"/>
                <a:cs typeface="DM Sans"/>
                <a:sym typeface="DM Sans"/>
              </a:rPr>
              <a:t>Missing values</a:t>
            </a:r>
            <a:endParaRPr b="1" sz="1600">
              <a:solidFill>
                <a:schemeClr val="accent2"/>
              </a:solidFill>
              <a:latin typeface="DM Sans"/>
              <a:ea typeface="DM Sans"/>
              <a:cs typeface="DM Sans"/>
              <a:sym typeface="DM Sans"/>
            </a:endParaRPr>
          </a:p>
          <a:p>
            <a:pPr indent="-330200" lvl="0" marL="457200" rtl="0" algn="l">
              <a:lnSpc>
                <a:spcPct val="150000"/>
              </a:lnSpc>
              <a:spcBef>
                <a:spcPts val="0"/>
              </a:spcBef>
              <a:spcAft>
                <a:spcPts val="0"/>
              </a:spcAft>
              <a:buClr>
                <a:schemeClr val="dk1"/>
              </a:buClr>
              <a:buSzPts val="1600"/>
              <a:buChar char="•"/>
            </a:pPr>
            <a:r>
              <a:rPr lang="en-US" sz="1600">
                <a:solidFill>
                  <a:schemeClr val="accent2"/>
                </a:solidFill>
                <a:latin typeface="DM Sans"/>
                <a:ea typeface="DM Sans"/>
                <a:cs typeface="DM Sans"/>
                <a:sym typeface="DM Sans"/>
              </a:rPr>
              <a:t>Label: ./999/9999</a:t>
            </a:r>
            <a:endParaRPr sz="1600">
              <a:solidFill>
                <a:schemeClr val="accent2"/>
              </a:solidFill>
              <a:latin typeface="DM Sans"/>
              <a:ea typeface="DM Sans"/>
              <a:cs typeface="DM Sans"/>
              <a:sym typeface="DM Sans"/>
            </a:endParaRPr>
          </a:p>
          <a:p>
            <a:pPr indent="-330200" lvl="0" marL="457200" rtl="0" algn="l">
              <a:lnSpc>
                <a:spcPct val="150000"/>
              </a:lnSpc>
              <a:spcBef>
                <a:spcPts val="0"/>
              </a:spcBef>
              <a:spcAft>
                <a:spcPts val="0"/>
              </a:spcAft>
              <a:buClr>
                <a:schemeClr val="accent2"/>
              </a:buClr>
              <a:buSzPts val="1600"/>
              <a:buFont typeface="DM Sans"/>
              <a:buChar char="•"/>
            </a:pPr>
            <a:r>
              <a:rPr lang="en-US" sz="1600">
                <a:solidFill>
                  <a:schemeClr val="accent2"/>
                </a:solidFill>
                <a:latin typeface="DM Sans"/>
                <a:ea typeface="DM Sans"/>
                <a:cs typeface="DM Sans"/>
                <a:sym typeface="DM Sans"/>
              </a:rPr>
              <a:t>Less than 5% missing</a:t>
            </a:r>
            <a:endParaRPr sz="1600">
              <a:solidFill>
                <a:schemeClr val="accent2"/>
              </a:solidFill>
              <a:latin typeface="DM Sans"/>
              <a:ea typeface="DM Sans"/>
              <a:cs typeface="DM Sans"/>
              <a:sym typeface="DM Sans"/>
            </a:endParaRPr>
          </a:p>
          <a:p>
            <a:pPr indent="-330200" lvl="0" marL="457200" rtl="0" algn="l">
              <a:lnSpc>
                <a:spcPct val="150000"/>
              </a:lnSpc>
              <a:spcBef>
                <a:spcPts val="0"/>
              </a:spcBef>
              <a:spcAft>
                <a:spcPts val="0"/>
              </a:spcAft>
              <a:buClr>
                <a:schemeClr val="accent2"/>
              </a:buClr>
              <a:buSzPts val="1600"/>
              <a:buFont typeface="DM Sans"/>
              <a:buChar char="•"/>
            </a:pPr>
            <a:r>
              <a:rPr lang="en-US" sz="1600">
                <a:solidFill>
                  <a:schemeClr val="accent2"/>
                </a:solidFill>
                <a:latin typeface="DM Sans"/>
                <a:ea typeface="DM Sans"/>
                <a:cs typeface="DM Sans"/>
                <a:sym typeface="DM Sans"/>
              </a:rPr>
              <a:t>Treatment: STATA default</a:t>
            </a:r>
            <a:endParaRPr sz="1600">
              <a:solidFill>
                <a:schemeClr val="accent2"/>
              </a:solidFill>
              <a:latin typeface="DM Sans"/>
              <a:ea typeface="DM Sans"/>
              <a:cs typeface="DM Sans"/>
              <a:sym typeface="DM Sans"/>
            </a:endParaRPr>
          </a:p>
          <a:p>
            <a:pPr indent="0" lvl="0" marL="0" marR="0" rtl="0" algn="l">
              <a:lnSpc>
                <a:spcPct val="150000"/>
              </a:lnSpc>
              <a:spcBef>
                <a:spcPts val="0"/>
              </a:spcBef>
              <a:spcAft>
                <a:spcPts val="0"/>
              </a:spcAft>
              <a:buNone/>
            </a:pPr>
            <a:r>
              <a:rPr b="1" lang="en-US" sz="1600">
                <a:solidFill>
                  <a:schemeClr val="accent2"/>
                </a:solidFill>
                <a:latin typeface="DM Sans"/>
                <a:ea typeface="DM Sans"/>
                <a:cs typeface="DM Sans"/>
                <a:sym typeface="DM Sans"/>
              </a:rPr>
              <a:t>Model Structure</a:t>
            </a:r>
            <a:endParaRPr b="1" sz="1600">
              <a:solidFill>
                <a:schemeClr val="accent2"/>
              </a:solidFill>
              <a:latin typeface="DM Sans"/>
              <a:ea typeface="DM Sans"/>
              <a:cs typeface="DM Sans"/>
              <a:sym typeface="DM Sans"/>
            </a:endParaRPr>
          </a:p>
          <a:p>
            <a:pPr indent="-330200" lvl="0" marL="457200" rtl="0" algn="l">
              <a:lnSpc>
                <a:spcPct val="90000"/>
              </a:lnSpc>
              <a:spcBef>
                <a:spcPts val="500"/>
              </a:spcBef>
              <a:spcAft>
                <a:spcPts val="0"/>
              </a:spcAft>
              <a:buClr>
                <a:schemeClr val="dk1"/>
              </a:buClr>
              <a:buSzPts val="1600"/>
              <a:buChar char="•"/>
            </a:pPr>
            <a:r>
              <a:rPr lang="en-US" sz="1600">
                <a:solidFill>
                  <a:srgbClr val="424242"/>
                </a:solidFill>
                <a:latin typeface="DM Sans"/>
                <a:ea typeface="DM Sans"/>
                <a:cs typeface="DM Sans"/>
                <a:sym typeface="DM Sans"/>
              </a:rPr>
              <a:t>Two separate multivariate logistic regression models</a:t>
            </a:r>
            <a:endParaRPr sz="1600">
              <a:solidFill>
                <a:schemeClr val="accent2"/>
              </a:solidFill>
              <a:latin typeface="DM Sans"/>
              <a:ea typeface="DM Sans"/>
              <a:cs typeface="DM Sans"/>
              <a:sym typeface="DM Sans"/>
            </a:endParaRPr>
          </a:p>
          <a:p>
            <a:pPr indent="0" lvl="0" marL="0" marR="0" rtl="0" algn="l">
              <a:lnSpc>
                <a:spcPct val="150000"/>
              </a:lnSpc>
              <a:spcBef>
                <a:spcPts val="0"/>
              </a:spcBef>
              <a:spcAft>
                <a:spcPts val="0"/>
              </a:spcAft>
              <a:buNone/>
            </a:pPr>
            <a:r>
              <a:t/>
            </a:r>
            <a:endParaRPr sz="1600">
              <a:solidFill>
                <a:schemeClr val="accent2"/>
              </a:solidFill>
              <a:latin typeface="DM Sans"/>
              <a:ea typeface="DM Sans"/>
              <a:cs typeface="DM Sans"/>
              <a:sym typeface="DM Sans"/>
            </a:endParaRPr>
          </a:p>
          <a:p>
            <a:pPr indent="0" lvl="0" marL="0" marR="0" rtl="0" algn="l">
              <a:lnSpc>
                <a:spcPct val="150000"/>
              </a:lnSpc>
              <a:spcBef>
                <a:spcPts val="0"/>
              </a:spcBef>
              <a:spcAft>
                <a:spcPts val="0"/>
              </a:spcAft>
              <a:buClr>
                <a:srgbClr val="000000"/>
              </a:buClr>
              <a:buSzPts val="1200"/>
              <a:buFont typeface="Arial"/>
              <a:buNone/>
            </a:pPr>
            <a:r>
              <a:t/>
            </a:r>
            <a:endParaRPr b="0" i="0" sz="1200" u="none" cap="none" strike="noStrike">
              <a:solidFill>
                <a:schemeClr val="accent2"/>
              </a:solidFill>
              <a:latin typeface="DM Sans"/>
              <a:ea typeface="DM Sans"/>
              <a:cs typeface="DM Sans"/>
              <a:sym typeface="DM Sans"/>
            </a:endParaRPr>
          </a:p>
        </p:txBody>
      </p:sp>
      <p:sp>
        <p:nvSpPr>
          <p:cNvPr id="154" name="Google Shape;154;p49"/>
          <p:cNvSpPr txBox="1"/>
          <p:nvPr/>
        </p:nvSpPr>
        <p:spPr>
          <a:xfrm>
            <a:off x="479425" y="764540"/>
            <a:ext cx="10750550" cy="45085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00"/>
              </a:buClr>
              <a:buSzPts val="2400"/>
              <a:buFont typeface="Arial"/>
              <a:buNone/>
            </a:pPr>
            <a:r>
              <a:rPr b="1" lang="en-US" sz="2400">
                <a:solidFill>
                  <a:schemeClr val="accent2"/>
                </a:solidFill>
                <a:latin typeface="DM Sans"/>
                <a:ea typeface="DM Sans"/>
                <a:cs typeface="DM Sans"/>
                <a:sym typeface="DM Sans"/>
              </a:rPr>
              <a:t>Data Information and Response Variables</a:t>
            </a:r>
            <a:endParaRPr b="1" i="0" sz="2400" u="none" cap="none" strike="noStrike">
              <a:solidFill>
                <a:schemeClr val="accent2"/>
              </a:solidFill>
              <a:latin typeface="DM Sans"/>
              <a:ea typeface="DM Sans"/>
              <a:cs typeface="DM Sans"/>
              <a:sym typeface="DM Sans"/>
            </a:endParaRPr>
          </a:p>
        </p:txBody>
      </p:sp>
      <p:sp>
        <p:nvSpPr>
          <p:cNvPr id="155" name="Google Shape;155;p49"/>
          <p:cNvSpPr txBox="1"/>
          <p:nvPr/>
        </p:nvSpPr>
        <p:spPr>
          <a:xfrm>
            <a:off x="4223800" y="1633345"/>
            <a:ext cx="4971300" cy="2802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1" lang="en-US" sz="1600">
                <a:solidFill>
                  <a:schemeClr val="accent2"/>
                </a:solidFill>
                <a:latin typeface="DM Sans"/>
                <a:ea typeface="DM Sans"/>
                <a:cs typeface="DM Sans"/>
                <a:sym typeface="DM Sans"/>
              </a:rPr>
              <a:t>Data </a:t>
            </a:r>
            <a:r>
              <a:rPr b="1" lang="en-US" sz="1600">
                <a:solidFill>
                  <a:schemeClr val="accent2"/>
                </a:solidFill>
                <a:latin typeface="DM Sans"/>
                <a:ea typeface="DM Sans"/>
                <a:cs typeface="DM Sans"/>
                <a:sym typeface="DM Sans"/>
              </a:rPr>
              <a:t>Information</a:t>
            </a:r>
            <a:endParaRPr b="1" sz="1600">
              <a:solidFill>
                <a:schemeClr val="accent2"/>
              </a:solidFill>
              <a:latin typeface="DM Sans"/>
              <a:ea typeface="DM Sans"/>
              <a:cs typeface="DM Sans"/>
              <a:sym typeface="DM Sans"/>
            </a:endParaRPr>
          </a:p>
          <a:p>
            <a:pPr indent="-196850" lvl="0" marL="171450" marR="0" rtl="0" algn="l">
              <a:lnSpc>
                <a:spcPct val="150000"/>
              </a:lnSpc>
              <a:spcBef>
                <a:spcPts val="0"/>
              </a:spcBef>
              <a:spcAft>
                <a:spcPts val="0"/>
              </a:spcAft>
              <a:buClr>
                <a:srgbClr val="000000"/>
              </a:buClr>
              <a:buSzPts val="1600"/>
              <a:buFont typeface="Arial"/>
              <a:buChar char="•"/>
            </a:pPr>
            <a:r>
              <a:rPr b="0" i="0" lang="en-US" sz="1600" u="none" cap="none" strike="noStrike">
                <a:solidFill>
                  <a:schemeClr val="accent2"/>
                </a:solidFill>
                <a:latin typeface="DM Sans"/>
                <a:ea typeface="DM Sans"/>
                <a:cs typeface="DM Sans"/>
                <a:sym typeface="DM Sans"/>
              </a:rPr>
              <a:t>Primary Source: 2010 Bangladesh demographic health survey (BDHS) </a:t>
            </a:r>
            <a:endParaRPr b="0" i="0" sz="1600" u="none" cap="none" strike="noStrike">
              <a:solidFill>
                <a:schemeClr val="accent2"/>
              </a:solidFill>
              <a:latin typeface="DM Sans"/>
              <a:ea typeface="DM Sans"/>
              <a:cs typeface="DM Sans"/>
              <a:sym typeface="DM Sans"/>
            </a:endParaRPr>
          </a:p>
          <a:p>
            <a:pPr indent="-196850" lvl="0" marL="171450" marR="0" rtl="0" algn="l">
              <a:lnSpc>
                <a:spcPct val="150000"/>
              </a:lnSpc>
              <a:spcBef>
                <a:spcPts val="0"/>
              </a:spcBef>
              <a:spcAft>
                <a:spcPts val="0"/>
              </a:spcAft>
              <a:buClr>
                <a:srgbClr val="000000"/>
              </a:buClr>
              <a:buSzPts val="1600"/>
              <a:buFont typeface="Arial"/>
              <a:buChar char="•"/>
            </a:pPr>
            <a:r>
              <a:rPr b="0" i="0" lang="en-US" sz="1600" u="none" cap="none" strike="noStrike">
                <a:solidFill>
                  <a:schemeClr val="accent2"/>
                </a:solidFill>
                <a:latin typeface="DM Sans"/>
                <a:ea typeface="DM Sans"/>
                <a:cs typeface="DM Sans"/>
                <a:sym typeface="DM Sans"/>
              </a:rPr>
              <a:t>Subset criterion: High risk clusters</a:t>
            </a:r>
            <a:endParaRPr b="0" i="0" sz="1600" u="none" cap="none" strike="noStrike">
              <a:solidFill>
                <a:schemeClr val="accent2"/>
              </a:solidFill>
              <a:latin typeface="DM Sans"/>
              <a:ea typeface="DM Sans"/>
              <a:cs typeface="DM Sans"/>
              <a:sym typeface="DM Sans"/>
            </a:endParaRPr>
          </a:p>
          <a:p>
            <a:pPr indent="-196850" lvl="0" marL="171450" marR="0" rtl="0" algn="l">
              <a:lnSpc>
                <a:spcPct val="150000"/>
              </a:lnSpc>
              <a:spcBef>
                <a:spcPts val="0"/>
              </a:spcBef>
              <a:spcAft>
                <a:spcPts val="0"/>
              </a:spcAft>
              <a:buClr>
                <a:srgbClr val="000000"/>
              </a:buClr>
              <a:buSzPts val="1600"/>
              <a:buFont typeface="Arial"/>
              <a:buChar char="•"/>
            </a:pPr>
            <a:r>
              <a:rPr b="0" i="0" lang="en-US" sz="1600" u="none" cap="none" strike="noStrike">
                <a:solidFill>
                  <a:schemeClr val="accent2"/>
                </a:solidFill>
                <a:latin typeface="DM Sans"/>
                <a:ea typeface="DM Sans"/>
                <a:cs typeface="DM Sans"/>
                <a:sym typeface="DM Sans"/>
              </a:rPr>
              <a:t>2283 children of age five years or below. </a:t>
            </a:r>
            <a:endParaRPr b="0" i="0" sz="1600" u="none" cap="none" strike="noStrike">
              <a:solidFill>
                <a:schemeClr val="accent2"/>
              </a:solidFill>
              <a:latin typeface="DM Sans"/>
              <a:ea typeface="DM Sans"/>
              <a:cs typeface="DM Sans"/>
              <a:sym typeface="DM Sans"/>
            </a:endParaRPr>
          </a:p>
          <a:p>
            <a:pPr indent="-196850" lvl="0" marL="171450" marR="0" rtl="0" algn="l">
              <a:lnSpc>
                <a:spcPct val="150000"/>
              </a:lnSpc>
              <a:spcBef>
                <a:spcPts val="0"/>
              </a:spcBef>
              <a:spcAft>
                <a:spcPts val="0"/>
              </a:spcAft>
              <a:buClr>
                <a:srgbClr val="000000"/>
              </a:buClr>
              <a:buSzPts val="1600"/>
              <a:buFont typeface="Arial"/>
              <a:buChar char="•"/>
            </a:pPr>
            <a:r>
              <a:rPr b="0" i="0" lang="en-US" sz="1600" u="none" cap="none" strike="noStrike">
                <a:solidFill>
                  <a:schemeClr val="accent2"/>
                </a:solidFill>
                <a:latin typeface="DM Sans"/>
                <a:ea typeface="DM Sans"/>
                <a:cs typeface="DM Sans"/>
                <a:sym typeface="DM Sans"/>
              </a:rPr>
              <a:t>Cross-sectional data</a:t>
            </a:r>
            <a:endParaRPr b="0" i="0" sz="1600" u="none" cap="none" strike="noStrike">
              <a:solidFill>
                <a:schemeClr val="accent2"/>
              </a:solidFill>
              <a:latin typeface="DM Sans"/>
              <a:ea typeface="DM Sans"/>
              <a:cs typeface="DM Sans"/>
              <a:sym typeface="DM Sans"/>
            </a:endParaRPr>
          </a:p>
          <a:p>
            <a:pPr indent="0" lvl="0" marL="0" marR="0" rtl="0" algn="l">
              <a:lnSpc>
                <a:spcPct val="150000"/>
              </a:lnSpc>
              <a:spcBef>
                <a:spcPts val="0"/>
              </a:spcBef>
              <a:spcAft>
                <a:spcPts val="0"/>
              </a:spcAft>
              <a:buClr>
                <a:srgbClr val="000000"/>
              </a:buClr>
              <a:buSzPts val="1200"/>
              <a:buFont typeface="Arial"/>
              <a:buNone/>
            </a:pPr>
            <a:r>
              <a:t/>
            </a:r>
            <a:endParaRPr b="0" i="0" sz="1200" u="none" cap="none" strike="noStrike">
              <a:solidFill>
                <a:schemeClr val="accent2"/>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50"/>
          <p:cNvSpPr/>
          <p:nvPr/>
        </p:nvSpPr>
        <p:spPr>
          <a:xfrm>
            <a:off x="4223792" y="0"/>
            <a:ext cx="7968300" cy="6858000"/>
          </a:xfrm>
          <a:prstGeom prst="rect">
            <a:avLst/>
          </a:prstGeom>
          <a:solidFill>
            <a:srgbClr val="F2F2F2"/>
          </a:solidFill>
          <a:ln cap="flat" cmpd="sng" w="9525">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1" name="Google Shape;161;p50"/>
          <p:cNvSpPr txBox="1"/>
          <p:nvPr/>
        </p:nvSpPr>
        <p:spPr>
          <a:xfrm>
            <a:off x="407275" y="433940"/>
            <a:ext cx="10750500" cy="45090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00"/>
              </a:buClr>
              <a:buSzPts val="2400"/>
              <a:buFont typeface="Arial"/>
              <a:buNone/>
            </a:pPr>
            <a:r>
              <a:rPr b="1" lang="en-US" sz="2400">
                <a:solidFill>
                  <a:schemeClr val="accent2"/>
                </a:solidFill>
                <a:latin typeface="DM Sans"/>
                <a:ea typeface="DM Sans"/>
                <a:cs typeface="DM Sans"/>
                <a:sym typeface="DM Sans"/>
              </a:rPr>
              <a:t>Independent Variables</a:t>
            </a:r>
            <a:endParaRPr b="1" i="0" sz="2400" u="none" cap="none" strike="noStrike">
              <a:solidFill>
                <a:schemeClr val="accent2"/>
              </a:solidFill>
              <a:latin typeface="DM Sans"/>
              <a:ea typeface="DM Sans"/>
              <a:cs typeface="DM Sans"/>
              <a:sym typeface="DM Sans"/>
            </a:endParaRPr>
          </a:p>
        </p:txBody>
      </p:sp>
      <p:sp>
        <p:nvSpPr>
          <p:cNvPr id="162" name="Google Shape;162;p50"/>
          <p:cNvSpPr txBox="1"/>
          <p:nvPr/>
        </p:nvSpPr>
        <p:spPr>
          <a:xfrm>
            <a:off x="479425" y="1215454"/>
            <a:ext cx="3364200" cy="5091300"/>
          </a:xfrm>
          <a:prstGeom prst="rect">
            <a:avLst/>
          </a:prstGeom>
          <a:noFill/>
          <a:ln>
            <a:noFill/>
          </a:ln>
        </p:spPr>
        <p:txBody>
          <a:bodyPr anchorCtr="0" anchor="t" bIns="45700" lIns="91425" spcFirstLastPara="1" rIns="91425" wrap="square" tIns="45700">
            <a:noAutofit/>
          </a:bodyPr>
          <a:lstStyle/>
          <a:p>
            <a:pPr indent="-196850" lvl="0" marL="171450" marR="0" rtl="0" algn="l">
              <a:lnSpc>
                <a:spcPct val="150000"/>
              </a:lnSpc>
              <a:spcBef>
                <a:spcPts val="0"/>
              </a:spcBef>
              <a:spcAft>
                <a:spcPts val="0"/>
              </a:spcAft>
              <a:buClr>
                <a:srgbClr val="000000"/>
              </a:buClr>
              <a:buSzPts val="1600"/>
              <a:buFont typeface="Arial"/>
              <a:buChar char="●"/>
            </a:pPr>
            <a:r>
              <a:rPr b="1" lang="en-US" sz="1600">
                <a:solidFill>
                  <a:srgbClr val="424242"/>
                </a:solidFill>
                <a:latin typeface="DM Sans"/>
                <a:ea typeface="DM Sans"/>
                <a:cs typeface="DM Sans"/>
                <a:sym typeface="DM Sans"/>
              </a:rPr>
              <a:t>Research Question 1: </a:t>
            </a:r>
            <a:r>
              <a:rPr lang="en-US" sz="1600">
                <a:solidFill>
                  <a:srgbClr val="424242"/>
                </a:solidFill>
                <a:latin typeface="DM Sans"/>
                <a:ea typeface="DM Sans"/>
                <a:cs typeface="DM Sans"/>
                <a:sym typeface="DM Sans"/>
              </a:rPr>
              <a:t>Which Maternal and Child factors are mostly associated with a child having Anemia/Stunting?</a:t>
            </a:r>
            <a:endParaRPr sz="1600">
              <a:solidFill>
                <a:srgbClr val="424242"/>
              </a:solidFill>
              <a:latin typeface="DM Sans"/>
              <a:ea typeface="DM Sans"/>
              <a:cs typeface="DM Sans"/>
              <a:sym typeface="DM Sans"/>
            </a:endParaRPr>
          </a:p>
          <a:p>
            <a:pPr indent="0" lvl="0" marL="457200" marR="0" rtl="0" algn="l">
              <a:lnSpc>
                <a:spcPct val="150000"/>
              </a:lnSpc>
              <a:spcBef>
                <a:spcPts val="0"/>
              </a:spcBef>
              <a:spcAft>
                <a:spcPts val="0"/>
              </a:spcAft>
              <a:buNone/>
            </a:pPr>
            <a:r>
              <a:t/>
            </a:r>
            <a:endParaRPr sz="1600">
              <a:solidFill>
                <a:srgbClr val="424242"/>
              </a:solidFill>
              <a:latin typeface="DM Sans"/>
              <a:ea typeface="DM Sans"/>
              <a:cs typeface="DM Sans"/>
              <a:sym typeface="DM Sans"/>
            </a:endParaRPr>
          </a:p>
          <a:p>
            <a:pPr indent="-196850" lvl="0" marL="171450" marR="0" rtl="0" algn="l">
              <a:lnSpc>
                <a:spcPct val="150000"/>
              </a:lnSpc>
              <a:spcBef>
                <a:spcPts val="0"/>
              </a:spcBef>
              <a:spcAft>
                <a:spcPts val="0"/>
              </a:spcAft>
              <a:buClr>
                <a:schemeClr val="accent2"/>
              </a:buClr>
              <a:buSzPts val="1600"/>
              <a:buFont typeface="DM Sans"/>
              <a:buChar char="●"/>
            </a:pPr>
            <a:r>
              <a:rPr lang="en-US" sz="1600">
                <a:solidFill>
                  <a:schemeClr val="accent2"/>
                </a:solidFill>
                <a:latin typeface="DM Sans"/>
                <a:ea typeface="DM Sans"/>
                <a:cs typeface="DM Sans"/>
                <a:sym typeface="DM Sans"/>
              </a:rPr>
              <a:t> </a:t>
            </a:r>
            <a:r>
              <a:rPr lang="en-US" sz="1600">
                <a:solidFill>
                  <a:srgbClr val="424242"/>
                </a:solidFill>
                <a:latin typeface="DM Sans"/>
                <a:ea typeface="DM Sans"/>
                <a:cs typeface="DM Sans"/>
                <a:sym typeface="DM Sans"/>
              </a:rPr>
              <a:t>Vaivada et al. found that socioeconomic factors are stronger predictors for </a:t>
            </a:r>
            <a:r>
              <a:rPr b="1" lang="en-US" sz="1600">
                <a:solidFill>
                  <a:srgbClr val="424242"/>
                </a:solidFill>
                <a:latin typeface="DM Sans"/>
                <a:ea typeface="DM Sans"/>
                <a:cs typeface="DM Sans"/>
                <a:sym typeface="DM Sans"/>
              </a:rPr>
              <a:t>Stunting</a:t>
            </a:r>
            <a:r>
              <a:rPr lang="en-US" sz="1600">
                <a:solidFill>
                  <a:srgbClr val="424242"/>
                </a:solidFill>
                <a:latin typeface="DM Sans"/>
                <a:ea typeface="DM Sans"/>
                <a:cs typeface="DM Sans"/>
                <a:sym typeface="DM Sans"/>
              </a:rPr>
              <a:t> compared maternal characteristics [7].</a:t>
            </a:r>
            <a:endParaRPr sz="1600">
              <a:solidFill>
                <a:srgbClr val="424242"/>
              </a:solidFill>
              <a:latin typeface="DM Sans"/>
              <a:ea typeface="DM Sans"/>
              <a:cs typeface="DM Sans"/>
              <a:sym typeface="DM Sans"/>
            </a:endParaRPr>
          </a:p>
          <a:p>
            <a:pPr indent="0" lvl="0" marL="457200" marR="0" rtl="0" algn="l">
              <a:lnSpc>
                <a:spcPct val="150000"/>
              </a:lnSpc>
              <a:spcBef>
                <a:spcPts val="0"/>
              </a:spcBef>
              <a:spcAft>
                <a:spcPts val="0"/>
              </a:spcAft>
              <a:buNone/>
            </a:pPr>
            <a:r>
              <a:t/>
            </a:r>
            <a:endParaRPr sz="1600">
              <a:solidFill>
                <a:srgbClr val="424242"/>
              </a:solidFill>
              <a:latin typeface="DM Sans"/>
              <a:ea typeface="DM Sans"/>
              <a:cs typeface="DM Sans"/>
              <a:sym typeface="DM Sans"/>
            </a:endParaRPr>
          </a:p>
          <a:p>
            <a:pPr indent="-196850" lvl="0" marL="171450" marR="0" rtl="0" algn="l">
              <a:lnSpc>
                <a:spcPct val="150000"/>
              </a:lnSpc>
              <a:spcBef>
                <a:spcPts val="0"/>
              </a:spcBef>
              <a:spcAft>
                <a:spcPts val="0"/>
              </a:spcAft>
              <a:buClr>
                <a:srgbClr val="000000"/>
              </a:buClr>
              <a:buSzPts val="1600"/>
              <a:buFont typeface="Arial"/>
              <a:buChar char="●"/>
            </a:pPr>
            <a:r>
              <a:rPr b="1" lang="en-US" sz="1600">
                <a:solidFill>
                  <a:srgbClr val="424242"/>
                </a:solidFill>
                <a:latin typeface="DM Sans"/>
                <a:ea typeface="DM Sans"/>
                <a:cs typeface="DM Sans"/>
                <a:sym typeface="DM Sans"/>
              </a:rPr>
              <a:t>Research Question 2</a:t>
            </a:r>
            <a:r>
              <a:rPr lang="en-US" sz="1600">
                <a:solidFill>
                  <a:srgbClr val="424242"/>
                </a:solidFill>
                <a:latin typeface="DM Sans"/>
                <a:ea typeface="DM Sans"/>
                <a:cs typeface="DM Sans"/>
                <a:sym typeface="DM Sans"/>
              </a:rPr>
              <a:t>: Does our data support this assertion for both Anemia and Stunting? </a:t>
            </a:r>
            <a:endParaRPr i="0" sz="1600" u="none" cap="none" strike="noStrike">
              <a:solidFill>
                <a:schemeClr val="accent2"/>
              </a:solidFill>
              <a:latin typeface="DM Sans"/>
              <a:ea typeface="DM Sans"/>
              <a:cs typeface="DM Sans"/>
              <a:sym typeface="DM Sans"/>
            </a:endParaRPr>
          </a:p>
        </p:txBody>
      </p:sp>
      <p:pic>
        <p:nvPicPr>
          <p:cNvPr id="163" name="Google Shape;163;p50"/>
          <p:cNvPicPr preferRelativeResize="0"/>
          <p:nvPr/>
        </p:nvPicPr>
        <p:blipFill rotWithShape="1">
          <a:blip r:embed="rId3">
            <a:alphaModFix/>
          </a:blip>
          <a:srcRect b="0" l="0" r="0" t="0"/>
          <a:stretch/>
        </p:blipFill>
        <p:spPr>
          <a:xfrm>
            <a:off x="4481975" y="1028025"/>
            <a:ext cx="6810974" cy="57148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51"/>
          <p:cNvSpPr/>
          <p:nvPr/>
        </p:nvSpPr>
        <p:spPr>
          <a:xfrm>
            <a:off x="8305005" y="0"/>
            <a:ext cx="38871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Calibri"/>
              <a:ea typeface="Calibri"/>
              <a:cs typeface="Calibri"/>
              <a:sym typeface="Calibri"/>
            </a:endParaRPr>
          </a:p>
        </p:txBody>
      </p:sp>
      <p:sp>
        <p:nvSpPr>
          <p:cNvPr id="169" name="Google Shape;169;p51"/>
          <p:cNvSpPr/>
          <p:nvPr/>
        </p:nvSpPr>
        <p:spPr>
          <a:xfrm>
            <a:off x="476250" y="1542232"/>
            <a:ext cx="11236200" cy="47517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0" name="Google Shape;170;p51"/>
          <p:cNvSpPr txBox="1"/>
          <p:nvPr/>
        </p:nvSpPr>
        <p:spPr>
          <a:xfrm>
            <a:off x="479425" y="764540"/>
            <a:ext cx="11355000" cy="38850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00"/>
              </a:buClr>
              <a:buSzPts val="2400"/>
              <a:buFont typeface="Arial"/>
              <a:buNone/>
            </a:pPr>
            <a:r>
              <a:rPr b="1" lang="en-US" sz="2400">
                <a:solidFill>
                  <a:schemeClr val="accent2"/>
                </a:solidFill>
                <a:latin typeface="DM Sans"/>
                <a:ea typeface="DM Sans"/>
                <a:cs typeface="DM Sans"/>
                <a:sym typeface="DM Sans"/>
              </a:rPr>
              <a:t>Methodology</a:t>
            </a:r>
            <a:endParaRPr b="1" i="0" sz="2400" u="none" cap="none" strike="noStrike">
              <a:solidFill>
                <a:schemeClr val="accent2"/>
              </a:solidFill>
              <a:latin typeface="DM Sans"/>
              <a:ea typeface="DM Sans"/>
              <a:cs typeface="DM Sans"/>
              <a:sym typeface="DM Sans"/>
            </a:endParaRPr>
          </a:p>
        </p:txBody>
      </p:sp>
      <p:sp>
        <p:nvSpPr>
          <p:cNvPr id="171" name="Google Shape;171;p51"/>
          <p:cNvSpPr txBox="1"/>
          <p:nvPr/>
        </p:nvSpPr>
        <p:spPr>
          <a:xfrm>
            <a:off x="903400" y="1706401"/>
            <a:ext cx="9372300" cy="4181700"/>
          </a:xfrm>
          <a:prstGeom prst="rect">
            <a:avLst/>
          </a:prstGeom>
          <a:noFill/>
          <a:ln>
            <a:noFill/>
          </a:ln>
        </p:spPr>
        <p:txBody>
          <a:bodyPr anchorCtr="0" anchor="t" bIns="45700" lIns="91425" spcFirstLastPara="1" rIns="91425" wrap="square" tIns="45700">
            <a:noAutofit/>
          </a:bodyPr>
          <a:lstStyle/>
          <a:p>
            <a:pPr indent="-330200" lvl="0" marL="457200" marR="0" rtl="0" algn="l">
              <a:lnSpc>
                <a:spcPct val="150000"/>
              </a:lnSpc>
              <a:spcBef>
                <a:spcPts val="0"/>
              </a:spcBef>
              <a:spcAft>
                <a:spcPts val="0"/>
              </a:spcAft>
              <a:buClr>
                <a:srgbClr val="424242"/>
              </a:buClr>
              <a:buSzPts val="1600"/>
              <a:buFont typeface="DM Sans"/>
              <a:buChar char="❏"/>
            </a:pPr>
            <a:r>
              <a:rPr b="1" lang="en-US" sz="1600">
                <a:solidFill>
                  <a:srgbClr val="424242"/>
                </a:solidFill>
                <a:latin typeface="DM Sans"/>
                <a:ea typeface="DM Sans"/>
                <a:cs typeface="DM Sans"/>
                <a:sym typeface="DM Sans"/>
              </a:rPr>
              <a:t>Step 1: Initial Model Selection</a:t>
            </a:r>
            <a:endParaRPr b="1" sz="1600">
              <a:solidFill>
                <a:srgbClr val="424242"/>
              </a:solidFill>
              <a:latin typeface="DM Sans"/>
              <a:ea typeface="DM Sans"/>
              <a:cs typeface="DM Sans"/>
              <a:sym typeface="DM Sans"/>
            </a:endParaRPr>
          </a:p>
          <a:p>
            <a:pPr indent="-330200" lvl="0" marL="457200" rtl="0" algn="l">
              <a:lnSpc>
                <a:spcPct val="150000"/>
              </a:lnSpc>
              <a:spcBef>
                <a:spcPts val="0"/>
              </a:spcBef>
              <a:spcAft>
                <a:spcPts val="0"/>
              </a:spcAft>
              <a:buClr>
                <a:srgbClr val="424242"/>
              </a:buClr>
              <a:buSzPts val="1600"/>
              <a:buFont typeface="DM Sans"/>
              <a:buChar char="•"/>
            </a:pPr>
            <a:r>
              <a:rPr lang="en-US" sz="1600">
                <a:solidFill>
                  <a:srgbClr val="424242"/>
                </a:solidFill>
                <a:latin typeface="DM Sans"/>
                <a:ea typeface="DM Sans"/>
                <a:cs typeface="DM Sans"/>
                <a:sym typeface="DM Sans"/>
              </a:rPr>
              <a:t>Common/Naive strategy: Use all possible predictors.</a:t>
            </a:r>
            <a:endParaRPr sz="1600">
              <a:solidFill>
                <a:srgbClr val="424242"/>
              </a:solidFill>
              <a:latin typeface="DM Sans"/>
              <a:ea typeface="DM Sans"/>
              <a:cs typeface="DM Sans"/>
              <a:sym typeface="DM Sans"/>
            </a:endParaRPr>
          </a:p>
          <a:p>
            <a:pPr indent="-330200" lvl="0" marL="457200" rtl="0" algn="l">
              <a:lnSpc>
                <a:spcPct val="150000"/>
              </a:lnSpc>
              <a:spcBef>
                <a:spcPts val="0"/>
              </a:spcBef>
              <a:spcAft>
                <a:spcPts val="0"/>
              </a:spcAft>
              <a:buClr>
                <a:srgbClr val="424242"/>
              </a:buClr>
              <a:buSzPts val="1600"/>
              <a:buFont typeface="DM Sans"/>
              <a:buChar char="•"/>
            </a:pPr>
            <a:r>
              <a:rPr lang="en-US" sz="1600">
                <a:solidFill>
                  <a:srgbClr val="424242"/>
                </a:solidFill>
                <a:latin typeface="DM Sans"/>
                <a:ea typeface="DM Sans"/>
                <a:cs typeface="DM Sans"/>
                <a:sym typeface="DM Sans"/>
              </a:rPr>
              <a:t>D. W. Hosmer et al. (2000) [4] suggested the following steps to select the initial model.</a:t>
            </a:r>
            <a:endParaRPr sz="1600">
              <a:solidFill>
                <a:srgbClr val="424242"/>
              </a:solidFill>
              <a:latin typeface="DM Sans"/>
              <a:ea typeface="DM Sans"/>
              <a:cs typeface="DM Sans"/>
              <a:sym typeface="DM Sans"/>
            </a:endParaRPr>
          </a:p>
          <a:p>
            <a:pPr indent="-330200" lvl="1" marL="914400" rtl="0" algn="l">
              <a:lnSpc>
                <a:spcPct val="150000"/>
              </a:lnSpc>
              <a:spcBef>
                <a:spcPts val="0"/>
              </a:spcBef>
              <a:spcAft>
                <a:spcPts val="0"/>
              </a:spcAft>
              <a:buClr>
                <a:srgbClr val="424242"/>
              </a:buClr>
              <a:buSzPts val="1600"/>
              <a:buFont typeface="DM Sans"/>
              <a:buChar char="○"/>
            </a:pPr>
            <a:r>
              <a:rPr lang="en-US" sz="1600">
                <a:solidFill>
                  <a:srgbClr val="424242"/>
                </a:solidFill>
                <a:latin typeface="DM Sans"/>
                <a:ea typeface="DM Sans"/>
                <a:cs typeface="DM Sans"/>
                <a:sym typeface="DM Sans"/>
              </a:rPr>
              <a:t>Perform pairwise tests:</a:t>
            </a:r>
            <a:endParaRPr sz="1600">
              <a:solidFill>
                <a:srgbClr val="424242"/>
              </a:solidFill>
              <a:latin typeface="DM Sans"/>
              <a:ea typeface="DM Sans"/>
              <a:cs typeface="DM Sans"/>
              <a:sym typeface="DM Sans"/>
            </a:endParaRPr>
          </a:p>
          <a:p>
            <a:pPr indent="-330200" lvl="2" marL="1371600" rtl="0" algn="l">
              <a:lnSpc>
                <a:spcPct val="150000"/>
              </a:lnSpc>
              <a:spcBef>
                <a:spcPts val="0"/>
              </a:spcBef>
              <a:spcAft>
                <a:spcPts val="0"/>
              </a:spcAft>
              <a:buClr>
                <a:srgbClr val="424242"/>
              </a:buClr>
              <a:buSzPts val="1600"/>
              <a:buFont typeface="DM Sans"/>
              <a:buChar char="■"/>
            </a:pPr>
            <a:r>
              <a:rPr lang="en-US" sz="1600">
                <a:solidFill>
                  <a:srgbClr val="424242"/>
                </a:solidFill>
                <a:latin typeface="DM Sans"/>
                <a:ea typeface="DM Sans"/>
                <a:cs typeface="DM Sans"/>
                <a:sym typeface="DM Sans"/>
              </a:rPr>
              <a:t>T-test for continuous predictors (with equal variance assumption) </a:t>
            </a:r>
            <a:endParaRPr sz="1600">
              <a:solidFill>
                <a:srgbClr val="424242"/>
              </a:solidFill>
              <a:latin typeface="DM Sans"/>
              <a:ea typeface="DM Sans"/>
              <a:cs typeface="DM Sans"/>
              <a:sym typeface="DM Sans"/>
            </a:endParaRPr>
          </a:p>
          <a:p>
            <a:pPr indent="-330200" lvl="2" marL="1371600" rtl="0" algn="l">
              <a:lnSpc>
                <a:spcPct val="150000"/>
              </a:lnSpc>
              <a:spcBef>
                <a:spcPts val="0"/>
              </a:spcBef>
              <a:spcAft>
                <a:spcPts val="0"/>
              </a:spcAft>
              <a:buClr>
                <a:srgbClr val="424242"/>
              </a:buClr>
              <a:buSzPts val="1600"/>
              <a:buFont typeface="DM Sans"/>
              <a:buChar char="■"/>
            </a:pPr>
            <a:r>
              <a:rPr lang="en-US" sz="1600">
                <a:solidFill>
                  <a:srgbClr val="424242"/>
                </a:solidFill>
                <a:latin typeface="DM Sans"/>
                <a:ea typeface="DM Sans"/>
                <a:cs typeface="DM Sans"/>
                <a:sym typeface="DM Sans"/>
              </a:rPr>
              <a:t>Chi-square test of association for categorical predictors.</a:t>
            </a:r>
            <a:endParaRPr sz="1600">
              <a:solidFill>
                <a:srgbClr val="424242"/>
              </a:solidFill>
              <a:latin typeface="DM Sans"/>
              <a:ea typeface="DM Sans"/>
              <a:cs typeface="DM Sans"/>
              <a:sym typeface="DM Sans"/>
            </a:endParaRPr>
          </a:p>
          <a:p>
            <a:pPr indent="-330200" lvl="1" marL="914400" rtl="0" algn="l">
              <a:lnSpc>
                <a:spcPct val="150000"/>
              </a:lnSpc>
              <a:spcBef>
                <a:spcPts val="0"/>
              </a:spcBef>
              <a:spcAft>
                <a:spcPts val="0"/>
              </a:spcAft>
              <a:buClr>
                <a:srgbClr val="424242"/>
              </a:buClr>
              <a:buSzPts val="1600"/>
              <a:buFont typeface="DM Sans"/>
              <a:buChar char="○"/>
            </a:pPr>
            <a:r>
              <a:rPr lang="en-US" sz="1600">
                <a:solidFill>
                  <a:srgbClr val="424242"/>
                </a:solidFill>
                <a:latin typeface="DM Sans"/>
                <a:ea typeface="DM Sans"/>
                <a:cs typeface="DM Sans"/>
                <a:sym typeface="DM Sans"/>
              </a:rPr>
              <a:t>Select variables with p-value &lt; 0.25</a:t>
            </a:r>
            <a:endParaRPr sz="1600">
              <a:solidFill>
                <a:srgbClr val="424242"/>
              </a:solidFill>
              <a:latin typeface="DM Sans"/>
              <a:ea typeface="DM Sans"/>
              <a:cs typeface="DM Sans"/>
              <a:sym typeface="DM Sans"/>
            </a:endParaRPr>
          </a:p>
          <a:p>
            <a:pPr indent="-330200" lvl="2" marL="1371600" rtl="0" algn="l">
              <a:lnSpc>
                <a:spcPct val="150000"/>
              </a:lnSpc>
              <a:spcBef>
                <a:spcPts val="500"/>
              </a:spcBef>
              <a:spcAft>
                <a:spcPts val="0"/>
              </a:spcAft>
              <a:buClr>
                <a:srgbClr val="424242"/>
              </a:buClr>
              <a:buSzPts val="1600"/>
              <a:buFont typeface="DM Sans"/>
              <a:buChar char="■"/>
            </a:pPr>
            <a:r>
              <a:rPr lang="en-US" sz="1600">
                <a:solidFill>
                  <a:srgbClr val="424242"/>
                </a:solidFill>
                <a:latin typeface="DM Sans"/>
                <a:ea typeface="DM Sans"/>
                <a:cs typeface="DM Sans"/>
                <a:sym typeface="DM Sans"/>
              </a:rPr>
              <a:t>Limitation of using traditional cut-off values (e.g. p-values&lt;0.05): often ignores important predictors.</a:t>
            </a:r>
            <a:endParaRPr sz="1600">
              <a:solidFill>
                <a:srgbClr val="424242"/>
              </a:solidFill>
              <a:latin typeface="DM Sans"/>
              <a:ea typeface="DM Sans"/>
              <a:cs typeface="DM Sans"/>
              <a:sym typeface="DM Sans"/>
            </a:endParaRPr>
          </a:p>
          <a:p>
            <a:pPr indent="-330200" lvl="1" marL="914400" rtl="0" algn="l">
              <a:lnSpc>
                <a:spcPct val="150000"/>
              </a:lnSpc>
              <a:spcBef>
                <a:spcPts val="500"/>
              </a:spcBef>
              <a:spcAft>
                <a:spcPts val="0"/>
              </a:spcAft>
              <a:buClr>
                <a:srgbClr val="424242"/>
              </a:buClr>
              <a:buSzPts val="1600"/>
              <a:buFont typeface="DM Sans"/>
              <a:buChar char="○"/>
            </a:pPr>
            <a:r>
              <a:rPr lang="en-US" sz="1600">
                <a:solidFill>
                  <a:srgbClr val="FF0000"/>
                </a:solidFill>
                <a:latin typeface="DM Sans"/>
                <a:ea typeface="DM Sans"/>
                <a:cs typeface="DM Sans"/>
                <a:sym typeface="DM Sans"/>
              </a:rPr>
              <a:t>Keep the selected variables which are scientifically important.</a:t>
            </a:r>
            <a:endParaRPr sz="1600">
              <a:solidFill>
                <a:schemeClr val="accent2"/>
              </a:solidFill>
              <a:latin typeface="DM Sans"/>
              <a:ea typeface="DM Sans"/>
              <a:cs typeface="DM Sans"/>
              <a:sym typeface="DM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52"/>
          <p:cNvSpPr/>
          <p:nvPr/>
        </p:nvSpPr>
        <p:spPr>
          <a:xfrm>
            <a:off x="8305005" y="0"/>
            <a:ext cx="38871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Calibri"/>
              <a:ea typeface="Calibri"/>
              <a:cs typeface="Calibri"/>
              <a:sym typeface="Calibri"/>
            </a:endParaRPr>
          </a:p>
        </p:txBody>
      </p:sp>
      <p:sp>
        <p:nvSpPr>
          <p:cNvPr id="177" name="Google Shape;177;p52"/>
          <p:cNvSpPr/>
          <p:nvPr/>
        </p:nvSpPr>
        <p:spPr>
          <a:xfrm>
            <a:off x="115450" y="1542225"/>
            <a:ext cx="11640300" cy="49806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8" name="Google Shape;178;p52"/>
          <p:cNvSpPr txBox="1"/>
          <p:nvPr/>
        </p:nvSpPr>
        <p:spPr>
          <a:xfrm>
            <a:off x="479425" y="764540"/>
            <a:ext cx="11355000" cy="38850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00"/>
              </a:buClr>
              <a:buSzPts val="2400"/>
              <a:buFont typeface="Arial"/>
              <a:buNone/>
            </a:pPr>
            <a:r>
              <a:rPr b="1" lang="en-US" sz="2400">
                <a:solidFill>
                  <a:schemeClr val="accent2"/>
                </a:solidFill>
                <a:latin typeface="DM Sans"/>
                <a:ea typeface="DM Sans"/>
                <a:cs typeface="DM Sans"/>
                <a:sym typeface="DM Sans"/>
              </a:rPr>
              <a:t>Methodology-con’t</a:t>
            </a:r>
            <a:endParaRPr b="1" i="0" sz="2400" u="none" cap="none" strike="noStrike">
              <a:solidFill>
                <a:schemeClr val="accent2"/>
              </a:solidFill>
              <a:latin typeface="DM Sans"/>
              <a:ea typeface="DM Sans"/>
              <a:cs typeface="DM Sans"/>
              <a:sym typeface="DM Sans"/>
            </a:endParaRPr>
          </a:p>
        </p:txBody>
      </p:sp>
      <p:sp>
        <p:nvSpPr>
          <p:cNvPr id="179" name="Google Shape;179;p52"/>
          <p:cNvSpPr txBox="1"/>
          <p:nvPr/>
        </p:nvSpPr>
        <p:spPr>
          <a:xfrm>
            <a:off x="274212" y="1265767"/>
            <a:ext cx="11108400" cy="5533500"/>
          </a:xfrm>
          <a:prstGeom prst="rect">
            <a:avLst/>
          </a:prstGeom>
          <a:blipFill rotWithShape="1">
            <a:blip r:embed="rId3">
              <a:alphaModFix/>
            </a:blip>
            <a:stretch>
              <a:fillRect b="0" l="-489" r="0" t="0"/>
            </a:stretch>
          </a:blipFill>
          <a:ln>
            <a:noFill/>
          </a:ln>
        </p:spPr>
        <p:txBody>
          <a:bodyPr anchorCtr="0" anchor="t" bIns="45700" lIns="91425" spcFirstLastPara="1" rIns="91425" wrap="square" tIns="45700">
            <a:normAutofit/>
          </a:bodyPr>
          <a:lstStyle/>
          <a:p>
            <a:pPr indent="0" lvl="0" marL="0" rtl="0" algn="l">
              <a:lnSpc>
                <a:spcPct val="90000"/>
              </a:lnSpc>
              <a:spcBef>
                <a:spcPts val="0"/>
              </a:spcBef>
              <a:spcAft>
                <a:spcPts val="200"/>
              </a:spcAft>
              <a:buNone/>
            </a:pPr>
            <a:r>
              <a:rPr lang="en-US" sz="1700">
                <a:solidFill>
                  <a:srgbClr val="424242"/>
                </a:solidFill>
                <a:latin typeface="Nunito"/>
                <a:ea typeface="Nunito"/>
                <a:cs typeface="Nunito"/>
                <a:sym typeface="Nunito"/>
              </a:rPr>
              <a:t> </a:t>
            </a:r>
            <a:endParaRPr sz="1700">
              <a:solidFill>
                <a:srgbClr val="424242"/>
              </a:solidFill>
              <a:latin typeface="Nunito"/>
              <a:ea typeface="Nunito"/>
              <a:cs typeface="Nunito"/>
              <a:sym typeface="Nuni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53"/>
          <p:cNvSpPr txBox="1"/>
          <p:nvPr/>
        </p:nvSpPr>
        <p:spPr>
          <a:xfrm>
            <a:off x="1137538" y="2715222"/>
            <a:ext cx="3359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Variable Type: Location</a:t>
            </a:r>
            <a:endParaRPr/>
          </a:p>
        </p:txBody>
      </p:sp>
      <p:sp>
        <p:nvSpPr>
          <p:cNvPr id="185" name="Google Shape;185;p53"/>
          <p:cNvSpPr txBox="1"/>
          <p:nvPr/>
        </p:nvSpPr>
        <p:spPr>
          <a:xfrm>
            <a:off x="6649882" y="2838306"/>
            <a:ext cx="3359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Variable Type: Maternal factors</a:t>
            </a:r>
            <a:endParaRPr/>
          </a:p>
        </p:txBody>
      </p:sp>
      <p:pic>
        <p:nvPicPr>
          <p:cNvPr id="186" name="Google Shape;186;p53"/>
          <p:cNvPicPr preferRelativeResize="0"/>
          <p:nvPr/>
        </p:nvPicPr>
        <p:blipFill rotWithShape="1">
          <a:blip r:embed="rId3">
            <a:alphaModFix/>
          </a:blip>
          <a:srcRect b="0" l="0" r="0" t="0"/>
          <a:stretch/>
        </p:blipFill>
        <p:spPr>
          <a:xfrm>
            <a:off x="470957" y="3535635"/>
            <a:ext cx="4692869" cy="2761085"/>
          </a:xfrm>
          <a:prstGeom prst="rect">
            <a:avLst/>
          </a:prstGeom>
          <a:noFill/>
          <a:ln>
            <a:noFill/>
          </a:ln>
        </p:spPr>
      </p:pic>
      <p:pic>
        <p:nvPicPr>
          <p:cNvPr id="187" name="Google Shape;187;p53"/>
          <p:cNvPicPr preferRelativeResize="0"/>
          <p:nvPr/>
        </p:nvPicPr>
        <p:blipFill rotWithShape="1">
          <a:blip r:embed="rId4">
            <a:alphaModFix/>
          </a:blip>
          <a:srcRect b="0" l="0" r="0" t="0"/>
          <a:stretch/>
        </p:blipFill>
        <p:spPr>
          <a:xfrm>
            <a:off x="5866840" y="3535635"/>
            <a:ext cx="5484708" cy="3023277"/>
          </a:xfrm>
          <a:prstGeom prst="rect">
            <a:avLst/>
          </a:prstGeom>
          <a:noFill/>
          <a:ln>
            <a:noFill/>
          </a:ln>
        </p:spPr>
      </p:pic>
      <p:sp>
        <p:nvSpPr>
          <p:cNvPr id="188" name="Google Shape;188;p53"/>
          <p:cNvSpPr txBox="1"/>
          <p:nvPr/>
        </p:nvSpPr>
        <p:spPr>
          <a:xfrm>
            <a:off x="680400" y="1948800"/>
            <a:ext cx="3527700" cy="49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300"/>
              <a:t>Sub-category wise Risk</a:t>
            </a:r>
            <a:endParaRPr sz="2300"/>
          </a:p>
        </p:txBody>
      </p:sp>
      <p:sp>
        <p:nvSpPr>
          <p:cNvPr id="189" name="Google Shape;189;p53"/>
          <p:cNvSpPr txBox="1"/>
          <p:nvPr/>
        </p:nvSpPr>
        <p:spPr>
          <a:xfrm>
            <a:off x="470950" y="778965"/>
            <a:ext cx="10750500" cy="45090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00"/>
              </a:buClr>
              <a:buSzPts val="2400"/>
              <a:buFont typeface="Arial"/>
              <a:buNone/>
            </a:pPr>
            <a:r>
              <a:rPr b="1" lang="en-US" sz="2400">
                <a:solidFill>
                  <a:schemeClr val="accent2"/>
                </a:solidFill>
                <a:latin typeface="DM Sans"/>
                <a:ea typeface="DM Sans"/>
                <a:cs typeface="DM Sans"/>
                <a:sym typeface="DM Sans"/>
              </a:rPr>
              <a:t>Results</a:t>
            </a:r>
            <a:endParaRPr b="1" i="0" sz="2400" u="none" cap="none" strike="noStrike">
              <a:solidFill>
                <a:schemeClr val="accent2"/>
              </a:solidFill>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54"/>
          <p:cNvSpPr txBox="1"/>
          <p:nvPr>
            <p:ph type="title"/>
          </p:nvPr>
        </p:nvSpPr>
        <p:spPr>
          <a:xfrm>
            <a:off x="838200" y="365126"/>
            <a:ext cx="10032900" cy="888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sz="3400">
                <a:latin typeface="Times New Roman"/>
                <a:ea typeface="Times New Roman"/>
                <a:cs typeface="Times New Roman"/>
                <a:sym typeface="Times New Roman"/>
              </a:rPr>
              <a:t>Sub-category wise Risk (Continued)</a:t>
            </a:r>
            <a:endParaRPr sz="3400"/>
          </a:p>
        </p:txBody>
      </p:sp>
      <p:sp>
        <p:nvSpPr>
          <p:cNvPr id="195" name="Google Shape;195;p54"/>
          <p:cNvSpPr txBox="1"/>
          <p:nvPr/>
        </p:nvSpPr>
        <p:spPr>
          <a:xfrm>
            <a:off x="1219200" y="1506022"/>
            <a:ext cx="3359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Variable Type: Child factors</a:t>
            </a:r>
            <a:endParaRPr/>
          </a:p>
        </p:txBody>
      </p:sp>
      <p:sp>
        <p:nvSpPr>
          <p:cNvPr id="196" name="Google Shape;196;p54"/>
          <p:cNvSpPr txBox="1"/>
          <p:nvPr/>
        </p:nvSpPr>
        <p:spPr>
          <a:xfrm>
            <a:off x="6627707" y="1473756"/>
            <a:ext cx="3359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Variable Type: Social</a:t>
            </a:r>
            <a:endParaRPr/>
          </a:p>
        </p:txBody>
      </p:sp>
      <p:pic>
        <p:nvPicPr>
          <p:cNvPr id="197" name="Google Shape;197;p54"/>
          <p:cNvPicPr preferRelativeResize="0"/>
          <p:nvPr/>
        </p:nvPicPr>
        <p:blipFill rotWithShape="1">
          <a:blip r:embed="rId3">
            <a:alphaModFix/>
          </a:blip>
          <a:srcRect b="0" l="0" r="0" t="0"/>
          <a:stretch/>
        </p:blipFill>
        <p:spPr>
          <a:xfrm>
            <a:off x="707600" y="2174875"/>
            <a:ext cx="4832591" cy="2253086"/>
          </a:xfrm>
          <a:prstGeom prst="rect">
            <a:avLst/>
          </a:prstGeom>
          <a:noFill/>
          <a:ln>
            <a:noFill/>
          </a:ln>
        </p:spPr>
      </p:pic>
      <p:pic>
        <p:nvPicPr>
          <p:cNvPr id="198" name="Google Shape;198;p54"/>
          <p:cNvPicPr preferRelativeResize="0"/>
          <p:nvPr/>
        </p:nvPicPr>
        <p:blipFill rotWithShape="1">
          <a:blip r:embed="rId4">
            <a:alphaModFix/>
          </a:blip>
          <a:srcRect b="0" l="0" r="0" t="0"/>
          <a:stretch/>
        </p:blipFill>
        <p:spPr>
          <a:xfrm>
            <a:off x="5891106" y="2174875"/>
            <a:ext cx="5772573" cy="316689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55"/>
          <p:cNvSpPr txBox="1"/>
          <p:nvPr/>
        </p:nvSpPr>
        <p:spPr>
          <a:xfrm>
            <a:off x="479425" y="764540"/>
            <a:ext cx="10750500" cy="45090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00"/>
              </a:buClr>
              <a:buSzPts val="2400"/>
              <a:buFont typeface="Arial"/>
              <a:buNone/>
            </a:pPr>
            <a:r>
              <a:rPr b="1" lang="en-US" sz="2400">
                <a:solidFill>
                  <a:schemeClr val="accent2"/>
                </a:solidFill>
                <a:latin typeface="DM Sans"/>
                <a:ea typeface="DM Sans"/>
                <a:cs typeface="DM Sans"/>
                <a:sym typeface="DM Sans"/>
              </a:rPr>
              <a:t>Initial Model</a:t>
            </a:r>
            <a:r>
              <a:rPr b="1" lang="en-US" sz="2400">
                <a:solidFill>
                  <a:schemeClr val="accent2"/>
                </a:solidFill>
                <a:latin typeface="DM Sans"/>
                <a:ea typeface="DM Sans"/>
                <a:cs typeface="DM Sans"/>
                <a:sym typeface="DM Sans"/>
              </a:rPr>
              <a:t> Selection (Anemia)</a:t>
            </a:r>
            <a:endParaRPr b="1" i="0" sz="2400" u="none" cap="none" strike="noStrike">
              <a:solidFill>
                <a:schemeClr val="accent2"/>
              </a:solidFill>
              <a:latin typeface="DM Sans"/>
              <a:ea typeface="DM Sans"/>
              <a:cs typeface="DM Sans"/>
              <a:sym typeface="DM Sans"/>
            </a:endParaRPr>
          </a:p>
        </p:txBody>
      </p:sp>
      <p:pic>
        <p:nvPicPr>
          <p:cNvPr id="204" name="Google Shape;204;p55"/>
          <p:cNvPicPr preferRelativeResize="0"/>
          <p:nvPr/>
        </p:nvPicPr>
        <p:blipFill rotWithShape="1">
          <a:blip r:embed="rId3">
            <a:alphaModFix/>
          </a:blip>
          <a:srcRect b="0" l="0" r="0" t="0"/>
          <a:stretch/>
        </p:blipFill>
        <p:spPr>
          <a:xfrm>
            <a:off x="479426" y="1620524"/>
            <a:ext cx="7807055" cy="4751700"/>
          </a:xfrm>
          <a:prstGeom prst="rect">
            <a:avLst/>
          </a:prstGeom>
          <a:noFill/>
          <a:ln>
            <a:noFill/>
          </a:ln>
        </p:spPr>
      </p:pic>
      <p:sp>
        <p:nvSpPr>
          <p:cNvPr id="205" name="Google Shape;205;p55"/>
          <p:cNvSpPr txBox="1"/>
          <p:nvPr/>
        </p:nvSpPr>
        <p:spPr>
          <a:xfrm>
            <a:off x="8480450" y="1628925"/>
            <a:ext cx="3531900" cy="450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500"/>
              <a:buFont typeface="Arial"/>
              <a:buNone/>
            </a:pPr>
            <a:r>
              <a:rPr b="1" i="1" lang="en-US" sz="1800">
                <a:solidFill>
                  <a:srgbClr val="AF4345"/>
                </a:solidFill>
                <a:latin typeface="DM Sans"/>
                <a:ea typeface="DM Sans"/>
                <a:cs typeface="DM Sans"/>
                <a:sym typeface="DM Sans"/>
              </a:rPr>
              <a:t>Omit Variables:</a:t>
            </a:r>
            <a:endParaRPr b="1" i="1" sz="1500" u="none" cap="none" strike="noStrike">
              <a:solidFill>
                <a:srgbClr val="AF4345"/>
              </a:solidFill>
              <a:latin typeface="DM Sans"/>
              <a:ea typeface="DM Sans"/>
              <a:cs typeface="DM Sans"/>
              <a:sym typeface="DM Sans"/>
            </a:endParaRPr>
          </a:p>
        </p:txBody>
      </p:sp>
      <p:sp>
        <p:nvSpPr>
          <p:cNvPr id="206" name="Google Shape;206;p55"/>
          <p:cNvSpPr txBox="1"/>
          <p:nvPr/>
        </p:nvSpPr>
        <p:spPr>
          <a:xfrm>
            <a:off x="8480425" y="2079820"/>
            <a:ext cx="3364200" cy="2802900"/>
          </a:xfrm>
          <a:prstGeom prst="rect">
            <a:avLst/>
          </a:prstGeom>
          <a:noFill/>
          <a:ln>
            <a:noFill/>
          </a:ln>
        </p:spPr>
        <p:txBody>
          <a:bodyPr anchorCtr="0" anchor="t" bIns="45700" lIns="91425" spcFirstLastPara="1" rIns="91425" wrap="square" tIns="45700">
            <a:noAutofit/>
          </a:bodyPr>
          <a:lstStyle/>
          <a:p>
            <a:pPr indent="-196850" lvl="0" marL="171450" marR="0" rtl="0" algn="l">
              <a:lnSpc>
                <a:spcPct val="150000"/>
              </a:lnSpc>
              <a:spcBef>
                <a:spcPts val="0"/>
              </a:spcBef>
              <a:spcAft>
                <a:spcPts val="0"/>
              </a:spcAft>
              <a:buClr>
                <a:srgbClr val="AF4345"/>
              </a:buClr>
              <a:buSzPts val="1600"/>
              <a:buFont typeface="Arial"/>
              <a:buChar char="•"/>
            </a:pPr>
            <a:r>
              <a:rPr i="1" lang="en-US" sz="1600">
                <a:solidFill>
                  <a:srgbClr val="AF4345"/>
                </a:solidFill>
                <a:latin typeface="DM Sans"/>
                <a:ea typeface="DM Sans"/>
                <a:cs typeface="DM Sans"/>
                <a:sym typeface="DM Sans"/>
              </a:rPr>
              <a:t>Child’s gender </a:t>
            </a:r>
            <a:endParaRPr i="1" sz="1600">
              <a:solidFill>
                <a:srgbClr val="AF4345"/>
              </a:solidFill>
              <a:latin typeface="DM Sans"/>
              <a:ea typeface="DM Sans"/>
              <a:cs typeface="DM Sans"/>
              <a:sym typeface="DM Sans"/>
            </a:endParaRPr>
          </a:p>
          <a:p>
            <a:pPr indent="-196850" lvl="0" marL="171450" marR="0" rtl="0" algn="l">
              <a:lnSpc>
                <a:spcPct val="150000"/>
              </a:lnSpc>
              <a:spcBef>
                <a:spcPts val="0"/>
              </a:spcBef>
              <a:spcAft>
                <a:spcPts val="0"/>
              </a:spcAft>
              <a:buClr>
                <a:srgbClr val="AF4345"/>
              </a:buClr>
              <a:buSzPts val="1600"/>
              <a:buFont typeface="Arial"/>
              <a:buChar char="•"/>
            </a:pPr>
            <a:r>
              <a:rPr i="1" lang="en-US" sz="1600">
                <a:solidFill>
                  <a:srgbClr val="AF4345"/>
                </a:solidFill>
                <a:latin typeface="DM Sans"/>
                <a:ea typeface="DM Sans"/>
                <a:cs typeface="DM Sans"/>
                <a:sym typeface="DM Sans"/>
              </a:rPr>
              <a:t>Child’s size at birth</a:t>
            </a:r>
            <a:endParaRPr i="1" sz="1600">
              <a:solidFill>
                <a:srgbClr val="AF4345"/>
              </a:solidFill>
              <a:latin typeface="DM Sans"/>
              <a:ea typeface="DM Sans"/>
              <a:cs typeface="DM Sans"/>
              <a:sym typeface="DM Sans"/>
            </a:endParaRPr>
          </a:p>
          <a:p>
            <a:pPr indent="0" lvl="0" marL="457200" marR="0" rtl="0" algn="l">
              <a:lnSpc>
                <a:spcPct val="150000"/>
              </a:lnSpc>
              <a:spcBef>
                <a:spcPts val="0"/>
              </a:spcBef>
              <a:spcAft>
                <a:spcPts val="0"/>
              </a:spcAft>
              <a:buNone/>
            </a:pPr>
            <a:r>
              <a:t/>
            </a:r>
            <a:endParaRPr b="0" i="0" sz="1200" u="none" cap="none" strike="noStrike">
              <a:solidFill>
                <a:schemeClr val="accent2"/>
              </a:solidFill>
              <a:latin typeface="DM Sans"/>
              <a:ea typeface="DM Sans"/>
              <a:cs typeface="DM Sans"/>
              <a:sym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56"/>
          <p:cNvPicPr preferRelativeResize="0"/>
          <p:nvPr/>
        </p:nvPicPr>
        <p:blipFill rotWithShape="1">
          <a:blip r:embed="rId3">
            <a:alphaModFix/>
          </a:blip>
          <a:srcRect b="0" l="0" r="0" t="0"/>
          <a:stretch/>
        </p:blipFill>
        <p:spPr>
          <a:xfrm>
            <a:off x="479425" y="1620525"/>
            <a:ext cx="7316549" cy="4751700"/>
          </a:xfrm>
          <a:prstGeom prst="rect">
            <a:avLst/>
          </a:prstGeom>
          <a:noFill/>
          <a:ln>
            <a:noFill/>
          </a:ln>
        </p:spPr>
      </p:pic>
      <p:sp>
        <p:nvSpPr>
          <p:cNvPr id="212" name="Google Shape;212;p56"/>
          <p:cNvSpPr txBox="1"/>
          <p:nvPr/>
        </p:nvSpPr>
        <p:spPr>
          <a:xfrm>
            <a:off x="8480450" y="1628925"/>
            <a:ext cx="3531900" cy="450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500"/>
              <a:buFont typeface="Arial"/>
              <a:buNone/>
            </a:pPr>
            <a:r>
              <a:rPr b="1" i="1" lang="en-US" sz="1800">
                <a:solidFill>
                  <a:srgbClr val="AF4345"/>
                </a:solidFill>
                <a:latin typeface="DM Sans"/>
                <a:ea typeface="DM Sans"/>
                <a:cs typeface="DM Sans"/>
                <a:sym typeface="DM Sans"/>
              </a:rPr>
              <a:t>Omit Variables:</a:t>
            </a:r>
            <a:endParaRPr b="1" i="1" sz="1500" u="none" cap="none" strike="noStrike">
              <a:solidFill>
                <a:srgbClr val="AF4345"/>
              </a:solidFill>
              <a:latin typeface="DM Sans"/>
              <a:ea typeface="DM Sans"/>
              <a:cs typeface="DM Sans"/>
              <a:sym typeface="DM Sans"/>
            </a:endParaRPr>
          </a:p>
        </p:txBody>
      </p:sp>
      <p:sp>
        <p:nvSpPr>
          <p:cNvPr id="213" name="Google Shape;213;p56"/>
          <p:cNvSpPr txBox="1"/>
          <p:nvPr/>
        </p:nvSpPr>
        <p:spPr>
          <a:xfrm>
            <a:off x="8480425" y="2079820"/>
            <a:ext cx="3364200" cy="2802900"/>
          </a:xfrm>
          <a:prstGeom prst="rect">
            <a:avLst/>
          </a:prstGeom>
          <a:noFill/>
          <a:ln>
            <a:noFill/>
          </a:ln>
        </p:spPr>
        <p:txBody>
          <a:bodyPr anchorCtr="0" anchor="t" bIns="45700" lIns="91425" spcFirstLastPara="1" rIns="91425" wrap="square" tIns="45700">
            <a:noAutofit/>
          </a:bodyPr>
          <a:lstStyle/>
          <a:p>
            <a:pPr indent="-196850" lvl="0" marL="171450" marR="0" rtl="0" algn="l">
              <a:lnSpc>
                <a:spcPct val="150000"/>
              </a:lnSpc>
              <a:spcBef>
                <a:spcPts val="0"/>
              </a:spcBef>
              <a:spcAft>
                <a:spcPts val="0"/>
              </a:spcAft>
              <a:buClr>
                <a:srgbClr val="AF4345"/>
              </a:buClr>
              <a:buSzPts val="1600"/>
              <a:buFont typeface="Arial"/>
              <a:buChar char="•"/>
            </a:pPr>
            <a:r>
              <a:rPr i="1" lang="en-US" sz="1600">
                <a:solidFill>
                  <a:srgbClr val="AF4345"/>
                </a:solidFill>
                <a:latin typeface="DM Sans"/>
                <a:ea typeface="DM Sans"/>
                <a:cs typeface="DM Sans"/>
                <a:sym typeface="DM Sans"/>
              </a:rPr>
              <a:t>Mother’s age</a:t>
            </a:r>
            <a:endParaRPr i="1" sz="1600">
              <a:solidFill>
                <a:srgbClr val="AF4345"/>
              </a:solidFill>
              <a:latin typeface="DM Sans"/>
              <a:ea typeface="DM Sans"/>
              <a:cs typeface="DM Sans"/>
              <a:sym typeface="DM Sans"/>
            </a:endParaRPr>
          </a:p>
          <a:p>
            <a:pPr indent="0" lvl="0" marL="457200" marR="0" rtl="0" algn="l">
              <a:lnSpc>
                <a:spcPct val="150000"/>
              </a:lnSpc>
              <a:spcBef>
                <a:spcPts val="0"/>
              </a:spcBef>
              <a:spcAft>
                <a:spcPts val="0"/>
              </a:spcAft>
              <a:buNone/>
            </a:pPr>
            <a:r>
              <a:t/>
            </a:r>
            <a:endParaRPr b="0" i="0" sz="1200" u="none" cap="none" strike="noStrike">
              <a:solidFill>
                <a:schemeClr val="accent2"/>
              </a:solidFill>
              <a:latin typeface="DM Sans"/>
              <a:ea typeface="DM Sans"/>
              <a:cs typeface="DM Sans"/>
              <a:sym typeface="DM Sans"/>
            </a:endParaRPr>
          </a:p>
        </p:txBody>
      </p:sp>
      <p:sp>
        <p:nvSpPr>
          <p:cNvPr id="214" name="Google Shape;214;p56"/>
          <p:cNvSpPr txBox="1"/>
          <p:nvPr/>
        </p:nvSpPr>
        <p:spPr>
          <a:xfrm>
            <a:off x="479425" y="764540"/>
            <a:ext cx="10750500" cy="45090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00"/>
              </a:buClr>
              <a:buSzPts val="2400"/>
              <a:buFont typeface="Arial"/>
              <a:buNone/>
            </a:pPr>
            <a:r>
              <a:rPr b="1" lang="en-US" sz="2400">
                <a:solidFill>
                  <a:schemeClr val="accent2"/>
                </a:solidFill>
                <a:latin typeface="DM Sans"/>
                <a:ea typeface="DM Sans"/>
                <a:cs typeface="DM Sans"/>
                <a:sym typeface="DM Sans"/>
              </a:rPr>
              <a:t>I</a:t>
            </a:r>
            <a:r>
              <a:rPr b="1" lang="en-US" sz="2400">
                <a:solidFill>
                  <a:schemeClr val="accent2"/>
                </a:solidFill>
                <a:latin typeface="DM Sans"/>
                <a:ea typeface="DM Sans"/>
                <a:cs typeface="DM Sans"/>
                <a:sym typeface="DM Sans"/>
              </a:rPr>
              <a:t>nitial Model Selection (Stunting)</a:t>
            </a:r>
            <a:endParaRPr b="1" i="0" sz="2400" u="none" cap="none" strike="noStrike">
              <a:solidFill>
                <a:schemeClr val="accent2"/>
              </a:solidFill>
              <a:latin typeface="DM Sans"/>
              <a:ea typeface="DM Sans"/>
              <a:cs typeface="DM Sans"/>
              <a:sym typeface="DM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57"/>
          <p:cNvSpPr txBox="1"/>
          <p:nvPr/>
        </p:nvSpPr>
        <p:spPr>
          <a:xfrm>
            <a:off x="589198" y="562001"/>
            <a:ext cx="7079400" cy="57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chemeClr val="accent2"/>
                </a:solidFill>
                <a:latin typeface="DM Sans"/>
                <a:ea typeface="DM Sans"/>
                <a:cs typeface="DM Sans"/>
                <a:sym typeface="DM Sans"/>
              </a:rPr>
              <a:t>B</a:t>
            </a:r>
            <a:r>
              <a:rPr b="1" lang="en-US" sz="2400">
                <a:solidFill>
                  <a:schemeClr val="accent2"/>
                </a:solidFill>
                <a:latin typeface="DM Sans"/>
                <a:ea typeface="DM Sans"/>
                <a:cs typeface="DM Sans"/>
                <a:sym typeface="DM Sans"/>
              </a:rPr>
              <a:t>ackward</a:t>
            </a:r>
            <a:r>
              <a:rPr b="1" lang="en-US" sz="2400">
                <a:solidFill>
                  <a:schemeClr val="accent2"/>
                </a:solidFill>
                <a:latin typeface="DM Sans"/>
                <a:ea typeface="DM Sans"/>
                <a:cs typeface="DM Sans"/>
                <a:sym typeface="DM Sans"/>
              </a:rPr>
              <a:t> Stepwise Variable Selection</a:t>
            </a:r>
            <a:endParaRPr/>
          </a:p>
        </p:txBody>
      </p:sp>
      <p:sp>
        <p:nvSpPr>
          <p:cNvPr id="220" name="Google Shape;220;p57"/>
          <p:cNvSpPr txBox="1"/>
          <p:nvPr/>
        </p:nvSpPr>
        <p:spPr>
          <a:xfrm>
            <a:off x="371650" y="1341575"/>
            <a:ext cx="10732500" cy="47409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US" sz="2000"/>
              <a:t>Multivariable logistic regression models were fitted for anemia and stunting.</a:t>
            </a:r>
            <a:endParaRPr sz="2000"/>
          </a:p>
          <a:p>
            <a:pPr indent="0" lvl="0" marL="457200" rtl="0" algn="l">
              <a:spcBef>
                <a:spcPts val="0"/>
              </a:spcBef>
              <a:spcAft>
                <a:spcPts val="0"/>
              </a:spcAft>
              <a:buNone/>
            </a:pPr>
            <a:r>
              <a:t/>
            </a:r>
            <a:endParaRPr sz="2000"/>
          </a:p>
          <a:p>
            <a:pPr indent="-355600" lvl="0" marL="457200" rtl="0" algn="l">
              <a:spcBef>
                <a:spcPts val="0"/>
              </a:spcBef>
              <a:spcAft>
                <a:spcPts val="0"/>
              </a:spcAft>
              <a:buSzPts val="2000"/>
              <a:buChar char="●"/>
            </a:pPr>
            <a:r>
              <a:rPr lang="en-US" sz="2000"/>
              <a:t>Backward elimination was applied to remove non-significant predictors.</a:t>
            </a:r>
            <a:endParaRPr sz="2000"/>
          </a:p>
          <a:p>
            <a:pPr indent="0" lvl="0" marL="457200" rtl="0" algn="l">
              <a:spcBef>
                <a:spcPts val="0"/>
              </a:spcBef>
              <a:spcAft>
                <a:spcPts val="0"/>
              </a:spcAft>
              <a:buNone/>
            </a:pPr>
            <a:r>
              <a:t/>
            </a:r>
            <a:endParaRPr sz="2000"/>
          </a:p>
          <a:p>
            <a:pPr indent="-355600" lvl="0" marL="457200" rtl="0" algn="l">
              <a:spcBef>
                <a:spcPts val="0"/>
              </a:spcBef>
              <a:spcAft>
                <a:spcPts val="0"/>
              </a:spcAft>
              <a:buSzPts val="2000"/>
              <a:buChar char="●"/>
            </a:pPr>
            <a:r>
              <a:rPr lang="en-US" sz="2000"/>
              <a:t>Categorical predictors were evaluated using Wald joint tests (testparm).</a:t>
            </a:r>
            <a:endParaRPr sz="2000"/>
          </a:p>
          <a:p>
            <a:pPr indent="0" lvl="0" marL="457200" rtl="0" algn="l">
              <a:spcBef>
                <a:spcPts val="0"/>
              </a:spcBef>
              <a:spcAft>
                <a:spcPts val="0"/>
              </a:spcAft>
              <a:buNone/>
            </a:pPr>
            <a:r>
              <a:t/>
            </a:r>
            <a:endParaRPr sz="2000"/>
          </a:p>
          <a:p>
            <a:pPr indent="-355600" lvl="0" marL="457200" rtl="0" algn="l">
              <a:spcBef>
                <a:spcPts val="0"/>
              </a:spcBef>
              <a:spcAft>
                <a:spcPts val="0"/>
              </a:spcAft>
              <a:buSzPts val="2000"/>
              <a:buChar char="●"/>
            </a:pPr>
            <a:r>
              <a:rPr lang="en-US" sz="2000"/>
              <a:t>Final models were retained based on statistical significance and theoretical relevance.</a:t>
            </a:r>
            <a:endParaRPr sz="2000"/>
          </a:p>
          <a:p>
            <a:pPr indent="0" lvl="0" marL="45720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58"/>
          <p:cNvSpPr txBox="1"/>
          <p:nvPr/>
        </p:nvSpPr>
        <p:spPr>
          <a:xfrm>
            <a:off x="589198" y="562001"/>
            <a:ext cx="7079400" cy="57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chemeClr val="accent2"/>
                </a:solidFill>
                <a:latin typeface="DM Sans"/>
                <a:ea typeface="DM Sans"/>
                <a:cs typeface="DM Sans"/>
                <a:sym typeface="DM Sans"/>
              </a:rPr>
              <a:t>Anemia: </a:t>
            </a:r>
            <a:r>
              <a:rPr b="1" lang="en-US" sz="2400">
                <a:solidFill>
                  <a:schemeClr val="accent2"/>
                </a:solidFill>
                <a:latin typeface="DM Sans"/>
                <a:ea typeface="DM Sans"/>
                <a:cs typeface="DM Sans"/>
                <a:sym typeface="DM Sans"/>
              </a:rPr>
              <a:t> Selection Steps</a:t>
            </a:r>
            <a:endParaRPr/>
          </a:p>
        </p:txBody>
      </p:sp>
      <p:graphicFrame>
        <p:nvGraphicFramePr>
          <p:cNvPr id="226" name="Google Shape;226;p58"/>
          <p:cNvGraphicFramePr/>
          <p:nvPr/>
        </p:nvGraphicFramePr>
        <p:xfrm>
          <a:off x="952500" y="2095500"/>
          <a:ext cx="3000000" cy="3000000"/>
        </p:xfrm>
        <a:graphic>
          <a:graphicData uri="http://schemas.openxmlformats.org/drawingml/2006/table">
            <a:tbl>
              <a:tblPr>
                <a:noFill/>
                <a:tableStyleId>{E8E168AB-235F-408B-90C5-038A2B515F37}</a:tableStyleId>
              </a:tblPr>
              <a:tblGrid>
                <a:gridCol w="3429000"/>
                <a:gridCol w="3429000"/>
                <a:gridCol w="3429000"/>
              </a:tblGrid>
              <a:tr h="381000">
                <a:tc>
                  <a:txBody>
                    <a:bodyPr/>
                    <a:lstStyle/>
                    <a:p>
                      <a:pPr indent="0" lvl="0" marL="0" rtl="0" algn="ctr">
                        <a:spcBef>
                          <a:spcPts val="0"/>
                        </a:spcBef>
                        <a:spcAft>
                          <a:spcPts val="0"/>
                        </a:spcAft>
                        <a:buNone/>
                      </a:pPr>
                      <a:r>
                        <a:rPr lang="en-US">
                          <a:solidFill>
                            <a:schemeClr val="lt1"/>
                          </a:solidFill>
                        </a:rPr>
                        <a:t>Step</a:t>
                      </a:r>
                      <a:endParaRPr>
                        <a:solidFill>
                          <a:schemeClr val="lt1"/>
                        </a:solidFill>
                      </a:endParaRPr>
                    </a:p>
                  </a:txBody>
                  <a:tcPr marT="91425" marB="91425" marR="91425" marL="91425">
                    <a:solidFill>
                      <a:schemeClr val="dk2"/>
                    </a:solidFill>
                  </a:tcPr>
                </a:tc>
                <a:tc>
                  <a:txBody>
                    <a:bodyPr/>
                    <a:lstStyle/>
                    <a:p>
                      <a:pPr indent="0" lvl="0" marL="0" rtl="0" algn="ctr">
                        <a:spcBef>
                          <a:spcPts val="0"/>
                        </a:spcBef>
                        <a:spcAft>
                          <a:spcPts val="0"/>
                        </a:spcAft>
                        <a:buNone/>
                      </a:pPr>
                      <a:r>
                        <a:rPr lang="en-US">
                          <a:solidFill>
                            <a:schemeClr val="lt1"/>
                          </a:solidFill>
                        </a:rPr>
                        <a:t>Removed Variable </a:t>
                      </a:r>
                      <a:endParaRPr>
                        <a:solidFill>
                          <a:schemeClr val="lt1"/>
                        </a:solidFill>
                      </a:endParaRPr>
                    </a:p>
                  </a:txBody>
                  <a:tcPr marT="91425" marB="91425" marR="91425" marL="91425">
                    <a:solidFill>
                      <a:schemeClr val="dk2"/>
                    </a:solidFill>
                  </a:tcPr>
                </a:tc>
                <a:tc>
                  <a:txBody>
                    <a:bodyPr/>
                    <a:lstStyle/>
                    <a:p>
                      <a:pPr indent="0" lvl="0" marL="0" rtl="0" algn="ctr">
                        <a:spcBef>
                          <a:spcPts val="0"/>
                        </a:spcBef>
                        <a:spcAft>
                          <a:spcPts val="0"/>
                        </a:spcAft>
                        <a:buNone/>
                      </a:pPr>
                      <a:r>
                        <a:rPr lang="en-US">
                          <a:solidFill>
                            <a:schemeClr val="lt1"/>
                          </a:solidFill>
                        </a:rPr>
                        <a:t>p-value</a:t>
                      </a:r>
                      <a:endParaRPr>
                        <a:solidFill>
                          <a:schemeClr val="lt1"/>
                        </a:solidFill>
                      </a:endParaRPr>
                    </a:p>
                  </a:txBody>
                  <a:tcPr marT="91425" marB="91425" marR="91425" marL="91425">
                    <a:solidFill>
                      <a:schemeClr val="dk2"/>
                    </a:solidFill>
                  </a:tcPr>
                </a:tc>
              </a:tr>
              <a:tr h="381000">
                <a:tc>
                  <a:txBody>
                    <a:bodyPr/>
                    <a:lstStyle/>
                    <a:p>
                      <a:pPr indent="0" lvl="0" marL="0" rtl="0" algn="ctr">
                        <a:spcBef>
                          <a:spcPts val="0"/>
                        </a:spcBef>
                        <a:spcAft>
                          <a:spcPts val="0"/>
                        </a:spcAft>
                        <a:buNone/>
                      </a:pPr>
                      <a:r>
                        <a:rPr lang="en-US"/>
                        <a:t>1</a:t>
                      </a: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en-US">
                          <a:solidFill>
                            <a:schemeClr val="dk1"/>
                          </a:solidFill>
                        </a:rPr>
                        <a:t>mother’s anemia status</a:t>
                      </a:r>
                      <a:endParaRPr/>
                    </a:p>
                  </a:txBody>
                  <a:tcPr marT="91425" marB="91425" marR="91425" marL="91425"/>
                </a:tc>
                <a:tc>
                  <a:txBody>
                    <a:bodyPr/>
                    <a:lstStyle/>
                    <a:p>
                      <a:pPr indent="0" lvl="0" marL="0" rtl="0" algn="ctr">
                        <a:spcBef>
                          <a:spcPts val="0"/>
                        </a:spcBef>
                        <a:spcAft>
                          <a:spcPts val="0"/>
                        </a:spcAft>
                        <a:buNone/>
                      </a:pPr>
                      <a:r>
                        <a:rPr lang="en-US"/>
                        <a:t>0.892</a:t>
                      </a:r>
                      <a:endParaRPr/>
                    </a:p>
                  </a:txBody>
                  <a:tcPr marT="91425" marB="91425" marR="91425" marL="91425"/>
                </a:tc>
              </a:tr>
              <a:tr h="381000">
                <a:tc>
                  <a:txBody>
                    <a:bodyPr/>
                    <a:lstStyle/>
                    <a:p>
                      <a:pPr indent="0" lvl="0" marL="0" rtl="0" algn="ctr">
                        <a:spcBef>
                          <a:spcPts val="0"/>
                        </a:spcBef>
                        <a:spcAft>
                          <a:spcPts val="0"/>
                        </a:spcAft>
                        <a:buNone/>
                      </a:pPr>
                      <a:r>
                        <a:rPr lang="en-US"/>
                        <a:t>2</a:t>
                      </a:r>
                      <a:endParaRPr/>
                    </a:p>
                  </a:txBody>
                  <a:tcPr marT="91425" marB="91425" marR="91425" marL="91425"/>
                </a:tc>
                <a:tc>
                  <a:txBody>
                    <a:bodyPr/>
                    <a:lstStyle/>
                    <a:p>
                      <a:pPr indent="0" lvl="0" marL="0" rtl="0" algn="ctr">
                        <a:spcBef>
                          <a:spcPts val="0"/>
                        </a:spcBef>
                        <a:spcAft>
                          <a:spcPts val="0"/>
                        </a:spcAft>
                        <a:buNone/>
                      </a:pPr>
                      <a:r>
                        <a:rPr lang="en-US"/>
                        <a:t>access to food</a:t>
                      </a:r>
                      <a:endParaRPr/>
                    </a:p>
                  </a:txBody>
                  <a:tcPr marT="91425" marB="91425" marR="91425" marL="91425"/>
                </a:tc>
                <a:tc>
                  <a:txBody>
                    <a:bodyPr/>
                    <a:lstStyle/>
                    <a:p>
                      <a:pPr indent="0" lvl="0" marL="0" rtl="0" algn="ctr">
                        <a:spcBef>
                          <a:spcPts val="0"/>
                        </a:spcBef>
                        <a:spcAft>
                          <a:spcPts val="0"/>
                        </a:spcAft>
                        <a:buNone/>
                      </a:pPr>
                      <a:r>
                        <a:rPr lang="en-US"/>
                        <a:t>0.708</a:t>
                      </a:r>
                      <a:endParaRPr/>
                    </a:p>
                  </a:txBody>
                  <a:tcPr marT="91425" marB="91425" marR="91425" marL="91425"/>
                </a:tc>
              </a:tr>
              <a:tr h="381000">
                <a:tc>
                  <a:txBody>
                    <a:bodyPr/>
                    <a:lstStyle/>
                    <a:p>
                      <a:pPr indent="0" lvl="0" marL="0" rtl="0" algn="ctr">
                        <a:spcBef>
                          <a:spcPts val="0"/>
                        </a:spcBef>
                        <a:spcAft>
                          <a:spcPts val="0"/>
                        </a:spcAft>
                        <a:buNone/>
                      </a:pPr>
                      <a:r>
                        <a:rPr lang="en-US"/>
                        <a:t>3</a:t>
                      </a:r>
                      <a:endParaRPr/>
                    </a:p>
                  </a:txBody>
                  <a:tcPr marT="91425" marB="91425" marR="91425" marL="91425"/>
                </a:tc>
                <a:tc>
                  <a:txBody>
                    <a:bodyPr/>
                    <a:lstStyle/>
                    <a:p>
                      <a:pPr indent="0" lvl="0" marL="0" rtl="0" algn="ctr">
                        <a:spcBef>
                          <a:spcPts val="0"/>
                        </a:spcBef>
                        <a:spcAft>
                          <a:spcPts val="0"/>
                        </a:spcAft>
                        <a:buNone/>
                      </a:pPr>
                      <a:r>
                        <a:rPr lang="en-US"/>
                        <a:t>body mass index</a:t>
                      </a:r>
                      <a:endParaRPr/>
                    </a:p>
                  </a:txBody>
                  <a:tcPr marT="91425" marB="91425" marR="91425" marL="91425"/>
                </a:tc>
                <a:tc>
                  <a:txBody>
                    <a:bodyPr/>
                    <a:lstStyle/>
                    <a:p>
                      <a:pPr indent="0" lvl="0" marL="0" rtl="0" algn="ctr">
                        <a:spcBef>
                          <a:spcPts val="0"/>
                        </a:spcBef>
                        <a:spcAft>
                          <a:spcPts val="0"/>
                        </a:spcAft>
                        <a:buNone/>
                      </a:pPr>
                      <a:r>
                        <a:rPr lang="en-US"/>
                        <a:t>0.686</a:t>
                      </a:r>
                      <a:endParaRPr/>
                    </a:p>
                  </a:txBody>
                  <a:tcPr marT="91425" marB="91425" marR="91425" marL="91425"/>
                </a:tc>
              </a:tr>
              <a:tr h="381000">
                <a:tc>
                  <a:txBody>
                    <a:bodyPr/>
                    <a:lstStyle/>
                    <a:p>
                      <a:pPr indent="0" lvl="0" marL="0" rtl="0" algn="ctr">
                        <a:spcBef>
                          <a:spcPts val="0"/>
                        </a:spcBef>
                        <a:spcAft>
                          <a:spcPts val="0"/>
                        </a:spcAft>
                        <a:buNone/>
                      </a:pPr>
                      <a:r>
                        <a:rPr lang="en-US"/>
                        <a:t>4</a:t>
                      </a:r>
                      <a:endParaRPr/>
                    </a:p>
                  </a:txBody>
                  <a:tcPr marT="91425" marB="91425" marR="91425" marL="91425"/>
                </a:tc>
                <a:tc>
                  <a:txBody>
                    <a:bodyPr/>
                    <a:lstStyle/>
                    <a:p>
                      <a:pPr indent="0" lvl="0" marL="0" rtl="0" algn="ctr">
                        <a:spcBef>
                          <a:spcPts val="0"/>
                        </a:spcBef>
                        <a:spcAft>
                          <a:spcPts val="0"/>
                        </a:spcAft>
                        <a:buNone/>
                      </a:pPr>
                      <a:r>
                        <a:rPr lang="en-US"/>
                        <a:t>residence’s type</a:t>
                      </a:r>
                      <a:endParaRPr/>
                    </a:p>
                  </a:txBody>
                  <a:tcPr marT="91425" marB="91425" marR="91425" marL="91425"/>
                </a:tc>
                <a:tc>
                  <a:txBody>
                    <a:bodyPr/>
                    <a:lstStyle/>
                    <a:p>
                      <a:pPr indent="0" lvl="0" marL="0" rtl="0" algn="ctr">
                        <a:spcBef>
                          <a:spcPts val="0"/>
                        </a:spcBef>
                        <a:spcAft>
                          <a:spcPts val="0"/>
                        </a:spcAft>
                        <a:buNone/>
                      </a:pPr>
                      <a:r>
                        <a:rPr lang="en-US"/>
                        <a:t>0.592</a:t>
                      </a:r>
                      <a:endParaRPr/>
                    </a:p>
                  </a:txBody>
                  <a:tcPr marT="91425" marB="91425" marR="91425" marL="91425"/>
                </a:tc>
              </a:tr>
              <a:tr h="381000">
                <a:tc>
                  <a:txBody>
                    <a:bodyPr/>
                    <a:lstStyle/>
                    <a:p>
                      <a:pPr indent="0" lvl="0" marL="0" rtl="0" algn="ctr">
                        <a:spcBef>
                          <a:spcPts val="0"/>
                        </a:spcBef>
                        <a:spcAft>
                          <a:spcPts val="0"/>
                        </a:spcAft>
                        <a:buNone/>
                      </a:pPr>
                      <a:r>
                        <a:rPr lang="en-US"/>
                        <a:t>5</a:t>
                      </a:r>
                      <a:endParaRPr/>
                    </a:p>
                  </a:txBody>
                  <a:tcPr marT="91425" marB="91425" marR="91425" marL="91425"/>
                </a:tc>
                <a:tc>
                  <a:txBody>
                    <a:bodyPr/>
                    <a:lstStyle/>
                    <a:p>
                      <a:pPr indent="0" lvl="0" marL="0" rtl="0" algn="ctr">
                        <a:spcBef>
                          <a:spcPts val="0"/>
                        </a:spcBef>
                        <a:spcAft>
                          <a:spcPts val="0"/>
                        </a:spcAft>
                        <a:buNone/>
                      </a:pPr>
                      <a:r>
                        <a:rPr lang="en-US"/>
                        <a:t>age (5 year group)</a:t>
                      </a:r>
                      <a:endParaRPr/>
                    </a:p>
                  </a:txBody>
                  <a:tcPr marT="91425" marB="91425" marR="91425" marL="91425"/>
                </a:tc>
                <a:tc>
                  <a:txBody>
                    <a:bodyPr/>
                    <a:lstStyle/>
                    <a:p>
                      <a:pPr indent="0" lvl="0" marL="0" rtl="0" algn="ctr">
                        <a:spcBef>
                          <a:spcPts val="0"/>
                        </a:spcBef>
                        <a:spcAft>
                          <a:spcPts val="0"/>
                        </a:spcAft>
                        <a:buNone/>
                      </a:pPr>
                      <a:r>
                        <a:rPr lang="en-US"/>
                        <a:t>0.8962</a:t>
                      </a:r>
                      <a:endParaRPr/>
                    </a:p>
                  </a:txBody>
                  <a:tcPr marT="91425" marB="91425" marR="91425" marL="91425"/>
                </a:tc>
              </a:tr>
              <a:tr h="381000">
                <a:tc>
                  <a:txBody>
                    <a:bodyPr/>
                    <a:lstStyle/>
                    <a:p>
                      <a:pPr indent="0" lvl="0" marL="0" rtl="0" algn="ctr">
                        <a:spcBef>
                          <a:spcPts val="0"/>
                        </a:spcBef>
                        <a:spcAft>
                          <a:spcPts val="0"/>
                        </a:spcAft>
                        <a:buNone/>
                      </a:pPr>
                      <a:r>
                        <a:rPr lang="en-US"/>
                        <a:t>6</a:t>
                      </a:r>
                      <a:endParaRPr/>
                    </a:p>
                  </a:txBody>
                  <a:tcPr marT="91425" marB="91425" marR="91425" marL="91425"/>
                </a:tc>
                <a:tc>
                  <a:txBody>
                    <a:bodyPr/>
                    <a:lstStyle/>
                    <a:p>
                      <a:pPr indent="0" lvl="0" marL="0" rtl="0" algn="ctr">
                        <a:spcBef>
                          <a:spcPts val="0"/>
                        </a:spcBef>
                        <a:spcAft>
                          <a:spcPts val="0"/>
                        </a:spcAft>
                        <a:buNone/>
                      </a:pPr>
                      <a:r>
                        <a:rPr lang="en-US"/>
                        <a:t>highest education level</a:t>
                      </a:r>
                      <a:endParaRPr/>
                    </a:p>
                  </a:txBody>
                  <a:tcPr marT="91425" marB="91425" marR="91425" marL="91425"/>
                </a:tc>
                <a:tc>
                  <a:txBody>
                    <a:bodyPr/>
                    <a:lstStyle/>
                    <a:p>
                      <a:pPr indent="0" lvl="0" marL="0" rtl="0" algn="ctr">
                        <a:spcBef>
                          <a:spcPts val="0"/>
                        </a:spcBef>
                        <a:spcAft>
                          <a:spcPts val="0"/>
                        </a:spcAft>
                        <a:buNone/>
                      </a:pPr>
                      <a:r>
                        <a:rPr lang="en-US"/>
                        <a:t>0.6964</a:t>
                      </a:r>
                      <a:endParaRPr/>
                    </a:p>
                  </a:txBody>
                  <a:tcPr marT="91425" marB="91425" marR="91425" marL="91425"/>
                </a:tc>
              </a:tr>
            </a:tbl>
          </a:graphicData>
        </a:graphic>
      </p:graphicFrame>
      <p:graphicFrame>
        <p:nvGraphicFramePr>
          <p:cNvPr id="227" name="Google Shape;227;p58"/>
          <p:cNvGraphicFramePr/>
          <p:nvPr/>
        </p:nvGraphicFramePr>
        <p:xfrm>
          <a:off x="152400" y="152400"/>
          <a:ext cx="3000000" cy="3000000"/>
        </p:xfrm>
        <a:graphic>
          <a:graphicData uri="http://schemas.openxmlformats.org/drawingml/2006/table">
            <a:tbl>
              <a:tblPr>
                <a:noFill/>
                <a:tableStyleId>{4114AE29-F4E9-42FB-9A9B-1C0D1D059E13}</a:tableStyleId>
              </a:tblPr>
              <a:tblGrid>
                <a:gridCol w="19050"/>
              </a:tblGrid>
              <a:tr h="190500">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228" name="Google Shape;228;p58"/>
          <p:cNvGraphicFramePr/>
          <p:nvPr/>
        </p:nvGraphicFramePr>
        <p:xfrm>
          <a:off x="304800" y="304800"/>
          <a:ext cx="3000000" cy="3000000"/>
        </p:xfrm>
        <a:graphic>
          <a:graphicData uri="http://schemas.openxmlformats.org/drawingml/2006/table">
            <a:tbl>
              <a:tblPr>
                <a:noFill/>
                <a:tableStyleId>{4114AE29-F4E9-42FB-9A9B-1C0D1D059E13}</a:tableStyleId>
              </a:tblPr>
              <a:tblGrid>
                <a:gridCol w="19050"/>
              </a:tblGrid>
              <a:tr h="190500">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59"/>
          <p:cNvSpPr txBox="1"/>
          <p:nvPr/>
        </p:nvSpPr>
        <p:spPr>
          <a:xfrm>
            <a:off x="589198" y="562001"/>
            <a:ext cx="7079400" cy="57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chemeClr val="accent2"/>
                </a:solidFill>
                <a:latin typeface="DM Sans"/>
                <a:ea typeface="DM Sans"/>
                <a:cs typeface="DM Sans"/>
                <a:sym typeface="DM Sans"/>
              </a:rPr>
              <a:t>Stunting</a:t>
            </a:r>
            <a:r>
              <a:rPr b="1" lang="en-US" sz="2400">
                <a:solidFill>
                  <a:schemeClr val="accent2"/>
                </a:solidFill>
                <a:latin typeface="DM Sans"/>
                <a:ea typeface="DM Sans"/>
                <a:cs typeface="DM Sans"/>
                <a:sym typeface="DM Sans"/>
              </a:rPr>
              <a:t>:  Selection Steps</a:t>
            </a:r>
            <a:endParaRPr/>
          </a:p>
        </p:txBody>
      </p:sp>
      <p:graphicFrame>
        <p:nvGraphicFramePr>
          <p:cNvPr id="234" name="Google Shape;234;p59"/>
          <p:cNvGraphicFramePr/>
          <p:nvPr/>
        </p:nvGraphicFramePr>
        <p:xfrm>
          <a:off x="952500" y="1333500"/>
          <a:ext cx="3000000" cy="3000000"/>
        </p:xfrm>
        <a:graphic>
          <a:graphicData uri="http://schemas.openxmlformats.org/drawingml/2006/table">
            <a:tbl>
              <a:tblPr>
                <a:noFill/>
                <a:tableStyleId>{E8E168AB-235F-408B-90C5-038A2B515F37}</a:tableStyleId>
              </a:tblPr>
              <a:tblGrid>
                <a:gridCol w="3429000"/>
                <a:gridCol w="3429000"/>
                <a:gridCol w="3429000"/>
              </a:tblGrid>
              <a:tr h="381000">
                <a:tc>
                  <a:txBody>
                    <a:bodyPr/>
                    <a:lstStyle/>
                    <a:p>
                      <a:pPr indent="0" lvl="0" marL="0" rtl="0" algn="ctr">
                        <a:spcBef>
                          <a:spcPts val="0"/>
                        </a:spcBef>
                        <a:spcAft>
                          <a:spcPts val="0"/>
                        </a:spcAft>
                        <a:buNone/>
                      </a:pPr>
                      <a:r>
                        <a:rPr lang="en-US">
                          <a:solidFill>
                            <a:schemeClr val="lt1"/>
                          </a:solidFill>
                        </a:rPr>
                        <a:t>Step</a:t>
                      </a:r>
                      <a:endParaRPr>
                        <a:solidFill>
                          <a:schemeClr val="lt1"/>
                        </a:solidFill>
                      </a:endParaRPr>
                    </a:p>
                  </a:txBody>
                  <a:tcPr marT="91425" marB="91425" marR="91425" marL="91425">
                    <a:solidFill>
                      <a:schemeClr val="dk2"/>
                    </a:solidFill>
                  </a:tcPr>
                </a:tc>
                <a:tc>
                  <a:txBody>
                    <a:bodyPr/>
                    <a:lstStyle/>
                    <a:p>
                      <a:pPr indent="0" lvl="0" marL="0" rtl="0" algn="ctr">
                        <a:spcBef>
                          <a:spcPts val="0"/>
                        </a:spcBef>
                        <a:spcAft>
                          <a:spcPts val="0"/>
                        </a:spcAft>
                        <a:buNone/>
                      </a:pPr>
                      <a:r>
                        <a:rPr lang="en-US">
                          <a:solidFill>
                            <a:schemeClr val="lt1"/>
                          </a:solidFill>
                        </a:rPr>
                        <a:t>Removed Variable</a:t>
                      </a:r>
                      <a:endParaRPr>
                        <a:solidFill>
                          <a:schemeClr val="lt1"/>
                        </a:solidFill>
                      </a:endParaRPr>
                    </a:p>
                  </a:txBody>
                  <a:tcPr marT="91425" marB="91425" marR="91425" marL="91425">
                    <a:solidFill>
                      <a:schemeClr val="dk2"/>
                    </a:solidFill>
                  </a:tcPr>
                </a:tc>
                <a:tc>
                  <a:txBody>
                    <a:bodyPr/>
                    <a:lstStyle/>
                    <a:p>
                      <a:pPr indent="0" lvl="0" marL="0" rtl="0" algn="ctr">
                        <a:spcBef>
                          <a:spcPts val="0"/>
                        </a:spcBef>
                        <a:spcAft>
                          <a:spcPts val="0"/>
                        </a:spcAft>
                        <a:buNone/>
                      </a:pPr>
                      <a:r>
                        <a:rPr lang="en-US">
                          <a:solidFill>
                            <a:schemeClr val="lt1"/>
                          </a:solidFill>
                        </a:rPr>
                        <a:t>p-value</a:t>
                      </a:r>
                      <a:endParaRPr>
                        <a:solidFill>
                          <a:schemeClr val="lt1"/>
                        </a:solidFill>
                      </a:endParaRPr>
                    </a:p>
                  </a:txBody>
                  <a:tcPr marT="91425" marB="91425" marR="91425" marL="91425">
                    <a:solidFill>
                      <a:schemeClr val="dk2"/>
                    </a:solidFill>
                  </a:tcPr>
                </a:tc>
              </a:tr>
              <a:tr h="381000">
                <a:tc>
                  <a:txBody>
                    <a:bodyPr/>
                    <a:lstStyle/>
                    <a:p>
                      <a:pPr indent="0" lvl="0" marL="0" rtl="0" algn="ctr">
                        <a:spcBef>
                          <a:spcPts val="0"/>
                        </a:spcBef>
                        <a:spcAft>
                          <a:spcPts val="0"/>
                        </a:spcAft>
                        <a:buNone/>
                      </a:pPr>
                      <a:r>
                        <a:rPr lang="en-US"/>
                        <a:t>1</a:t>
                      </a:r>
                      <a:endParaRPr/>
                    </a:p>
                  </a:txBody>
                  <a:tcPr marT="91425" marB="91425" marR="91425" marL="91425"/>
                </a:tc>
                <a:tc>
                  <a:txBody>
                    <a:bodyPr/>
                    <a:lstStyle/>
                    <a:p>
                      <a:pPr indent="0" lvl="0" marL="0" rtl="0" algn="ctr">
                        <a:spcBef>
                          <a:spcPts val="0"/>
                        </a:spcBef>
                        <a:spcAft>
                          <a:spcPts val="0"/>
                        </a:spcAft>
                        <a:buNone/>
                      </a:pPr>
                      <a:r>
                        <a:rPr lang="en-US"/>
                        <a:t>mother’s age at first birth</a:t>
                      </a:r>
                      <a:endParaRPr/>
                    </a:p>
                  </a:txBody>
                  <a:tcPr marT="91425" marB="91425" marR="91425" marL="91425"/>
                </a:tc>
                <a:tc>
                  <a:txBody>
                    <a:bodyPr/>
                    <a:lstStyle/>
                    <a:p>
                      <a:pPr indent="0" lvl="0" marL="0" rtl="0" algn="ctr">
                        <a:spcBef>
                          <a:spcPts val="0"/>
                        </a:spcBef>
                        <a:spcAft>
                          <a:spcPts val="0"/>
                        </a:spcAft>
                        <a:buNone/>
                      </a:pPr>
                      <a:r>
                        <a:rPr lang="en-US"/>
                        <a:t>0.991</a:t>
                      </a:r>
                      <a:endParaRPr/>
                    </a:p>
                  </a:txBody>
                  <a:tcPr marT="91425" marB="91425" marR="91425" marL="91425"/>
                </a:tc>
              </a:tr>
              <a:tr h="381000">
                <a:tc>
                  <a:txBody>
                    <a:bodyPr/>
                    <a:lstStyle/>
                    <a:p>
                      <a:pPr indent="0" lvl="0" marL="0" rtl="0" algn="ctr">
                        <a:spcBef>
                          <a:spcPts val="0"/>
                        </a:spcBef>
                        <a:spcAft>
                          <a:spcPts val="0"/>
                        </a:spcAft>
                        <a:buNone/>
                      </a:pPr>
                      <a:r>
                        <a:rPr lang="en-US"/>
                        <a:t>2</a:t>
                      </a:r>
                      <a:endParaRPr/>
                    </a:p>
                  </a:txBody>
                  <a:tcPr marT="91425" marB="91425" marR="91425" marL="91425"/>
                </a:tc>
                <a:tc>
                  <a:txBody>
                    <a:bodyPr/>
                    <a:lstStyle/>
                    <a:p>
                      <a:pPr indent="0" lvl="0" marL="0" rtl="0" algn="ctr">
                        <a:spcBef>
                          <a:spcPts val="0"/>
                        </a:spcBef>
                        <a:spcAft>
                          <a:spcPts val="0"/>
                        </a:spcAft>
                        <a:buNone/>
                      </a:pPr>
                      <a:r>
                        <a:rPr lang="en-US"/>
                        <a:t>body mass index</a:t>
                      </a:r>
                      <a:endParaRPr/>
                    </a:p>
                  </a:txBody>
                  <a:tcPr marT="91425" marB="91425" marR="91425" marL="91425"/>
                </a:tc>
                <a:tc>
                  <a:txBody>
                    <a:bodyPr/>
                    <a:lstStyle/>
                    <a:p>
                      <a:pPr indent="0" lvl="0" marL="0" rtl="0" algn="ctr">
                        <a:spcBef>
                          <a:spcPts val="0"/>
                        </a:spcBef>
                        <a:spcAft>
                          <a:spcPts val="0"/>
                        </a:spcAft>
                        <a:buNone/>
                      </a:pPr>
                      <a:r>
                        <a:rPr lang="en-US"/>
                        <a:t>0.936</a:t>
                      </a:r>
                      <a:endParaRPr/>
                    </a:p>
                  </a:txBody>
                  <a:tcPr marT="91425" marB="91425" marR="91425" marL="91425"/>
                </a:tc>
              </a:tr>
              <a:tr h="381000">
                <a:tc>
                  <a:txBody>
                    <a:bodyPr/>
                    <a:lstStyle/>
                    <a:p>
                      <a:pPr indent="0" lvl="0" marL="0" rtl="0" algn="ctr">
                        <a:spcBef>
                          <a:spcPts val="0"/>
                        </a:spcBef>
                        <a:spcAft>
                          <a:spcPts val="0"/>
                        </a:spcAft>
                        <a:buNone/>
                      </a:pPr>
                      <a:r>
                        <a:rPr lang="en-US"/>
                        <a:t>3</a:t>
                      </a:r>
                      <a:endParaRPr/>
                    </a:p>
                  </a:txBody>
                  <a:tcPr marT="91425" marB="91425" marR="91425" marL="91425"/>
                </a:tc>
                <a:tc>
                  <a:txBody>
                    <a:bodyPr/>
                    <a:lstStyle/>
                    <a:p>
                      <a:pPr indent="0" lvl="0" marL="0" rtl="0" algn="ctr">
                        <a:spcBef>
                          <a:spcPts val="0"/>
                        </a:spcBef>
                        <a:spcAft>
                          <a:spcPts val="0"/>
                        </a:spcAft>
                        <a:buNone/>
                      </a:pPr>
                      <a:r>
                        <a:rPr lang="en-US"/>
                        <a:t>residence type</a:t>
                      </a:r>
                      <a:endParaRPr/>
                    </a:p>
                  </a:txBody>
                  <a:tcPr marT="91425" marB="91425" marR="91425" marL="91425"/>
                </a:tc>
                <a:tc>
                  <a:txBody>
                    <a:bodyPr/>
                    <a:lstStyle/>
                    <a:p>
                      <a:pPr indent="0" lvl="0" marL="0" rtl="0" algn="ctr">
                        <a:spcBef>
                          <a:spcPts val="0"/>
                        </a:spcBef>
                        <a:spcAft>
                          <a:spcPts val="0"/>
                        </a:spcAft>
                        <a:buNone/>
                      </a:pPr>
                      <a:r>
                        <a:rPr lang="en-US"/>
                        <a:t>0.609</a:t>
                      </a:r>
                      <a:endParaRPr/>
                    </a:p>
                  </a:txBody>
                  <a:tcPr marT="91425" marB="91425" marR="91425" marL="91425"/>
                </a:tc>
              </a:tr>
              <a:tr h="381000">
                <a:tc>
                  <a:txBody>
                    <a:bodyPr/>
                    <a:lstStyle/>
                    <a:p>
                      <a:pPr indent="0" lvl="0" marL="0" rtl="0" algn="ctr">
                        <a:spcBef>
                          <a:spcPts val="0"/>
                        </a:spcBef>
                        <a:spcAft>
                          <a:spcPts val="0"/>
                        </a:spcAft>
                        <a:buNone/>
                      </a:pPr>
                      <a:r>
                        <a:rPr lang="en-US"/>
                        <a:t>4</a:t>
                      </a:r>
                      <a:endParaRPr/>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lang="en-US">
                          <a:solidFill>
                            <a:schemeClr val="dk1"/>
                          </a:solidFill>
                        </a:rPr>
                        <a:t>Socioeconomic Status</a:t>
                      </a:r>
                      <a:endParaRPr/>
                    </a:p>
                  </a:txBody>
                  <a:tcPr marT="91425" marB="91425" marR="91425" marL="91425"/>
                </a:tc>
                <a:tc>
                  <a:txBody>
                    <a:bodyPr/>
                    <a:lstStyle/>
                    <a:p>
                      <a:pPr indent="0" lvl="0" marL="0" rtl="0" algn="ctr">
                        <a:spcBef>
                          <a:spcPts val="0"/>
                        </a:spcBef>
                        <a:spcAft>
                          <a:spcPts val="0"/>
                        </a:spcAft>
                        <a:buNone/>
                      </a:pPr>
                      <a:r>
                        <a:rPr lang="en-US"/>
                        <a:t>0.9345</a:t>
                      </a:r>
                      <a:endParaRPr/>
                    </a:p>
                  </a:txBody>
                  <a:tcPr marT="91425" marB="91425" marR="91425" marL="91425"/>
                </a:tc>
              </a:tr>
              <a:tr h="381000">
                <a:tc>
                  <a:txBody>
                    <a:bodyPr/>
                    <a:lstStyle/>
                    <a:p>
                      <a:pPr indent="0" lvl="0" marL="0" rtl="0" algn="ctr">
                        <a:spcBef>
                          <a:spcPts val="0"/>
                        </a:spcBef>
                        <a:spcAft>
                          <a:spcPts val="0"/>
                        </a:spcAft>
                        <a:buNone/>
                      </a:pPr>
                      <a:r>
                        <a:rPr lang="en-US"/>
                        <a:t>5</a:t>
                      </a:r>
                      <a:endParaRPr/>
                    </a:p>
                  </a:txBody>
                  <a:tcPr marT="91425" marB="91425" marR="91425" marL="91425"/>
                </a:tc>
                <a:tc>
                  <a:txBody>
                    <a:bodyPr/>
                    <a:lstStyle/>
                    <a:p>
                      <a:pPr indent="0" lvl="0" marL="0" rtl="0" algn="ctr">
                        <a:spcBef>
                          <a:spcPts val="0"/>
                        </a:spcBef>
                        <a:spcAft>
                          <a:spcPts val="0"/>
                        </a:spcAft>
                        <a:buNone/>
                      </a:pPr>
                      <a:r>
                        <a:rPr lang="en-US"/>
                        <a:t>age (5 year group)</a:t>
                      </a:r>
                      <a:endParaRPr/>
                    </a:p>
                  </a:txBody>
                  <a:tcPr marT="91425" marB="91425" marR="91425" marL="91425"/>
                </a:tc>
                <a:tc>
                  <a:txBody>
                    <a:bodyPr/>
                    <a:lstStyle/>
                    <a:p>
                      <a:pPr indent="0" lvl="0" marL="0" rtl="0" algn="ctr">
                        <a:spcBef>
                          <a:spcPts val="0"/>
                        </a:spcBef>
                        <a:spcAft>
                          <a:spcPts val="0"/>
                        </a:spcAft>
                        <a:buNone/>
                      </a:pPr>
                      <a:r>
                        <a:rPr lang="en-US"/>
                        <a:t>0.3026</a:t>
                      </a:r>
                      <a:endParaRPr/>
                    </a:p>
                  </a:txBody>
                  <a:tcPr marT="91425" marB="91425" marR="91425" marL="91425"/>
                </a:tc>
              </a:tr>
              <a:tr h="381000">
                <a:tc>
                  <a:txBody>
                    <a:bodyPr/>
                    <a:lstStyle/>
                    <a:p>
                      <a:pPr indent="0" lvl="0" marL="0" rtl="0" algn="ctr">
                        <a:spcBef>
                          <a:spcPts val="0"/>
                        </a:spcBef>
                        <a:spcAft>
                          <a:spcPts val="0"/>
                        </a:spcAft>
                        <a:buNone/>
                      </a:pPr>
                      <a:r>
                        <a:rPr lang="en-US"/>
                        <a:t>6</a:t>
                      </a:r>
                      <a:endParaRPr/>
                    </a:p>
                  </a:txBody>
                  <a:tcPr marT="91425" marB="91425" marR="91425" marL="91425"/>
                </a:tc>
                <a:tc>
                  <a:txBody>
                    <a:bodyPr/>
                    <a:lstStyle/>
                    <a:p>
                      <a:pPr indent="0" lvl="0" marL="0" rtl="0" algn="ctr">
                        <a:spcBef>
                          <a:spcPts val="0"/>
                        </a:spcBef>
                        <a:spcAft>
                          <a:spcPts val="0"/>
                        </a:spcAft>
                        <a:buNone/>
                      </a:pPr>
                      <a:r>
                        <a:rPr lang="en-US"/>
                        <a:t>region</a:t>
                      </a:r>
                      <a:endParaRPr/>
                    </a:p>
                  </a:txBody>
                  <a:tcPr marT="91425" marB="91425" marR="91425" marL="91425"/>
                </a:tc>
                <a:tc>
                  <a:txBody>
                    <a:bodyPr/>
                    <a:lstStyle/>
                    <a:p>
                      <a:pPr indent="0" lvl="0" marL="0" rtl="0" algn="ctr">
                        <a:spcBef>
                          <a:spcPts val="0"/>
                        </a:spcBef>
                        <a:spcAft>
                          <a:spcPts val="0"/>
                        </a:spcAft>
                        <a:buNone/>
                      </a:pPr>
                      <a:r>
                        <a:rPr lang="en-US"/>
                        <a:t>0.1038</a:t>
                      </a:r>
                      <a:endParaRPr/>
                    </a:p>
                  </a:txBody>
                  <a:tcPr marT="91425" marB="91425" marR="91425" marL="91425"/>
                </a:tc>
              </a:tr>
              <a:tr h="381000">
                <a:tc>
                  <a:txBody>
                    <a:bodyPr/>
                    <a:lstStyle/>
                    <a:p>
                      <a:pPr indent="0" lvl="0" marL="0" rtl="0" algn="ctr">
                        <a:spcBef>
                          <a:spcPts val="0"/>
                        </a:spcBef>
                        <a:spcAft>
                          <a:spcPts val="0"/>
                        </a:spcAft>
                        <a:buNone/>
                      </a:pPr>
                      <a:r>
                        <a:rPr lang="en-US"/>
                        <a:t>7</a:t>
                      </a:r>
                      <a:endParaRPr/>
                    </a:p>
                  </a:txBody>
                  <a:tcPr marT="91425" marB="91425" marR="91425" marL="91425"/>
                </a:tc>
                <a:tc>
                  <a:txBody>
                    <a:bodyPr/>
                    <a:lstStyle/>
                    <a:p>
                      <a:pPr indent="0" lvl="0" marL="0" rtl="0" algn="ctr">
                        <a:spcBef>
                          <a:spcPts val="0"/>
                        </a:spcBef>
                        <a:spcAft>
                          <a:spcPts val="0"/>
                        </a:spcAft>
                        <a:buNone/>
                      </a:pPr>
                      <a:r>
                        <a:rPr lang="en-US"/>
                        <a:t>mother’s hemoglobin level</a:t>
                      </a:r>
                      <a:endParaRPr/>
                    </a:p>
                  </a:txBody>
                  <a:tcPr marT="91425" marB="91425" marR="91425" marL="91425"/>
                </a:tc>
                <a:tc>
                  <a:txBody>
                    <a:bodyPr/>
                    <a:lstStyle/>
                    <a:p>
                      <a:pPr indent="0" lvl="0" marL="0" rtl="0" algn="ctr">
                        <a:spcBef>
                          <a:spcPts val="0"/>
                        </a:spcBef>
                        <a:spcAft>
                          <a:spcPts val="0"/>
                        </a:spcAft>
                        <a:buNone/>
                      </a:pPr>
                      <a:r>
                        <a:rPr lang="en-US"/>
                        <a:t>0.214</a:t>
                      </a:r>
                      <a:endParaRPr/>
                    </a:p>
                  </a:txBody>
                  <a:tcPr marT="91425" marB="91425" marR="91425" marL="91425"/>
                </a:tc>
              </a:tr>
              <a:tr h="381000">
                <a:tc>
                  <a:txBody>
                    <a:bodyPr/>
                    <a:lstStyle/>
                    <a:p>
                      <a:pPr indent="0" lvl="0" marL="0" rtl="0" algn="ctr">
                        <a:spcBef>
                          <a:spcPts val="0"/>
                        </a:spcBef>
                        <a:spcAft>
                          <a:spcPts val="0"/>
                        </a:spcAft>
                        <a:buNone/>
                      </a:pPr>
                      <a:r>
                        <a:rPr lang="en-US"/>
                        <a:t>8</a:t>
                      </a: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en-US">
                          <a:solidFill>
                            <a:schemeClr val="dk1"/>
                          </a:solidFill>
                        </a:rPr>
                        <a:t>mother’s anemia status</a:t>
                      </a:r>
                      <a:endParaRPr/>
                    </a:p>
                  </a:txBody>
                  <a:tcPr marT="91425" marB="91425" marR="91425" marL="91425"/>
                </a:tc>
                <a:tc>
                  <a:txBody>
                    <a:bodyPr/>
                    <a:lstStyle/>
                    <a:p>
                      <a:pPr indent="0" lvl="0" marL="0" rtl="0" algn="ctr">
                        <a:spcBef>
                          <a:spcPts val="0"/>
                        </a:spcBef>
                        <a:spcAft>
                          <a:spcPts val="0"/>
                        </a:spcAft>
                        <a:buNone/>
                      </a:pPr>
                      <a:r>
                        <a:rPr lang="en-US"/>
                        <a:t>0.551</a:t>
                      </a:r>
                      <a:endParaRPr/>
                    </a:p>
                  </a:txBody>
                  <a:tcPr marT="91425" marB="91425" marR="91425" marL="91425"/>
                </a:tc>
              </a:tr>
              <a:tr h="381000">
                <a:tc>
                  <a:txBody>
                    <a:bodyPr/>
                    <a:lstStyle/>
                    <a:p>
                      <a:pPr indent="0" lvl="0" marL="0" rtl="0" algn="ctr">
                        <a:spcBef>
                          <a:spcPts val="0"/>
                        </a:spcBef>
                        <a:spcAft>
                          <a:spcPts val="0"/>
                        </a:spcAft>
                        <a:buNone/>
                      </a:pPr>
                      <a:r>
                        <a:rPr lang="en-US"/>
                        <a:t>9</a:t>
                      </a:r>
                      <a:endParaRPr/>
                    </a:p>
                  </a:txBody>
                  <a:tcPr marT="91425" marB="91425" marR="91425" marL="91425"/>
                </a:tc>
                <a:tc>
                  <a:txBody>
                    <a:bodyPr/>
                    <a:lstStyle/>
                    <a:p>
                      <a:pPr indent="0" lvl="0" marL="0" rtl="0" algn="ctr">
                        <a:spcBef>
                          <a:spcPts val="0"/>
                        </a:spcBef>
                        <a:spcAft>
                          <a:spcPts val="0"/>
                        </a:spcAft>
                        <a:buNone/>
                      </a:pPr>
                      <a:r>
                        <a:rPr lang="en-US"/>
                        <a:t>child’s age</a:t>
                      </a:r>
                      <a:endParaRPr/>
                    </a:p>
                  </a:txBody>
                  <a:tcPr marT="91425" marB="91425" marR="91425" marL="91425"/>
                </a:tc>
                <a:tc>
                  <a:txBody>
                    <a:bodyPr/>
                    <a:lstStyle/>
                    <a:p>
                      <a:pPr indent="0" lvl="0" marL="0" rtl="0" algn="ctr">
                        <a:spcBef>
                          <a:spcPts val="0"/>
                        </a:spcBef>
                        <a:spcAft>
                          <a:spcPts val="0"/>
                        </a:spcAft>
                        <a:buNone/>
                      </a:pPr>
                      <a:r>
                        <a:rPr lang="en-US"/>
                        <a:t>0.135</a:t>
                      </a:r>
                      <a:endParaRPr/>
                    </a:p>
                  </a:txBody>
                  <a:tcPr marT="91425" marB="91425" marR="91425" marL="91425"/>
                </a:tc>
              </a:tr>
              <a:tr h="381000">
                <a:tc>
                  <a:txBody>
                    <a:bodyPr/>
                    <a:lstStyle/>
                    <a:p>
                      <a:pPr indent="0" lvl="0" marL="0" rtl="0" algn="ctr">
                        <a:spcBef>
                          <a:spcPts val="0"/>
                        </a:spcBef>
                        <a:spcAft>
                          <a:spcPts val="0"/>
                        </a:spcAft>
                        <a:buNone/>
                      </a:pPr>
                      <a:r>
                        <a:rPr lang="en-US"/>
                        <a:t>10</a:t>
                      </a:r>
                      <a:endParaRPr/>
                    </a:p>
                  </a:txBody>
                  <a:tcPr marT="91425" marB="91425" marR="91425" marL="91425"/>
                </a:tc>
                <a:tc>
                  <a:txBody>
                    <a:bodyPr/>
                    <a:lstStyle/>
                    <a:p>
                      <a:pPr indent="0" lvl="0" marL="0" rtl="0" algn="ctr">
                        <a:spcBef>
                          <a:spcPts val="0"/>
                        </a:spcBef>
                        <a:spcAft>
                          <a:spcPts val="0"/>
                        </a:spcAft>
                        <a:buNone/>
                      </a:pPr>
                      <a:r>
                        <a:rPr lang="en-US"/>
                        <a:t>access </a:t>
                      </a:r>
                      <a:endParaRPr/>
                    </a:p>
                  </a:txBody>
                  <a:tcPr marT="91425" marB="91425" marR="91425" marL="91425"/>
                </a:tc>
                <a:tc>
                  <a:txBody>
                    <a:bodyPr/>
                    <a:lstStyle/>
                    <a:p>
                      <a:pPr indent="0" lvl="0" marL="0" rtl="0" algn="ctr">
                        <a:spcBef>
                          <a:spcPts val="0"/>
                        </a:spcBef>
                        <a:spcAft>
                          <a:spcPts val="0"/>
                        </a:spcAft>
                        <a:buNone/>
                      </a:pPr>
                      <a:r>
                        <a:rPr lang="en-US"/>
                        <a:t>0.063</a:t>
                      </a:r>
                      <a:endParaRPr/>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60"/>
          <p:cNvSpPr txBox="1"/>
          <p:nvPr/>
        </p:nvSpPr>
        <p:spPr>
          <a:xfrm>
            <a:off x="479425" y="764559"/>
            <a:ext cx="11355000" cy="74490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00"/>
              </a:buClr>
              <a:buSzPts val="2600"/>
              <a:buFont typeface="Arial"/>
              <a:buNone/>
            </a:pPr>
            <a:r>
              <a:rPr b="1" i="0" lang="en-US" sz="2400" u="none" cap="none" strike="noStrike">
                <a:solidFill>
                  <a:schemeClr val="accent2"/>
                </a:solidFill>
                <a:latin typeface="DM Sans"/>
                <a:ea typeface="DM Sans"/>
                <a:cs typeface="DM Sans"/>
                <a:sym typeface="DM Sans"/>
              </a:rPr>
              <a:t>Optimal Multivariable </a:t>
            </a:r>
            <a:endParaRPr b="1" i="0" sz="2400" u="none" cap="none" strike="noStrike">
              <a:solidFill>
                <a:schemeClr val="accent2"/>
              </a:solidFill>
              <a:latin typeface="DM Sans"/>
              <a:ea typeface="DM Sans"/>
              <a:cs typeface="DM Sans"/>
              <a:sym typeface="DM Sans"/>
            </a:endParaRPr>
          </a:p>
          <a:p>
            <a:pPr indent="0" lvl="0" marL="0" marR="0" rtl="0" algn="l">
              <a:lnSpc>
                <a:spcPct val="85000"/>
              </a:lnSpc>
              <a:spcBef>
                <a:spcPts val="0"/>
              </a:spcBef>
              <a:spcAft>
                <a:spcPts val="0"/>
              </a:spcAft>
              <a:buClr>
                <a:srgbClr val="000000"/>
              </a:buClr>
              <a:buSzPts val="2600"/>
              <a:buFont typeface="Arial"/>
              <a:buNone/>
            </a:pPr>
            <a:r>
              <a:rPr b="1" i="0" lang="en-US" sz="2400" u="none" cap="none" strike="noStrike">
                <a:solidFill>
                  <a:schemeClr val="accent2"/>
                </a:solidFill>
                <a:latin typeface="DM Sans"/>
                <a:ea typeface="DM Sans"/>
                <a:cs typeface="DM Sans"/>
                <a:sym typeface="DM Sans"/>
              </a:rPr>
              <a:t>Logistic Regression </a:t>
            </a:r>
            <a:endParaRPr b="1" i="0" sz="2400" u="none" cap="none" strike="noStrike">
              <a:solidFill>
                <a:schemeClr val="accent2"/>
              </a:solidFill>
              <a:latin typeface="DM Sans"/>
              <a:ea typeface="DM Sans"/>
              <a:cs typeface="DM Sans"/>
              <a:sym typeface="DM Sans"/>
            </a:endParaRPr>
          </a:p>
          <a:p>
            <a:pPr indent="0" lvl="0" marL="0" marR="0" rtl="0" algn="l">
              <a:lnSpc>
                <a:spcPct val="85000"/>
              </a:lnSpc>
              <a:spcBef>
                <a:spcPts val="0"/>
              </a:spcBef>
              <a:spcAft>
                <a:spcPts val="0"/>
              </a:spcAft>
              <a:buClr>
                <a:srgbClr val="000000"/>
              </a:buClr>
              <a:buSzPts val="2600"/>
              <a:buFont typeface="Arial"/>
              <a:buNone/>
            </a:pPr>
            <a:r>
              <a:rPr b="1" i="0" lang="en-US" sz="2400" u="none" cap="none" strike="noStrike">
                <a:solidFill>
                  <a:schemeClr val="accent2"/>
                </a:solidFill>
                <a:latin typeface="DM Sans"/>
                <a:ea typeface="DM Sans"/>
                <a:cs typeface="DM Sans"/>
                <a:sym typeface="DM Sans"/>
              </a:rPr>
              <a:t>(Anemia)</a:t>
            </a:r>
            <a:endParaRPr b="1" i="0" sz="2400" u="none" cap="none" strike="noStrike">
              <a:solidFill>
                <a:schemeClr val="accent2"/>
              </a:solidFill>
              <a:latin typeface="DM Sans"/>
              <a:ea typeface="DM Sans"/>
              <a:cs typeface="DM Sans"/>
              <a:sym typeface="DM Sans"/>
            </a:endParaRPr>
          </a:p>
        </p:txBody>
      </p:sp>
      <p:graphicFrame>
        <p:nvGraphicFramePr>
          <p:cNvPr id="240" name="Google Shape;240;p60"/>
          <p:cNvGraphicFramePr/>
          <p:nvPr/>
        </p:nvGraphicFramePr>
        <p:xfrm>
          <a:off x="4221588" y="398263"/>
          <a:ext cx="3000000" cy="3000000"/>
        </p:xfrm>
        <a:graphic>
          <a:graphicData uri="http://schemas.openxmlformats.org/drawingml/2006/table">
            <a:tbl>
              <a:tblPr>
                <a:noFill/>
                <a:tableStyleId>{4114AE29-F4E9-42FB-9A9B-1C0D1D059E13}</a:tableStyleId>
              </a:tblPr>
              <a:tblGrid>
                <a:gridCol w="3160050"/>
                <a:gridCol w="1887825"/>
                <a:gridCol w="1190125"/>
                <a:gridCol w="1374825"/>
              </a:tblGrid>
              <a:tr h="305850">
                <a:tc>
                  <a:txBody>
                    <a:bodyPr/>
                    <a:lstStyle/>
                    <a:p>
                      <a:pPr indent="0" lvl="0" marL="0" rtl="0" algn="ctr">
                        <a:lnSpc>
                          <a:spcPct val="115000"/>
                        </a:lnSpc>
                        <a:spcBef>
                          <a:spcPts val="0"/>
                        </a:spcBef>
                        <a:spcAft>
                          <a:spcPts val="0"/>
                        </a:spcAft>
                        <a:buNone/>
                      </a:pPr>
                      <a:r>
                        <a:rPr b="1" lang="en-US" sz="1750">
                          <a:solidFill>
                            <a:srgbClr val="FFFFFF"/>
                          </a:solidFill>
                          <a:latin typeface="Calibri"/>
                          <a:ea typeface="Calibri"/>
                          <a:cs typeface="Calibri"/>
                          <a:sym typeface="Calibri"/>
                        </a:rPr>
                        <a:t>Variable</a:t>
                      </a:r>
                      <a:endParaRPr b="1" sz="1750">
                        <a:solidFill>
                          <a:srgbClr val="FFFFFF"/>
                        </a:solidFill>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US" sz="1750">
                          <a:solidFill>
                            <a:srgbClr val="FFFFFF"/>
                          </a:solidFill>
                          <a:latin typeface="Calibri"/>
                          <a:ea typeface="Calibri"/>
                          <a:cs typeface="Calibri"/>
                          <a:sym typeface="Calibri"/>
                        </a:rPr>
                        <a:t>Odds Ratio</a:t>
                      </a:r>
                      <a:endParaRPr b="1" sz="1750">
                        <a:solidFill>
                          <a:srgbClr val="FFFFFF"/>
                        </a:solidFill>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US" sz="1750">
                          <a:solidFill>
                            <a:srgbClr val="FFFFFF"/>
                          </a:solidFill>
                          <a:latin typeface="Calibri"/>
                          <a:ea typeface="Calibri"/>
                          <a:cs typeface="Calibri"/>
                          <a:sym typeface="Calibri"/>
                        </a:rPr>
                        <a:t>p-value</a:t>
                      </a:r>
                      <a:endParaRPr b="1" sz="1750">
                        <a:solidFill>
                          <a:srgbClr val="FFFFFF"/>
                        </a:solidFill>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US" sz="1750">
                          <a:solidFill>
                            <a:srgbClr val="FFFFFF"/>
                          </a:solidFill>
                          <a:latin typeface="Calibri"/>
                          <a:ea typeface="Calibri"/>
                          <a:cs typeface="Calibri"/>
                          <a:sym typeface="Calibri"/>
                        </a:rPr>
                        <a:t>95%CI</a:t>
                      </a:r>
                      <a:endParaRPr b="1" sz="1750">
                        <a:solidFill>
                          <a:srgbClr val="FFFFFF"/>
                        </a:solidFill>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2"/>
                    </a:solidFill>
                  </a:tcPr>
                </a:tc>
              </a:tr>
              <a:tr h="328300">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Region (Barisal)</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b="1" sz="2200"/>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b="1" sz="2200"/>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b="1" sz="2200"/>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1825">
                <a:tc>
                  <a:txBody>
                    <a:bodyPr/>
                    <a:lstStyle/>
                    <a:p>
                      <a:pPr indent="0" lvl="0" marL="0" rtl="0" algn="ctr">
                        <a:lnSpc>
                          <a:spcPct val="115000"/>
                        </a:lnSpc>
                        <a:spcBef>
                          <a:spcPts val="0"/>
                        </a:spcBef>
                        <a:spcAft>
                          <a:spcPts val="0"/>
                        </a:spcAft>
                        <a:buNone/>
                      </a:pPr>
                      <a:r>
                        <a:rPr lang="en-US" sz="1650">
                          <a:latin typeface="Calibri"/>
                          <a:ea typeface="Calibri"/>
                          <a:cs typeface="Calibri"/>
                          <a:sym typeface="Calibri"/>
                        </a:rPr>
                        <a:t>Chittagong</a:t>
                      </a:r>
                      <a:endParaRPr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0.73</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0.083</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0.52 – 1.04</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1825">
                <a:tc>
                  <a:txBody>
                    <a:bodyPr/>
                    <a:lstStyle/>
                    <a:p>
                      <a:pPr indent="0" lvl="0" marL="0" rtl="0" algn="ctr">
                        <a:lnSpc>
                          <a:spcPct val="115000"/>
                        </a:lnSpc>
                        <a:spcBef>
                          <a:spcPts val="0"/>
                        </a:spcBef>
                        <a:spcAft>
                          <a:spcPts val="0"/>
                        </a:spcAft>
                        <a:buNone/>
                      </a:pPr>
                      <a:r>
                        <a:rPr lang="en-US" sz="1650">
                          <a:latin typeface="Calibri"/>
                          <a:ea typeface="Calibri"/>
                          <a:cs typeface="Calibri"/>
                          <a:sym typeface="Calibri"/>
                        </a:rPr>
                        <a:t>Dhaka</a:t>
                      </a:r>
                      <a:endParaRPr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0.61</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0.006</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0.43 – 0.87</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1825">
                <a:tc>
                  <a:txBody>
                    <a:bodyPr/>
                    <a:lstStyle/>
                    <a:p>
                      <a:pPr indent="0" lvl="0" marL="0" rtl="0" algn="ctr">
                        <a:lnSpc>
                          <a:spcPct val="115000"/>
                        </a:lnSpc>
                        <a:spcBef>
                          <a:spcPts val="0"/>
                        </a:spcBef>
                        <a:spcAft>
                          <a:spcPts val="0"/>
                        </a:spcAft>
                        <a:buNone/>
                      </a:pPr>
                      <a:r>
                        <a:rPr lang="en-US" sz="1650">
                          <a:latin typeface="Calibri"/>
                          <a:ea typeface="Calibri"/>
                          <a:cs typeface="Calibri"/>
                          <a:sym typeface="Calibri"/>
                        </a:rPr>
                        <a:t>Khulna</a:t>
                      </a:r>
                      <a:endParaRPr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0.92</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0.671</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0.63 – 1.35</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1825">
                <a:tc>
                  <a:txBody>
                    <a:bodyPr/>
                    <a:lstStyle/>
                    <a:p>
                      <a:pPr indent="0" lvl="0" marL="0" rtl="0" algn="ctr">
                        <a:lnSpc>
                          <a:spcPct val="115000"/>
                        </a:lnSpc>
                        <a:spcBef>
                          <a:spcPts val="0"/>
                        </a:spcBef>
                        <a:spcAft>
                          <a:spcPts val="0"/>
                        </a:spcAft>
                        <a:buNone/>
                      </a:pPr>
                      <a:r>
                        <a:rPr lang="en-US" sz="1650">
                          <a:latin typeface="Calibri"/>
                          <a:ea typeface="Calibri"/>
                          <a:cs typeface="Calibri"/>
                          <a:sym typeface="Calibri"/>
                        </a:rPr>
                        <a:t>Rajshahi</a:t>
                      </a:r>
                      <a:endParaRPr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0.66</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0.031</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0.45 – 0.96</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1825">
                <a:tc>
                  <a:txBody>
                    <a:bodyPr/>
                    <a:lstStyle/>
                    <a:p>
                      <a:pPr indent="0" lvl="0" marL="0" rtl="0" algn="ctr">
                        <a:lnSpc>
                          <a:spcPct val="115000"/>
                        </a:lnSpc>
                        <a:spcBef>
                          <a:spcPts val="0"/>
                        </a:spcBef>
                        <a:spcAft>
                          <a:spcPts val="0"/>
                        </a:spcAft>
                        <a:buNone/>
                      </a:pPr>
                      <a:r>
                        <a:rPr lang="en-US" sz="1650">
                          <a:latin typeface="Calibri"/>
                          <a:ea typeface="Calibri"/>
                          <a:cs typeface="Calibri"/>
                          <a:sym typeface="Calibri"/>
                        </a:rPr>
                        <a:t>Rangpur</a:t>
                      </a:r>
                      <a:endParaRPr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0.9</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0.572</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0.62 – 1.30</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1825">
                <a:tc>
                  <a:txBody>
                    <a:bodyPr/>
                    <a:lstStyle/>
                    <a:p>
                      <a:pPr indent="0" lvl="0" marL="0" rtl="0" algn="ctr">
                        <a:lnSpc>
                          <a:spcPct val="115000"/>
                        </a:lnSpc>
                        <a:spcBef>
                          <a:spcPts val="0"/>
                        </a:spcBef>
                        <a:spcAft>
                          <a:spcPts val="0"/>
                        </a:spcAft>
                        <a:buNone/>
                      </a:pPr>
                      <a:r>
                        <a:rPr lang="en-US" sz="1650">
                          <a:latin typeface="Calibri"/>
                          <a:ea typeface="Calibri"/>
                          <a:cs typeface="Calibri"/>
                          <a:sym typeface="Calibri"/>
                        </a:rPr>
                        <a:t>Sylhet</a:t>
                      </a:r>
                      <a:endParaRPr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0.61</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0.007</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0.43 – 0.88</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8300">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Socioeconomic Status(Poor)</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b="1" sz="2200"/>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b="1" sz="2200"/>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b="1" sz="2200"/>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1825">
                <a:tc>
                  <a:txBody>
                    <a:bodyPr/>
                    <a:lstStyle/>
                    <a:p>
                      <a:pPr indent="0" lvl="0" marL="0" rtl="0" algn="ctr">
                        <a:lnSpc>
                          <a:spcPct val="115000"/>
                        </a:lnSpc>
                        <a:spcBef>
                          <a:spcPts val="0"/>
                        </a:spcBef>
                        <a:spcAft>
                          <a:spcPts val="0"/>
                        </a:spcAft>
                        <a:buNone/>
                      </a:pPr>
                      <a:r>
                        <a:rPr lang="en-US" sz="1650">
                          <a:latin typeface="Calibri"/>
                          <a:ea typeface="Calibri"/>
                          <a:cs typeface="Calibri"/>
                          <a:sym typeface="Calibri"/>
                        </a:rPr>
                        <a:t>Middle</a:t>
                      </a:r>
                      <a:endParaRPr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0.85</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0.213</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0.66 – 1.10</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1825">
                <a:tc>
                  <a:txBody>
                    <a:bodyPr/>
                    <a:lstStyle/>
                    <a:p>
                      <a:pPr indent="0" lvl="0" marL="0" rtl="0" algn="ctr">
                        <a:lnSpc>
                          <a:spcPct val="115000"/>
                        </a:lnSpc>
                        <a:spcBef>
                          <a:spcPts val="0"/>
                        </a:spcBef>
                        <a:spcAft>
                          <a:spcPts val="0"/>
                        </a:spcAft>
                        <a:buNone/>
                      </a:pPr>
                      <a:r>
                        <a:rPr lang="en-US" sz="1650">
                          <a:latin typeface="Calibri"/>
                          <a:ea typeface="Calibri"/>
                          <a:cs typeface="Calibri"/>
                          <a:sym typeface="Calibri"/>
                        </a:rPr>
                        <a:t>Rich</a:t>
                      </a:r>
                      <a:endParaRPr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0.71</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0.002</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0.58 – 0.88</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1825">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Mother age at first birth (year)</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0.96</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0.006</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0.93 – 0.99</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1825">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Mother hemoglobin (g/dL)</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0.97</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&lt;0.001</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0.97 – 0.98</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1825">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Child age (month)</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0.96</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&lt;0.001</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0.96 – 0.97</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1825">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WAZ (unit)</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0.999</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0.012</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Calibri"/>
                          <a:ea typeface="Calibri"/>
                          <a:cs typeface="Calibri"/>
                          <a:sym typeface="Calibri"/>
                        </a:rPr>
                        <a:t>0.998 – 1.000</a:t>
                      </a:r>
                      <a:endParaRPr b="1" sz="16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graphicFrame>
        <p:nvGraphicFramePr>
          <p:cNvPr id="245" name="Google Shape;245;p61"/>
          <p:cNvGraphicFramePr/>
          <p:nvPr/>
        </p:nvGraphicFramePr>
        <p:xfrm>
          <a:off x="4221600" y="398250"/>
          <a:ext cx="3000000" cy="3000000"/>
        </p:xfrm>
        <a:graphic>
          <a:graphicData uri="http://schemas.openxmlformats.org/drawingml/2006/table">
            <a:tbl>
              <a:tblPr>
                <a:noFill/>
                <a:tableStyleId>{4114AE29-F4E9-42FB-9A9B-1C0D1D059E13}</a:tableStyleId>
              </a:tblPr>
              <a:tblGrid>
                <a:gridCol w="2922275"/>
                <a:gridCol w="1805500"/>
                <a:gridCol w="1191250"/>
                <a:gridCol w="1693800"/>
              </a:tblGrid>
              <a:tr h="1025875">
                <a:tc>
                  <a:txBody>
                    <a:bodyPr/>
                    <a:lstStyle/>
                    <a:p>
                      <a:pPr indent="0" lvl="0" marL="0" rtl="0" algn="ctr">
                        <a:lnSpc>
                          <a:spcPct val="115000"/>
                        </a:lnSpc>
                        <a:spcBef>
                          <a:spcPts val="0"/>
                        </a:spcBef>
                        <a:spcAft>
                          <a:spcPts val="0"/>
                        </a:spcAft>
                        <a:buNone/>
                      </a:pPr>
                      <a:r>
                        <a:rPr b="1" lang="en-US" sz="1750">
                          <a:solidFill>
                            <a:srgbClr val="FFFFFF"/>
                          </a:solidFill>
                          <a:latin typeface="Calibri"/>
                          <a:ea typeface="Calibri"/>
                          <a:cs typeface="Calibri"/>
                          <a:sym typeface="Calibri"/>
                        </a:rPr>
                        <a:t>Variable</a:t>
                      </a:r>
                      <a:endParaRPr b="1" sz="1750">
                        <a:solidFill>
                          <a:srgbClr val="FFFFFF"/>
                        </a:solidFill>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US" sz="1750">
                          <a:solidFill>
                            <a:srgbClr val="FFFFFF"/>
                          </a:solidFill>
                          <a:latin typeface="Calibri"/>
                          <a:ea typeface="Calibri"/>
                          <a:cs typeface="Calibri"/>
                          <a:sym typeface="Calibri"/>
                        </a:rPr>
                        <a:t>Odds Ratio</a:t>
                      </a:r>
                      <a:endParaRPr b="1" sz="1750">
                        <a:solidFill>
                          <a:srgbClr val="FFFFFF"/>
                        </a:solidFill>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US" sz="1750">
                          <a:solidFill>
                            <a:srgbClr val="FFFFFF"/>
                          </a:solidFill>
                          <a:latin typeface="Calibri"/>
                          <a:ea typeface="Calibri"/>
                          <a:cs typeface="Calibri"/>
                          <a:sym typeface="Calibri"/>
                        </a:rPr>
                        <a:t>p-value</a:t>
                      </a:r>
                      <a:endParaRPr b="1" sz="1750">
                        <a:solidFill>
                          <a:srgbClr val="FFFFFF"/>
                        </a:solidFill>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US" sz="1750">
                          <a:solidFill>
                            <a:srgbClr val="FFFFFF"/>
                          </a:solidFill>
                          <a:latin typeface="Calibri"/>
                          <a:ea typeface="Calibri"/>
                          <a:cs typeface="Calibri"/>
                          <a:sym typeface="Calibri"/>
                        </a:rPr>
                        <a:t>95% CI</a:t>
                      </a:r>
                      <a:endParaRPr b="1" sz="1750">
                        <a:solidFill>
                          <a:srgbClr val="FFFFFF"/>
                        </a:solidFill>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2"/>
                    </a:solidFill>
                  </a:tcPr>
                </a:tc>
              </a:tr>
              <a:tr h="1025875">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WAZ (per unit)</a:t>
                      </a:r>
                      <a:endParaRPr b="1" sz="18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750">
                          <a:latin typeface="Calibri"/>
                          <a:ea typeface="Calibri"/>
                          <a:cs typeface="Calibri"/>
                          <a:sym typeface="Calibri"/>
                        </a:rPr>
                        <a:t>0.98</a:t>
                      </a:r>
                      <a:endParaRPr b="1" sz="17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750">
                          <a:latin typeface="Calibri"/>
                          <a:ea typeface="Calibri"/>
                          <a:cs typeface="Calibri"/>
                          <a:sym typeface="Calibri"/>
                        </a:rPr>
                        <a:t>&lt;0.001</a:t>
                      </a:r>
                      <a:endParaRPr b="1" sz="17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750">
                          <a:latin typeface="Calibri"/>
                          <a:ea typeface="Calibri"/>
                          <a:cs typeface="Calibri"/>
                          <a:sym typeface="Calibri"/>
                        </a:rPr>
                        <a:t>0.98 – 0.98</a:t>
                      </a:r>
                      <a:endParaRPr b="1" sz="17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932150">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Education Level (No Education)</a:t>
                      </a:r>
                      <a:endParaRPr b="1" sz="18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b="1" sz="1850"/>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b="1" sz="1750"/>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b="1" sz="1750"/>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025875">
                <a:tc>
                  <a:txBody>
                    <a:bodyPr/>
                    <a:lstStyle/>
                    <a:p>
                      <a:pPr indent="0" lvl="0" marL="0" rtl="0" algn="ctr">
                        <a:lnSpc>
                          <a:spcPct val="115000"/>
                        </a:lnSpc>
                        <a:spcBef>
                          <a:spcPts val="0"/>
                        </a:spcBef>
                        <a:spcAft>
                          <a:spcPts val="0"/>
                        </a:spcAft>
                        <a:buNone/>
                      </a:pPr>
                      <a:r>
                        <a:rPr lang="en-US" sz="1750">
                          <a:latin typeface="Calibri"/>
                          <a:ea typeface="Calibri"/>
                          <a:cs typeface="Calibri"/>
                          <a:sym typeface="Calibri"/>
                        </a:rPr>
                        <a:t>Primary</a:t>
                      </a:r>
                      <a:endParaRPr sz="17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750">
                          <a:latin typeface="Calibri"/>
                          <a:ea typeface="Calibri"/>
                          <a:cs typeface="Calibri"/>
                          <a:sym typeface="Calibri"/>
                        </a:rPr>
                        <a:t>0.75</a:t>
                      </a:r>
                      <a:endParaRPr b="1" sz="17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750">
                          <a:latin typeface="Calibri"/>
                          <a:ea typeface="Calibri"/>
                          <a:cs typeface="Calibri"/>
                          <a:sym typeface="Calibri"/>
                        </a:rPr>
                        <a:t>0.059</a:t>
                      </a:r>
                      <a:endParaRPr b="1" sz="17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750">
                          <a:latin typeface="Calibri"/>
                          <a:ea typeface="Calibri"/>
                          <a:cs typeface="Calibri"/>
                          <a:sym typeface="Calibri"/>
                        </a:rPr>
                        <a:t>0.56– 1.01</a:t>
                      </a:r>
                      <a:endParaRPr b="1" sz="17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025875">
                <a:tc>
                  <a:txBody>
                    <a:bodyPr/>
                    <a:lstStyle/>
                    <a:p>
                      <a:pPr indent="0" lvl="0" marL="0" rtl="0" algn="ctr">
                        <a:lnSpc>
                          <a:spcPct val="115000"/>
                        </a:lnSpc>
                        <a:spcBef>
                          <a:spcPts val="0"/>
                        </a:spcBef>
                        <a:spcAft>
                          <a:spcPts val="0"/>
                        </a:spcAft>
                        <a:buNone/>
                      </a:pPr>
                      <a:r>
                        <a:rPr lang="en-US" sz="1750">
                          <a:latin typeface="Calibri"/>
                          <a:ea typeface="Calibri"/>
                          <a:cs typeface="Calibri"/>
                          <a:sym typeface="Calibri"/>
                        </a:rPr>
                        <a:t>Secondary</a:t>
                      </a:r>
                      <a:endParaRPr sz="17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750">
                          <a:latin typeface="Calibri"/>
                          <a:ea typeface="Calibri"/>
                          <a:cs typeface="Calibri"/>
                          <a:sym typeface="Calibri"/>
                        </a:rPr>
                        <a:t>0.54</a:t>
                      </a:r>
                      <a:endParaRPr b="1" sz="17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750">
                          <a:latin typeface="Calibri"/>
                          <a:ea typeface="Calibri"/>
                          <a:cs typeface="Calibri"/>
                          <a:sym typeface="Calibri"/>
                        </a:rPr>
                        <a:t>&lt;0.001</a:t>
                      </a:r>
                      <a:endParaRPr b="1" sz="17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750">
                          <a:latin typeface="Calibri"/>
                          <a:ea typeface="Calibri"/>
                          <a:cs typeface="Calibri"/>
                          <a:sym typeface="Calibri"/>
                        </a:rPr>
                        <a:t>0.40 – 0.73</a:t>
                      </a:r>
                      <a:endParaRPr b="1" sz="17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025875">
                <a:tc>
                  <a:txBody>
                    <a:bodyPr/>
                    <a:lstStyle/>
                    <a:p>
                      <a:pPr indent="0" lvl="0" marL="0" rtl="0" algn="ctr">
                        <a:lnSpc>
                          <a:spcPct val="115000"/>
                        </a:lnSpc>
                        <a:spcBef>
                          <a:spcPts val="0"/>
                        </a:spcBef>
                        <a:spcAft>
                          <a:spcPts val="0"/>
                        </a:spcAft>
                        <a:buNone/>
                      </a:pPr>
                      <a:r>
                        <a:rPr lang="en-US" sz="1750">
                          <a:latin typeface="Calibri"/>
                          <a:ea typeface="Calibri"/>
                          <a:cs typeface="Calibri"/>
                          <a:sym typeface="Calibri"/>
                        </a:rPr>
                        <a:t>Higher</a:t>
                      </a:r>
                      <a:endParaRPr sz="17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750">
                          <a:latin typeface="Calibri"/>
                          <a:ea typeface="Calibri"/>
                          <a:cs typeface="Calibri"/>
                          <a:sym typeface="Calibri"/>
                        </a:rPr>
                        <a:t>0.37</a:t>
                      </a:r>
                      <a:endParaRPr b="1" sz="17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750">
                          <a:latin typeface="Calibri"/>
                          <a:ea typeface="Calibri"/>
                          <a:cs typeface="Calibri"/>
                          <a:sym typeface="Calibri"/>
                        </a:rPr>
                        <a:t>0.002</a:t>
                      </a:r>
                      <a:endParaRPr b="1" sz="17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750">
                          <a:latin typeface="Calibri"/>
                          <a:ea typeface="Calibri"/>
                          <a:cs typeface="Calibri"/>
                          <a:sym typeface="Calibri"/>
                        </a:rPr>
                        <a:t>0.20 – 0.68</a:t>
                      </a:r>
                      <a:endParaRPr b="1" sz="17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46" name="Google Shape;246;p61"/>
          <p:cNvSpPr txBox="1"/>
          <p:nvPr/>
        </p:nvSpPr>
        <p:spPr>
          <a:xfrm>
            <a:off x="479425" y="764550"/>
            <a:ext cx="3547800" cy="1073700"/>
          </a:xfrm>
          <a:prstGeom prst="rect">
            <a:avLst/>
          </a:prstGeom>
          <a:noFill/>
          <a:ln>
            <a:noFill/>
          </a:ln>
        </p:spPr>
        <p:txBody>
          <a:bodyPr anchorCtr="0" anchor="t" bIns="45700" lIns="91425" spcFirstLastPara="1" rIns="91425" wrap="square" tIns="45700">
            <a:noAutofit/>
          </a:bodyPr>
          <a:lstStyle/>
          <a:p>
            <a:pPr indent="0" lvl="0" marL="0" rtl="0" algn="l">
              <a:lnSpc>
                <a:spcPct val="85000"/>
              </a:lnSpc>
              <a:spcBef>
                <a:spcPts val="0"/>
              </a:spcBef>
              <a:spcAft>
                <a:spcPts val="0"/>
              </a:spcAft>
              <a:buClr>
                <a:schemeClr val="dk1"/>
              </a:buClr>
              <a:buSzPts val="1100"/>
              <a:buFont typeface="Arial"/>
              <a:buNone/>
            </a:pPr>
            <a:r>
              <a:rPr b="1" lang="en-US" sz="2400">
                <a:solidFill>
                  <a:schemeClr val="accent2"/>
                </a:solidFill>
                <a:latin typeface="DM Sans"/>
                <a:ea typeface="DM Sans"/>
                <a:cs typeface="DM Sans"/>
                <a:sym typeface="DM Sans"/>
              </a:rPr>
              <a:t>Optimal Multivariable </a:t>
            </a:r>
            <a:endParaRPr b="1" sz="2400">
              <a:solidFill>
                <a:schemeClr val="accent2"/>
              </a:solidFill>
              <a:latin typeface="DM Sans"/>
              <a:ea typeface="DM Sans"/>
              <a:cs typeface="DM Sans"/>
              <a:sym typeface="DM Sans"/>
            </a:endParaRPr>
          </a:p>
          <a:p>
            <a:pPr indent="0" lvl="0" marL="0" rtl="0" algn="l">
              <a:lnSpc>
                <a:spcPct val="85000"/>
              </a:lnSpc>
              <a:spcBef>
                <a:spcPts val="0"/>
              </a:spcBef>
              <a:spcAft>
                <a:spcPts val="0"/>
              </a:spcAft>
              <a:buClr>
                <a:schemeClr val="dk1"/>
              </a:buClr>
              <a:buSzPts val="1100"/>
              <a:buFont typeface="Arial"/>
              <a:buNone/>
            </a:pPr>
            <a:r>
              <a:rPr b="1" lang="en-US" sz="2400">
                <a:solidFill>
                  <a:schemeClr val="accent2"/>
                </a:solidFill>
                <a:latin typeface="DM Sans"/>
                <a:ea typeface="DM Sans"/>
                <a:cs typeface="DM Sans"/>
                <a:sym typeface="DM Sans"/>
              </a:rPr>
              <a:t>Logistic Regression </a:t>
            </a:r>
            <a:endParaRPr b="1" sz="2400">
              <a:solidFill>
                <a:schemeClr val="accent2"/>
              </a:solidFill>
              <a:latin typeface="DM Sans"/>
              <a:ea typeface="DM Sans"/>
              <a:cs typeface="DM Sans"/>
              <a:sym typeface="DM Sans"/>
            </a:endParaRPr>
          </a:p>
          <a:p>
            <a:pPr indent="0" lvl="0" marL="0" rtl="0" algn="l">
              <a:lnSpc>
                <a:spcPct val="85000"/>
              </a:lnSpc>
              <a:spcBef>
                <a:spcPts val="0"/>
              </a:spcBef>
              <a:spcAft>
                <a:spcPts val="0"/>
              </a:spcAft>
              <a:buClr>
                <a:schemeClr val="dk1"/>
              </a:buClr>
              <a:buSzPts val="1100"/>
              <a:buFont typeface="Arial"/>
              <a:buNone/>
            </a:pPr>
            <a:r>
              <a:rPr b="1" lang="en-US" sz="2400">
                <a:solidFill>
                  <a:schemeClr val="accent2"/>
                </a:solidFill>
                <a:latin typeface="DM Sans"/>
                <a:ea typeface="DM Sans"/>
                <a:cs typeface="DM Sans"/>
                <a:sym typeface="DM Sans"/>
              </a:rPr>
              <a:t>(Stunting)</a:t>
            </a:r>
            <a:endParaRPr b="1" sz="2400">
              <a:solidFill>
                <a:schemeClr val="accent2"/>
              </a:solidFill>
              <a:latin typeface="DM Sans"/>
              <a:ea typeface="DM Sans"/>
              <a:cs typeface="DM Sans"/>
              <a:sym typeface="DM Sans"/>
            </a:endParaRPr>
          </a:p>
          <a:p>
            <a:pPr indent="0" lvl="0" marL="0" rtl="0" algn="l">
              <a:lnSpc>
                <a:spcPct val="85000"/>
              </a:lnSpc>
              <a:spcBef>
                <a:spcPts val="0"/>
              </a:spcBef>
              <a:spcAft>
                <a:spcPts val="0"/>
              </a:spcAft>
              <a:buClr>
                <a:schemeClr val="dk1"/>
              </a:buClr>
              <a:buSzPts val="1100"/>
              <a:buFont typeface="Arial"/>
              <a:buNone/>
            </a:pPr>
            <a:r>
              <a:t/>
            </a:r>
            <a:endParaRPr b="1" sz="2400">
              <a:solidFill>
                <a:schemeClr val="accent2"/>
              </a:solidFill>
              <a:latin typeface="DM Sans"/>
              <a:ea typeface="DM Sans"/>
              <a:cs typeface="DM Sans"/>
              <a:sym typeface="DM Sans"/>
            </a:endParaRPr>
          </a:p>
          <a:p>
            <a:pPr indent="0" lvl="0" marL="0" marR="0" rtl="0" algn="l">
              <a:lnSpc>
                <a:spcPct val="85000"/>
              </a:lnSpc>
              <a:spcBef>
                <a:spcPts val="0"/>
              </a:spcBef>
              <a:spcAft>
                <a:spcPts val="0"/>
              </a:spcAft>
              <a:buClr>
                <a:srgbClr val="000000"/>
              </a:buClr>
              <a:buSzPts val="2600"/>
              <a:buFont typeface="Arial"/>
              <a:buNone/>
            </a:pPr>
            <a:r>
              <a:t/>
            </a:r>
            <a:endParaRPr b="1" sz="2400">
              <a:solidFill>
                <a:schemeClr val="accent2"/>
              </a:solidFill>
              <a:latin typeface="DM Sans"/>
              <a:ea typeface="DM Sans"/>
              <a:cs typeface="DM Sans"/>
              <a:sym typeface="DM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62"/>
          <p:cNvSpPr txBox="1"/>
          <p:nvPr/>
        </p:nvSpPr>
        <p:spPr>
          <a:xfrm>
            <a:off x="479425" y="764550"/>
            <a:ext cx="7070700" cy="1073700"/>
          </a:xfrm>
          <a:prstGeom prst="rect">
            <a:avLst/>
          </a:prstGeom>
          <a:noFill/>
          <a:ln>
            <a:noFill/>
          </a:ln>
        </p:spPr>
        <p:txBody>
          <a:bodyPr anchorCtr="0" anchor="t" bIns="45700" lIns="91425" spcFirstLastPara="1" rIns="91425" wrap="square" tIns="45700">
            <a:noAutofit/>
          </a:bodyPr>
          <a:lstStyle/>
          <a:p>
            <a:pPr indent="0" lvl="0" marL="0" rtl="0" algn="l">
              <a:lnSpc>
                <a:spcPct val="85000"/>
              </a:lnSpc>
              <a:spcBef>
                <a:spcPts val="0"/>
              </a:spcBef>
              <a:spcAft>
                <a:spcPts val="0"/>
              </a:spcAft>
              <a:buClr>
                <a:schemeClr val="dk1"/>
              </a:buClr>
              <a:buSzPts val="2800"/>
              <a:buFont typeface="Arial"/>
              <a:buNone/>
            </a:pPr>
            <a:r>
              <a:rPr b="1" lang="en-US" sz="2400">
                <a:solidFill>
                  <a:schemeClr val="accent2"/>
                </a:solidFill>
                <a:latin typeface="DM Sans"/>
                <a:ea typeface="DM Sans"/>
                <a:cs typeface="DM Sans"/>
                <a:sym typeface="DM Sans"/>
              </a:rPr>
              <a:t>Independence Assumption</a:t>
            </a:r>
            <a:endParaRPr b="1" sz="2400">
              <a:solidFill>
                <a:schemeClr val="accent2"/>
              </a:solidFill>
              <a:latin typeface="DM Sans"/>
              <a:ea typeface="DM Sans"/>
              <a:cs typeface="DM Sans"/>
              <a:sym typeface="DM Sans"/>
            </a:endParaRPr>
          </a:p>
          <a:p>
            <a:pPr indent="0" lvl="0" marL="0" rtl="0" algn="l">
              <a:lnSpc>
                <a:spcPct val="85000"/>
              </a:lnSpc>
              <a:spcBef>
                <a:spcPts val="0"/>
              </a:spcBef>
              <a:spcAft>
                <a:spcPts val="0"/>
              </a:spcAft>
              <a:buClr>
                <a:schemeClr val="dk1"/>
              </a:buClr>
              <a:buSzPts val="1100"/>
              <a:buFont typeface="Arial"/>
              <a:buNone/>
            </a:pPr>
            <a:r>
              <a:t/>
            </a:r>
            <a:endParaRPr b="1" sz="2400">
              <a:solidFill>
                <a:schemeClr val="accent2"/>
              </a:solidFill>
              <a:latin typeface="DM Sans"/>
              <a:ea typeface="DM Sans"/>
              <a:cs typeface="DM Sans"/>
              <a:sym typeface="DM Sans"/>
            </a:endParaRPr>
          </a:p>
          <a:p>
            <a:pPr indent="0" lvl="0" marL="0" rtl="0" algn="l">
              <a:lnSpc>
                <a:spcPct val="85000"/>
              </a:lnSpc>
              <a:spcBef>
                <a:spcPts val="0"/>
              </a:spcBef>
              <a:spcAft>
                <a:spcPts val="0"/>
              </a:spcAft>
              <a:buClr>
                <a:schemeClr val="dk1"/>
              </a:buClr>
              <a:buSzPts val="1100"/>
              <a:buFont typeface="Arial"/>
              <a:buNone/>
            </a:pPr>
            <a:r>
              <a:t/>
            </a:r>
            <a:endParaRPr b="1" sz="2400">
              <a:solidFill>
                <a:schemeClr val="accent2"/>
              </a:solidFill>
              <a:latin typeface="DM Sans"/>
              <a:ea typeface="DM Sans"/>
              <a:cs typeface="DM Sans"/>
              <a:sym typeface="DM Sans"/>
            </a:endParaRPr>
          </a:p>
          <a:p>
            <a:pPr indent="0" lvl="0" marL="0" marR="0" rtl="0" algn="l">
              <a:lnSpc>
                <a:spcPct val="85000"/>
              </a:lnSpc>
              <a:spcBef>
                <a:spcPts val="0"/>
              </a:spcBef>
              <a:spcAft>
                <a:spcPts val="0"/>
              </a:spcAft>
              <a:buClr>
                <a:srgbClr val="000000"/>
              </a:buClr>
              <a:buSzPts val="2600"/>
              <a:buFont typeface="Arial"/>
              <a:buNone/>
            </a:pPr>
            <a:r>
              <a:t/>
            </a:r>
            <a:endParaRPr b="1" sz="2400">
              <a:solidFill>
                <a:schemeClr val="accent2"/>
              </a:solidFill>
              <a:latin typeface="DM Sans"/>
              <a:ea typeface="DM Sans"/>
              <a:cs typeface="DM Sans"/>
              <a:sym typeface="DM Sans"/>
            </a:endParaRPr>
          </a:p>
        </p:txBody>
      </p:sp>
      <p:graphicFrame>
        <p:nvGraphicFramePr>
          <p:cNvPr id="252" name="Google Shape;252;p62"/>
          <p:cNvGraphicFramePr/>
          <p:nvPr/>
        </p:nvGraphicFramePr>
        <p:xfrm>
          <a:off x="4237200" y="2079829"/>
          <a:ext cx="3000000" cy="3000000"/>
        </p:xfrm>
        <a:graphic>
          <a:graphicData uri="http://schemas.openxmlformats.org/drawingml/2006/table">
            <a:tbl>
              <a:tblPr>
                <a:noFill/>
                <a:tableStyleId>{4114AE29-F4E9-42FB-9A9B-1C0D1D059E13}</a:tableStyleId>
              </a:tblPr>
              <a:tblGrid>
                <a:gridCol w="2595075"/>
                <a:gridCol w="2971200"/>
                <a:gridCol w="2046550"/>
              </a:tblGrid>
              <a:tr h="745975">
                <a:tc>
                  <a:txBody>
                    <a:bodyPr/>
                    <a:lstStyle/>
                    <a:p>
                      <a:pPr indent="0" lvl="0" marL="0" rtl="0" algn="ctr">
                        <a:lnSpc>
                          <a:spcPct val="115000"/>
                        </a:lnSpc>
                        <a:spcBef>
                          <a:spcPts val="0"/>
                        </a:spcBef>
                        <a:spcAft>
                          <a:spcPts val="0"/>
                        </a:spcAft>
                        <a:buNone/>
                      </a:pPr>
                      <a:r>
                        <a:rPr b="1" lang="en-US" sz="1750">
                          <a:solidFill>
                            <a:srgbClr val="FFFFFF"/>
                          </a:solidFill>
                          <a:latin typeface="Calibri"/>
                          <a:ea typeface="Calibri"/>
                          <a:cs typeface="Calibri"/>
                          <a:sym typeface="Calibri"/>
                        </a:rPr>
                        <a:t>Copies</a:t>
                      </a:r>
                      <a:endParaRPr b="1" sz="1750">
                        <a:solidFill>
                          <a:srgbClr val="FFFFFF"/>
                        </a:solidFill>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US" sz="1750">
                          <a:solidFill>
                            <a:srgbClr val="FFFFFF"/>
                          </a:solidFill>
                          <a:latin typeface="Calibri"/>
                          <a:ea typeface="Calibri"/>
                          <a:cs typeface="Calibri"/>
                          <a:sym typeface="Calibri"/>
                        </a:rPr>
                        <a:t>Observations</a:t>
                      </a:r>
                      <a:endParaRPr b="1" sz="1750">
                        <a:solidFill>
                          <a:srgbClr val="FFFFFF"/>
                        </a:solidFill>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US" sz="1750">
                          <a:solidFill>
                            <a:srgbClr val="FFFFFF"/>
                          </a:solidFill>
                          <a:latin typeface="Calibri"/>
                          <a:ea typeface="Calibri"/>
                          <a:cs typeface="Calibri"/>
                          <a:sym typeface="Calibri"/>
                        </a:rPr>
                        <a:t>Surplus</a:t>
                      </a:r>
                      <a:endParaRPr b="1" sz="1750">
                        <a:solidFill>
                          <a:srgbClr val="FFFFFF"/>
                        </a:solidFill>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2"/>
                    </a:solidFill>
                  </a:tcPr>
                </a:tc>
              </a:tr>
              <a:tr h="745975">
                <a:tc>
                  <a:txBody>
                    <a:bodyPr/>
                    <a:lstStyle/>
                    <a:p>
                      <a:pPr indent="0" lvl="0" marL="0" rtl="0" algn="ctr">
                        <a:lnSpc>
                          <a:spcPct val="115000"/>
                        </a:lnSpc>
                        <a:spcBef>
                          <a:spcPts val="0"/>
                        </a:spcBef>
                        <a:spcAft>
                          <a:spcPts val="0"/>
                        </a:spcAft>
                        <a:buNone/>
                      </a:pPr>
                      <a:r>
                        <a:rPr b="1" lang="en-US" sz="1750">
                          <a:latin typeface="Calibri"/>
                          <a:ea typeface="Calibri"/>
                          <a:cs typeface="Calibri"/>
                          <a:sym typeface="Calibri"/>
                        </a:rPr>
                        <a:t>1</a:t>
                      </a:r>
                      <a:endParaRPr b="1" sz="17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750">
                          <a:latin typeface="Calibri"/>
                          <a:ea typeface="Calibri"/>
                          <a:cs typeface="Calibri"/>
                          <a:sym typeface="Calibri"/>
                        </a:rPr>
                        <a:t>1754</a:t>
                      </a:r>
                      <a:endParaRPr b="1" sz="17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750">
                          <a:latin typeface="Calibri"/>
                          <a:ea typeface="Calibri"/>
                          <a:cs typeface="Calibri"/>
                          <a:sym typeface="Calibri"/>
                        </a:rPr>
                        <a:t>0</a:t>
                      </a:r>
                      <a:endParaRPr b="1" sz="17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45975">
                <a:tc>
                  <a:txBody>
                    <a:bodyPr/>
                    <a:lstStyle/>
                    <a:p>
                      <a:pPr indent="0" lvl="0" marL="0" rtl="0" algn="ctr">
                        <a:lnSpc>
                          <a:spcPct val="115000"/>
                        </a:lnSpc>
                        <a:spcBef>
                          <a:spcPts val="0"/>
                        </a:spcBef>
                        <a:spcAft>
                          <a:spcPts val="0"/>
                        </a:spcAft>
                        <a:buNone/>
                      </a:pPr>
                      <a:r>
                        <a:rPr b="1" lang="en-US" sz="1750">
                          <a:latin typeface="Calibri"/>
                          <a:ea typeface="Calibri"/>
                          <a:cs typeface="Calibri"/>
                          <a:sym typeface="Calibri"/>
                        </a:rPr>
                        <a:t>2</a:t>
                      </a:r>
                      <a:endParaRPr b="1" sz="17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750">
                          <a:latin typeface="Calibri"/>
                          <a:ea typeface="Calibri"/>
                          <a:cs typeface="Calibri"/>
                          <a:sym typeface="Calibri"/>
                        </a:rPr>
                        <a:t>520</a:t>
                      </a:r>
                      <a:endParaRPr b="1" sz="17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750">
                          <a:latin typeface="Calibri"/>
                          <a:ea typeface="Calibri"/>
                          <a:cs typeface="Calibri"/>
                          <a:sym typeface="Calibri"/>
                        </a:rPr>
                        <a:t>260</a:t>
                      </a:r>
                      <a:endParaRPr b="1" sz="17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45975">
                <a:tc>
                  <a:txBody>
                    <a:bodyPr/>
                    <a:lstStyle/>
                    <a:p>
                      <a:pPr indent="0" lvl="0" marL="0" rtl="0" algn="ctr">
                        <a:lnSpc>
                          <a:spcPct val="115000"/>
                        </a:lnSpc>
                        <a:spcBef>
                          <a:spcPts val="0"/>
                        </a:spcBef>
                        <a:spcAft>
                          <a:spcPts val="0"/>
                        </a:spcAft>
                        <a:buNone/>
                      </a:pPr>
                      <a:r>
                        <a:rPr b="1" lang="en-US" sz="1750">
                          <a:latin typeface="Calibri"/>
                          <a:ea typeface="Calibri"/>
                          <a:cs typeface="Calibri"/>
                          <a:sym typeface="Calibri"/>
                        </a:rPr>
                        <a:t>3</a:t>
                      </a:r>
                      <a:endParaRPr b="1" sz="17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750">
                          <a:latin typeface="Calibri"/>
                          <a:ea typeface="Calibri"/>
                          <a:cs typeface="Calibri"/>
                          <a:sym typeface="Calibri"/>
                        </a:rPr>
                        <a:t>9</a:t>
                      </a:r>
                      <a:endParaRPr b="1" sz="17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750">
                          <a:latin typeface="Calibri"/>
                          <a:ea typeface="Calibri"/>
                          <a:cs typeface="Calibri"/>
                          <a:sym typeface="Calibri"/>
                        </a:rPr>
                        <a:t>6</a:t>
                      </a:r>
                      <a:endParaRPr b="1" sz="17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53" name="Google Shape;253;p62"/>
          <p:cNvSpPr txBox="1"/>
          <p:nvPr/>
        </p:nvSpPr>
        <p:spPr>
          <a:xfrm>
            <a:off x="479425" y="2079820"/>
            <a:ext cx="3364200" cy="2802900"/>
          </a:xfrm>
          <a:prstGeom prst="rect">
            <a:avLst/>
          </a:prstGeom>
          <a:noFill/>
          <a:ln>
            <a:noFill/>
          </a:ln>
        </p:spPr>
        <p:txBody>
          <a:bodyPr anchorCtr="0" anchor="t" bIns="45700" lIns="91425" spcFirstLastPara="1" rIns="91425" wrap="square" tIns="45700">
            <a:noAutofit/>
          </a:bodyPr>
          <a:lstStyle/>
          <a:p>
            <a:pPr indent="-196850" lvl="0" marL="171450" marR="0" rtl="0" algn="l">
              <a:lnSpc>
                <a:spcPct val="150000"/>
              </a:lnSpc>
              <a:spcBef>
                <a:spcPts val="0"/>
              </a:spcBef>
              <a:spcAft>
                <a:spcPts val="0"/>
              </a:spcAft>
              <a:buClr>
                <a:srgbClr val="000000"/>
              </a:buClr>
              <a:buSzPts val="1600"/>
              <a:buFont typeface="Arial"/>
              <a:buChar char="•"/>
            </a:pPr>
            <a:r>
              <a:rPr lang="en-US" sz="1600">
                <a:solidFill>
                  <a:schemeClr val="accent2"/>
                </a:solidFill>
                <a:latin typeface="DM Sans"/>
                <a:ea typeface="DM Sans"/>
                <a:cs typeface="DM Sans"/>
                <a:sym typeface="DM Sans"/>
              </a:rPr>
              <a:t>caseid represents mother</a:t>
            </a:r>
            <a:endParaRPr sz="1600">
              <a:solidFill>
                <a:schemeClr val="accent2"/>
              </a:solidFill>
              <a:latin typeface="DM Sans"/>
              <a:ea typeface="DM Sans"/>
              <a:cs typeface="DM Sans"/>
              <a:sym typeface="DM Sans"/>
            </a:endParaRPr>
          </a:p>
          <a:p>
            <a:pPr indent="-196850" lvl="0" marL="171450" marR="0" rtl="0" algn="l">
              <a:lnSpc>
                <a:spcPct val="150000"/>
              </a:lnSpc>
              <a:spcBef>
                <a:spcPts val="0"/>
              </a:spcBef>
              <a:spcAft>
                <a:spcPts val="0"/>
              </a:spcAft>
              <a:buClr>
                <a:srgbClr val="000000"/>
              </a:buClr>
              <a:buSzPts val="1600"/>
              <a:buFont typeface="Arial"/>
              <a:buChar char="•"/>
            </a:pPr>
            <a:r>
              <a:rPr lang="en-US" sz="1600">
                <a:solidFill>
                  <a:schemeClr val="accent2"/>
                </a:solidFill>
                <a:latin typeface="DM Sans"/>
                <a:ea typeface="DM Sans"/>
                <a:cs typeface="DM Sans"/>
                <a:sym typeface="DM Sans"/>
              </a:rPr>
              <a:t>260 mothers has 2 children</a:t>
            </a:r>
            <a:endParaRPr sz="1600">
              <a:solidFill>
                <a:schemeClr val="accent2"/>
              </a:solidFill>
              <a:latin typeface="DM Sans"/>
              <a:ea typeface="DM Sans"/>
              <a:cs typeface="DM Sans"/>
              <a:sym typeface="DM Sans"/>
            </a:endParaRPr>
          </a:p>
          <a:p>
            <a:pPr indent="-196850" lvl="0" marL="171450" marR="0" rtl="0" algn="l">
              <a:lnSpc>
                <a:spcPct val="150000"/>
              </a:lnSpc>
              <a:spcBef>
                <a:spcPts val="0"/>
              </a:spcBef>
              <a:spcAft>
                <a:spcPts val="0"/>
              </a:spcAft>
              <a:buClr>
                <a:srgbClr val="000000"/>
              </a:buClr>
              <a:buSzPts val="1600"/>
              <a:buFont typeface="Arial"/>
              <a:buChar char="•"/>
            </a:pPr>
            <a:r>
              <a:rPr lang="en-US" sz="1600">
                <a:solidFill>
                  <a:schemeClr val="accent2"/>
                </a:solidFill>
                <a:latin typeface="DM Sans"/>
                <a:ea typeface="DM Sans"/>
                <a:cs typeface="DM Sans"/>
                <a:sym typeface="DM Sans"/>
              </a:rPr>
              <a:t>3 mothers has 3 children</a:t>
            </a:r>
            <a:endParaRPr sz="1600">
              <a:solidFill>
                <a:schemeClr val="accent2"/>
              </a:solidFill>
              <a:latin typeface="DM Sans"/>
              <a:ea typeface="DM Sans"/>
              <a:cs typeface="DM Sans"/>
              <a:sym typeface="DM Sans"/>
            </a:endParaRPr>
          </a:p>
          <a:p>
            <a:pPr indent="-196850" lvl="0" marL="171450" marR="0" rtl="0" algn="l">
              <a:lnSpc>
                <a:spcPct val="150000"/>
              </a:lnSpc>
              <a:spcBef>
                <a:spcPts val="0"/>
              </a:spcBef>
              <a:spcAft>
                <a:spcPts val="0"/>
              </a:spcAft>
              <a:buClr>
                <a:srgbClr val="000000"/>
              </a:buClr>
              <a:buSzPts val="1600"/>
              <a:buFont typeface="Arial"/>
              <a:buChar char="•"/>
            </a:pPr>
            <a:r>
              <a:rPr lang="en-US" sz="1600">
                <a:solidFill>
                  <a:schemeClr val="accent2"/>
                </a:solidFill>
                <a:latin typeface="DM Sans"/>
                <a:ea typeface="DM Sans"/>
                <a:cs typeface="DM Sans"/>
                <a:sym typeface="DM Sans"/>
              </a:rPr>
              <a:t>multiple children has the same mother</a:t>
            </a:r>
            <a:endParaRPr sz="1600">
              <a:solidFill>
                <a:schemeClr val="accent2"/>
              </a:solidFill>
              <a:latin typeface="DM Sans"/>
              <a:ea typeface="DM Sans"/>
              <a:cs typeface="DM Sans"/>
              <a:sym typeface="DM Sans"/>
            </a:endParaRPr>
          </a:p>
          <a:p>
            <a:pPr indent="-196850" lvl="0" marL="171450" marR="0" rtl="0" algn="l">
              <a:lnSpc>
                <a:spcPct val="150000"/>
              </a:lnSpc>
              <a:spcBef>
                <a:spcPts val="0"/>
              </a:spcBef>
              <a:spcAft>
                <a:spcPts val="0"/>
              </a:spcAft>
              <a:buClr>
                <a:srgbClr val="000000"/>
              </a:buClr>
              <a:buSzPts val="1600"/>
              <a:buFont typeface="Arial"/>
              <a:buChar char="•"/>
            </a:pPr>
            <a:r>
              <a:rPr lang="en-US" sz="1600">
                <a:solidFill>
                  <a:schemeClr val="accent2"/>
                </a:solidFill>
                <a:latin typeface="DM Sans"/>
                <a:ea typeface="DM Sans"/>
                <a:cs typeface="DM Sans"/>
                <a:sym typeface="DM Sans"/>
              </a:rPr>
              <a:t>Independence assumption is violated</a:t>
            </a:r>
            <a:endParaRPr b="0" i="0" sz="1200" u="none" cap="none" strike="noStrike">
              <a:solidFill>
                <a:schemeClr val="accent2"/>
              </a:solidFill>
              <a:latin typeface="DM Sans"/>
              <a:ea typeface="DM Sans"/>
              <a:cs typeface="DM Sans"/>
              <a:sym typeface="DM Sans"/>
            </a:endParaRPr>
          </a:p>
        </p:txBody>
      </p:sp>
      <p:sp>
        <p:nvSpPr>
          <p:cNvPr id="254" name="Google Shape;254;p62"/>
          <p:cNvSpPr txBox="1"/>
          <p:nvPr/>
        </p:nvSpPr>
        <p:spPr>
          <a:xfrm>
            <a:off x="479425" y="5981925"/>
            <a:ext cx="11370600" cy="246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i="1" lang="en-US">
                <a:solidFill>
                  <a:schemeClr val="dk1"/>
                </a:solidFill>
                <a:latin typeface="Libre Franklin"/>
                <a:ea typeface="Libre Franklin"/>
                <a:cs typeface="Libre Franklin"/>
                <a:sym typeface="Libre Franklin"/>
              </a:rPr>
              <a:t>Note: Household number and cluster number also show many duplicates, confirming a multilevel structure (children nested within mothers, households, and clusters).</a:t>
            </a:r>
            <a:endParaRPr b="1" i="0" sz="1000" u="none" cap="none" strike="noStrike">
              <a:solidFill>
                <a:schemeClr val="accent2"/>
              </a:solidFill>
              <a:latin typeface="DM Sans"/>
              <a:ea typeface="DM Sans"/>
              <a:cs typeface="DM Sans"/>
              <a:sym typeface="DM Sans"/>
            </a:endParaRPr>
          </a:p>
        </p:txBody>
      </p:sp>
      <p:sp>
        <p:nvSpPr>
          <p:cNvPr id="255" name="Google Shape;255;p62"/>
          <p:cNvSpPr txBox="1"/>
          <p:nvPr/>
        </p:nvSpPr>
        <p:spPr>
          <a:xfrm>
            <a:off x="4237200" y="1628925"/>
            <a:ext cx="3531900" cy="450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500"/>
              <a:buFont typeface="Arial"/>
              <a:buNone/>
            </a:pPr>
            <a:r>
              <a:rPr b="1" lang="en-US" sz="1800">
                <a:solidFill>
                  <a:schemeClr val="accent2"/>
                </a:solidFill>
                <a:latin typeface="DM Sans"/>
                <a:ea typeface="DM Sans"/>
                <a:cs typeface="DM Sans"/>
                <a:sym typeface="DM Sans"/>
              </a:rPr>
              <a:t>Duplicates in terms of caseid</a:t>
            </a:r>
            <a:endParaRPr b="1" sz="1500">
              <a:solidFill>
                <a:schemeClr val="accent2"/>
              </a:solidFill>
              <a:latin typeface="DM Sans"/>
              <a:ea typeface="DM Sans"/>
              <a:cs typeface="DM Sans"/>
              <a:sym typeface="DM Sans"/>
            </a:endParaRPr>
          </a:p>
          <a:p>
            <a:pPr indent="0" lvl="0" marL="0" rtl="0" algn="l">
              <a:spcBef>
                <a:spcPts val="0"/>
              </a:spcBef>
              <a:spcAft>
                <a:spcPts val="0"/>
              </a:spcAft>
              <a:buClr>
                <a:schemeClr val="dk1"/>
              </a:buClr>
              <a:buSzPts val="1500"/>
              <a:buFont typeface="Arial"/>
              <a:buNone/>
            </a:pPr>
            <a:r>
              <a:t/>
            </a:r>
            <a:endParaRPr b="1" sz="1800">
              <a:solidFill>
                <a:schemeClr val="accent2"/>
              </a:solidFill>
              <a:latin typeface="DM Sans"/>
              <a:ea typeface="DM Sans"/>
              <a:cs typeface="DM Sans"/>
              <a:sym typeface="DM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63"/>
          <p:cNvSpPr/>
          <p:nvPr/>
        </p:nvSpPr>
        <p:spPr>
          <a:xfrm>
            <a:off x="4223792" y="0"/>
            <a:ext cx="7968300" cy="68580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1" name="Google Shape;261;p63"/>
          <p:cNvSpPr txBox="1"/>
          <p:nvPr/>
        </p:nvSpPr>
        <p:spPr>
          <a:xfrm>
            <a:off x="479425" y="764540"/>
            <a:ext cx="7917180" cy="45085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00"/>
              </a:buClr>
              <a:buSzPts val="2800"/>
              <a:buFont typeface="Arial"/>
              <a:buNone/>
            </a:pPr>
            <a:r>
              <a:rPr b="1" lang="en-US" sz="2400">
                <a:solidFill>
                  <a:schemeClr val="accent2"/>
                </a:solidFill>
                <a:latin typeface="DM Sans"/>
                <a:ea typeface="DM Sans"/>
                <a:cs typeface="DM Sans"/>
                <a:sym typeface="DM Sans"/>
              </a:rPr>
              <a:t>Linearity Assumption  -  Anemia</a:t>
            </a:r>
            <a:endParaRPr b="1" i="0" sz="2400" u="none" cap="none" strike="noStrike">
              <a:solidFill>
                <a:schemeClr val="accent2"/>
              </a:solidFill>
              <a:latin typeface="DM Sans"/>
              <a:ea typeface="DM Sans"/>
              <a:cs typeface="DM Sans"/>
              <a:sym typeface="DM Sans"/>
            </a:endParaRPr>
          </a:p>
        </p:txBody>
      </p:sp>
      <p:sp>
        <p:nvSpPr>
          <p:cNvPr id="262" name="Google Shape;262;p63"/>
          <p:cNvSpPr txBox="1"/>
          <p:nvPr/>
        </p:nvSpPr>
        <p:spPr>
          <a:xfrm>
            <a:off x="479450" y="1628925"/>
            <a:ext cx="3531900" cy="663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500"/>
              <a:buFont typeface="Arial"/>
              <a:buNone/>
            </a:pPr>
            <a:r>
              <a:rPr b="1" lang="en-US" sz="1800">
                <a:solidFill>
                  <a:schemeClr val="accent2"/>
                </a:solidFill>
                <a:latin typeface="DM Sans"/>
                <a:ea typeface="DM Sans"/>
                <a:cs typeface="DM Sans"/>
                <a:sym typeface="DM Sans"/>
              </a:rPr>
              <a:t>Linearity is satisfied for these 4 variables</a:t>
            </a:r>
            <a:endParaRPr b="1" i="0" sz="1500" u="none" cap="none" strike="noStrike">
              <a:solidFill>
                <a:schemeClr val="accent2"/>
              </a:solidFill>
              <a:latin typeface="DM Sans"/>
              <a:ea typeface="DM Sans"/>
              <a:cs typeface="DM Sans"/>
              <a:sym typeface="DM Sans"/>
            </a:endParaRPr>
          </a:p>
        </p:txBody>
      </p:sp>
      <p:sp>
        <p:nvSpPr>
          <p:cNvPr id="263" name="Google Shape;263;p63"/>
          <p:cNvSpPr txBox="1"/>
          <p:nvPr/>
        </p:nvSpPr>
        <p:spPr>
          <a:xfrm>
            <a:off x="479425" y="2292220"/>
            <a:ext cx="3364200" cy="2802900"/>
          </a:xfrm>
          <a:prstGeom prst="rect">
            <a:avLst/>
          </a:prstGeom>
          <a:noFill/>
          <a:ln>
            <a:noFill/>
          </a:ln>
        </p:spPr>
        <p:txBody>
          <a:bodyPr anchorCtr="0" anchor="t" bIns="45700" lIns="91425" spcFirstLastPara="1" rIns="91425" wrap="square" tIns="45700">
            <a:noAutofit/>
          </a:bodyPr>
          <a:lstStyle/>
          <a:p>
            <a:pPr indent="-196850" lvl="0" marL="171450" marR="0" rtl="0" algn="l">
              <a:lnSpc>
                <a:spcPct val="150000"/>
              </a:lnSpc>
              <a:spcBef>
                <a:spcPts val="0"/>
              </a:spcBef>
              <a:spcAft>
                <a:spcPts val="0"/>
              </a:spcAft>
              <a:buClr>
                <a:srgbClr val="000000"/>
              </a:buClr>
              <a:buSzPts val="1600"/>
              <a:buFont typeface="Arial"/>
              <a:buChar char="•"/>
            </a:pPr>
            <a:r>
              <a:rPr lang="en-US" sz="1600">
                <a:solidFill>
                  <a:schemeClr val="accent2"/>
                </a:solidFill>
                <a:latin typeface="DM Sans"/>
                <a:ea typeface="DM Sans"/>
                <a:cs typeface="DM Sans"/>
                <a:sym typeface="DM Sans"/>
              </a:rPr>
              <a:t>Mother's age at first birth</a:t>
            </a:r>
            <a:endParaRPr sz="1600">
              <a:solidFill>
                <a:schemeClr val="accent2"/>
              </a:solidFill>
              <a:latin typeface="DM Sans"/>
              <a:ea typeface="DM Sans"/>
              <a:cs typeface="DM Sans"/>
              <a:sym typeface="DM Sans"/>
            </a:endParaRPr>
          </a:p>
          <a:p>
            <a:pPr indent="-196850" lvl="0" marL="171450" marR="0" rtl="0" algn="l">
              <a:lnSpc>
                <a:spcPct val="150000"/>
              </a:lnSpc>
              <a:spcBef>
                <a:spcPts val="0"/>
              </a:spcBef>
              <a:spcAft>
                <a:spcPts val="0"/>
              </a:spcAft>
              <a:buClr>
                <a:srgbClr val="000000"/>
              </a:buClr>
              <a:buSzPts val="1600"/>
              <a:buFont typeface="Arial"/>
              <a:buChar char="•"/>
            </a:pPr>
            <a:r>
              <a:rPr lang="en-US" sz="1600">
                <a:solidFill>
                  <a:schemeClr val="accent2"/>
                </a:solidFill>
                <a:latin typeface="DM Sans"/>
                <a:ea typeface="DM Sans"/>
                <a:cs typeface="DM Sans"/>
                <a:sym typeface="DM Sans"/>
              </a:rPr>
              <a:t>Mother's hemoglobin level</a:t>
            </a:r>
            <a:endParaRPr sz="1600">
              <a:solidFill>
                <a:schemeClr val="accent2"/>
              </a:solidFill>
              <a:latin typeface="DM Sans"/>
              <a:ea typeface="DM Sans"/>
              <a:cs typeface="DM Sans"/>
              <a:sym typeface="DM Sans"/>
            </a:endParaRPr>
          </a:p>
          <a:p>
            <a:pPr indent="-196850" lvl="0" marL="171450" marR="0" rtl="0" algn="l">
              <a:lnSpc>
                <a:spcPct val="150000"/>
              </a:lnSpc>
              <a:spcBef>
                <a:spcPts val="0"/>
              </a:spcBef>
              <a:spcAft>
                <a:spcPts val="0"/>
              </a:spcAft>
              <a:buClr>
                <a:srgbClr val="000000"/>
              </a:buClr>
              <a:buSzPts val="1600"/>
              <a:buFont typeface="Arial"/>
              <a:buChar char="•"/>
            </a:pPr>
            <a:r>
              <a:rPr lang="en-US" sz="1600">
                <a:solidFill>
                  <a:schemeClr val="accent2"/>
                </a:solidFill>
                <a:latin typeface="DM Sans"/>
                <a:ea typeface="DM Sans"/>
                <a:cs typeface="DM Sans"/>
                <a:sym typeface="DM Sans"/>
              </a:rPr>
              <a:t>Child's age</a:t>
            </a:r>
            <a:endParaRPr sz="1600">
              <a:solidFill>
                <a:schemeClr val="accent2"/>
              </a:solidFill>
              <a:latin typeface="DM Sans"/>
              <a:ea typeface="DM Sans"/>
              <a:cs typeface="DM Sans"/>
              <a:sym typeface="DM Sans"/>
            </a:endParaRPr>
          </a:p>
          <a:p>
            <a:pPr indent="-196850" lvl="0" marL="171450" marR="0" rtl="0" algn="l">
              <a:lnSpc>
                <a:spcPct val="150000"/>
              </a:lnSpc>
              <a:spcBef>
                <a:spcPts val="0"/>
              </a:spcBef>
              <a:spcAft>
                <a:spcPts val="0"/>
              </a:spcAft>
              <a:buClr>
                <a:srgbClr val="000000"/>
              </a:buClr>
              <a:buSzPts val="1600"/>
              <a:buFont typeface="Arial"/>
              <a:buChar char="•"/>
            </a:pPr>
            <a:r>
              <a:rPr lang="en-US" sz="1600">
                <a:solidFill>
                  <a:schemeClr val="accent2"/>
                </a:solidFill>
                <a:latin typeface="DM Sans"/>
                <a:ea typeface="DM Sans"/>
                <a:cs typeface="DM Sans"/>
                <a:sym typeface="DM Sans"/>
              </a:rPr>
              <a:t>Weight adjusted Z-score that is a variable commonly used by WHO</a:t>
            </a:r>
            <a:endParaRPr b="0" i="0" sz="1200" u="none" cap="none" strike="noStrike">
              <a:solidFill>
                <a:schemeClr val="accent2"/>
              </a:solidFill>
              <a:latin typeface="DM Sans"/>
              <a:ea typeface="DM Sans"/>
              <a:cs typeface="DM Sans"/>
              <a:sym typeface="DM Sans"/>
            </a:endParaRPr>
          </a:p>
        </p:txBody>
      </p:sp>
      <p:pic>
        <p:nvPicPr>
          <p:cNvPr id="264" name="Google Shape;264;p63"/>
          <p:cNvPicPr preferRelativeResize="0"/>
          <p:nvPr/>
        </p:nvPicPr>
        <p:blipFill>
          <a:blip r:embed="rId3">
            <a:alphaModFix/>
          </a:blip>
          <a:stretch>
            <a:fillRect/>
          </a:stretch>
        </p:blipFill>
        <p:spPr>
          <a:xfrm>
            <a:off x="4516078" y="1628925"/>
            <a:ext cx="3531900" cy="2119148"/>
          </a:xfrm>
          <a:prstGeom prst="rect">
            <a:avLst/>
          </a:prstGeom>
          <a:noFill/>
          <a:ln>
            <a:noFill/>
          </a:ln>
        </p:spPr>
      </p:pic>
      <p:pic>
        <p:nvPicPr>
          <p:cNvPr id="265" name="Google Shape;265;p63"/>
          <p:cNvPicPr preferRelativeResize="0"/>
          <p:nvPr/>
        </p:nvPicPr>
        <p:blipFill>
          <a:blip r:embed="rId4">
            <a:alphaModFix/>
          </a:blip>
          <a:stretch>
            <a:fillRect/>
          </a:stretch>
        </p:blipFill>
        <p:spPr>
          <a:xfrm>
            <a:off x="8333970" y="1628925"/>
            <a:ext cx="3531900" cy="2119123"/>
          </a:xfrm>
          <a:prstGeom prst="rect">
            <a:avLst/>
          </a:prstGeom>
          <a:noFill/>
          <a:ln>
            <a:noFill/>
          </a:ln>
        </p:spPr>
      </p:pic>
      <p:pic>
        <p:nvPicPr>
          <p:cNvPr id="266" name="Google Shape;266;p63"/>
          <p:cNvPicPr preferRelativeResize="0"/>
          <p:nvPr/>
        </p:nvPicPr>
        <p:blipFill>
          <a:blip r:embed="rId5">
            <a:alphaModFix/>
          </a:blip>
          <a:stretch>
            <a:fillRect/>
          </a:stretch>
        </p:blipFill>
        <p:spPr>
          <a:xfrm>
            <a:off x="4516075" y="4081012"/>
            <a:ext cx="3531900" cy="2119182"/>
          </a:xfrm>
          <a:prstGeom prst="rect">
            <a:avLst/>
          </a:prstGeom>
          <a:noFill/>
          <a:ln>
            <a:noFill/>
          </a:ln>
        </p:spPr>
      </p:pic>
      <p:pic>
        <p:nvPicPr>
          <p:cNvPr id="267" name="Google Shape;267;p63"/>
          <p:cNvPicPr preferRelativeResize="0"/>
          <p:nvPr/>
        </p:nvPicPr>
        <p:blipFill>
          <a:blip r:embed="rId6">
            <a:alphaModFix/>
          </a:blip>
          <a:stretch>
            <a:fillRect/>
          </a:stretch>
        </p:blipFill>
        <p:spPr>
          <a:xfrm>
            <a:off x="8333970" y="4081000"/>
            <a:ext cx="3531900" cy="21191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64"/>
          <p:cNvSpPr/>
          <p:nvPr/>
        </p:nvSpPr>
        <p:spPr>
          <a:xfrm>
            <a:off x="4223792" y="0"/>
            <a:ext cx="7968300" cy="68580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73" name="Google Shape;273;p64"/>
          <p:cNvPicPr preferRelativeResize="0"/>
          <p:nvPr/>
        </p:nvPicPr>
        <p:blipFill>
          <a:blip r:embed="rId3">
            <a:alphaModFix/>
          </a:blip>
          <a:stretch>
            <a:fillRect/>
          </a:stretch>
        </p:blipFill>
        <p:spPr>
          <a:xfrm>
            <a:off x="4516075" y="1628925"/>
            <a:ext cx="7349800" cy="4409890"/>
          </a:xfrm>
          <a:prstGeom prst="rect">
            <a:avLst/>
          </a:prstGeom>
          <a:noFill/>
          <a:ln>
            <a:noFill/>
          </a:ln>
        </p:spPr>
      </p:pic>
      <p:sp>
        <p:nvSpPr>
          <p:cNvPr id="274" name="Google Shape;274;p64"/>
          <p:cNvSpPr txBox="1"/>
          <p:nvPr/>
        </p:nvSpPr>
        <p:spPr>
          <a:xfrm>
            <a:off x="479425" y="764540"/>
            <a:ext cx="7917300" cy="45090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00"/>
              </a:buClr>
              <a:buSzPts val="2800"/>
              <a:buFont typeface="Arial"/>
              <a:buNone/>
            </a:pPr>
            <a:r>
              <a:rPr b="1" lang="en-US" sz="2400">
                <a:solidFill>
                  <a:schemeClr val="accent2"/>
                </a:solidFill>
                <a:latin typeface="DM Sans"/>
                <a:ea typeface="DM Sans"/>
                <a:cs typeface="DM Sans"/>
                <a:sym typeface="DM Sans"/>
              </a:rPr>
              <a:t>Linearity Assumption  -  Stunting</a:t>
            </a:r>
            <a:endParaRPr b="1" i="0" sz="2400" u="none" cap="none" strike="noStrike">
              <a:solidFill>
                <a:schemeClr val="accent2"/>
              </a:solidFill>
              <a:latin typeface="DM Sans"/>
              <a:ea typeface="DM Sans"/>
              <a:cs typeface="DM Sans"/>
              <a:sym typeface="DM Sans"/>
            </a:endParaRPr>
          </a:p>
        </p:txBody>
      </p:sp>
      <p:sp>
        <p:nvSpPr>
          <p:cNvPr id="275" name="Google Shape;275;p64"/>
          <p:cNvSpPr txBox="1"/>
          <p:nvPr/>
        </p:nvSpPr>
        <p:spPr>
          <a:xfrm>
            <a:off x="479450" y="1628925"/>
            <a:ext cx="3531900" cy="105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500"/>
              <a:buFont typeface="Arial"/>
              <a:buNone/>
            </a:pPr>
            <a:r>
              <a:rPr b="1" lang="en-US" sz="1800">
                <a:solidFill>
                  <a:schemeClr val="accent2"/>
                </a:solidFill>
                <a:latin typeface="DM Sans"/>
                <a:ea typeface="DM Sans"/>
                <a:cs typeface="DM Sans"/>
                <a:sym typeface="DM Sans"/>
              </a:rPr>
              <a:t>Linearity is satisfied, and the minor curvature comes from a few outliers.</a:t>
            </a:r>
            <a:endParaRPr b="1" i="0" sz="1500" u="none" cap="none" strike="noStrike">
              <a:solidFill>
                <a:schemeClr val="accent2"/>
              </a:solidFill>
              <a:latin typeface="DM Sans"/>
              <a:ea typeface="DM Sans"/>
              <a:cs typeface="DM Sans"/>
              <a:sym typeface="DM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65"/>
          <p:cNvSpPr/>
          <p:nvPr/>
        </p:nvSpPr>
        <p:spPr>
          <a:xfrm>
            <a:off x="8305005" y="0"/>
            <a:ext cx="3886995"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1" name="Google Shape;281;p65"/>
          <p:cNvSpPr txBox="1"/>
          <p:nvPr/>
        </p:nvSpPr>
        <p:spPr>
          <a:xfrm>
            <a:off x="479425" y="764540"/>
            <a:ext cx="11355070" cy="388620"/>
          </a:xfrm>
          <a:prstGeom prst="rect">
            <a:avLst/>
          </a:prstGeom>
          <a:noFill/>
          <a:ln>
            <a:noFill/>
          </a:ln>
        </p:spPr>
        <p:txBody>
          <a:bodyPr anchorCtr="0" anchor="t" bIns="45700" lIns="91425" spcFirstLastPara="1" rIns="91425" wrap="square" tIns="45700">
            <a:noAutofit/>
          </a:bodyPr>
          <a:lstStyle/>
          <a:p>
            <a:pPr indent="0" lvl="0" marL="0" rtl="0" algn="l">
              <a:lnSpc>
                <a:spcPct val="85000"/>
              </a:lnSpc>
              <a:spcBef>
                <a:spcPts val="0"/>
              </a:spcBef>
              <a:spcAft>
                <a:spcPts val="0"/>
              </a:spcAft>
              <a:buClr>
                <a:schemeClr val="dk1"/>
              </a:buClr>
              <a:buSzPts val="1100"/>
              <a:buFont typeface="Arial"/>
              <a:buNone/>
            </a:pPr>
            <a:r>
              <a:rPr b="1" lang="en-US" sz="2400">
                <a:solidFill>
                  <a:schemeClr val="accent2"/>
                </a:solidFill>
                <a:latin typeface="DM Sans"/>
                <a:ea typeface="DM Sans"/>
                <a:cs typeface="DM Sans"/>
                <a:sym typeface="DM Sans"/>
              </a:rPr>
              <a:t>Goodness-of-Fit (Hosmer-Lemeshow Test)</a:t>
            </a:r>
            <a:endParaRPr b="1" sz="2400">
              <a:solidFill>
                <a:schemeClr val="accent2"/>
              </a:solidFill>
              <a:latin typeface="DM Sans"/>
              <a:ea typeface="DM Sans"/>
              <a:cs typeface="DM Sans"/>
              <a:sym typeface="DM Sans"/>
            </a:endParaRPr>
          </a:p>
          <a:p>
            <a:pPr indent="0" lvl="0" marL="0" rtl="0" algn="l">
              <a:lnSpc>
                <a:spcPct val="85000"/>
              </a:lnSpc>
              <a:spcBef>
                <a:spcPts val="0"/>
              </a:spcBef>
              <a:spcAft>
                <a:spcPts val="0"/>
              </a:spcAft>
              <a:buClr>
                <a:schemeClr val="dk1"/>
              </a:buClr>
              <a:buSzPts val="1100"/>
              <a:buFont typeface="Arial"/>
              <a:buNone/>
            </a:pPr>
            <a:r>
              <a:t/>
            </a:r>
            <a:endParaRPr b="1" sz="2600">
              <a:solidFill>
                <a:schemeClr val="accent2"/>
              </a:solidFill>
              <a:latin typeface="DM Sans"/>
              <a:ea typeface="DM Sans"/>
              <a:cs typeface="DM Sans"/>
              <a:sym typeface="DM Sans"/>
            </a:endParaRPr>
          </a:p>
          <a:p>
            <a:pPr indent="0" lvl="0" marL="0" marR="0" rtl="0" algn="l">
              <a:lnSpc>
                <a:spcPct val="85000"/>
              </a:lnSpc>
              <a:spcBef>
                <a:spcPts val="0"/>
              </a:spcBef>
              <a:spcAft>
                <a:spcPts val="0"/>
              </a:spcAft>
              <a:buClr>
                <a:srgbClr val="000000"/>
              </a:buClr>
              <a:buSzPts val="2600"/>
              <a:buFont typeface="Arial"/>
              <a:buNone/>
            </a:pPr>
            <a:r>
              <a:t/>
            </a:r>
            <a:endParaRPr b="1" sz="2600">
              <a:solidFill>
                <a:schemeClr val="accent2"/>
              </a:solidFill>
              <a:latin typeface="DM Sans"/>
              <a:ea typeface="DM Sans"/>
              <a:cs typeface="DM Sans"/>
              <a:sym typeface="DM Sans"/>
            </a:endParaRPr>
          </a:p>
        </p:txBody>
      </p:sp>
      <p:sp>
        <p:nvSpPr>
          <p:cNvPr id="282" name="Google Shape;282;p65"/>
          <p:cNvSpPr/>
          <p:nvPr/>
        </p:nvSpPr>
        <p:spPr>
          <a:xfrm>
            <a:off x="476250" y="1542232"/>
            <a:ext cx="11236200" cy="47517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aphicFrame>
        <p:nvGraphicFramePr>
          <p:cNvPr id="283" name="Google Shape;283;p65"/>
          <p:cNvGraphicFramePr/>
          <p:nvPr/>
        </p:nvGraphicFramePr>
        <p:xfrm>
          <a:off x="4502513" y="2663438"/>
          <a:ext cx="3000000" cy="3000000"/>
        </p:xfrm>
        <a:graphic>
          <a:graphicData uri="http://schemas.openxmlformats.org/drawingml/2006/table">
            <a:tbl>
              <a:tblPr>
                <a:noFill/>
                <a:tableStyleId>{4114AE29-F4E9-42FB-9A9B-1C0D1D059E13}</a:tableStyleId>
              </a:tblPr>
              <a:tblGrid>
                <a:gridCol w="2247650"/>
                <a:gridCol w="2534450"/>
                <a:gridCol w="1313875"/>
              </a:tblGrid>
              <a:tr h="616575">
                <a:tc>
                  <a:txBody>
                    <a:bodyPr/>
                    <a:lstStyle/>
                    <a:p>
                      <a:pPr indent="0" lvl="0" marL="0" rtl="0" algn="ctr">
                        <a:lnSpc>
                          <a:spcPct val="115000"/>
                        </a:lnSpc>
                        <a:spcBef>
                          <a:spcPts val="0"/>
                        </a:spcBef>
                        <a:spcAft>
                          <a:spcPts val="0"/>
                        </a:spcAft>
                        <a:buNone/>
                      </a:pPr>
                      <a:r>
                        <a:rPr b="1" lang="en-US" sz="1900">
                          <a:solidFill>
                            <a:srgbClr val="FFFFFF"/>
                          </a:solidFill>
                          <a:latin typeface="Calibri"/>
                          <a:ea typeface="Calibri"/>
                          <a:cs typeface="Calibri"/>
                          <a:sym typeface="Calibri"/>
                        </a:rPr>
                        <a:t>Model</a:t>
                      </a:r>
                      <a:endParaRPr b="1" sz="1900">
                        <a:solidFill>
                          <a:srgbClr val="FFFFFF"/>
                        </a:solidFill>
                        <a:latin typeface="Calibri"/>
                        <a:ea typeface="Calibri"/>
                        <a:cs typeface="Calibri"/>
                        <a:sym typeface="Calibri"/>
                      </a:endParaRPr>
                    </a:p>
                  </a:txBody>
                  <a:tcPr marT="91425" marB="19050" marR="19050" marL="190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US" sz="1900">
                          <a:solidFill>
                            <a:srgbClr val="FFFFFF"/>
                          </a:solidFill>
                          <a:latin typeface="Calibri"/>
                          <a:ea typeface="Calibri"/>
                          <a:cs typeface="Calibri"/>
                          <a:sym typeface="Calibri"/>
                        </a:rPr>
                        <a:t>Test Statistic</a:t>
                      </a:r>
                      <a:endParaRPr b="1" sz="1900">
                        <a:solidFill>
                          <a:srgbClr val="FFFFFF"/>
                        </a:solidFill>
                        <a:latin typeface="Calibri"/>
                        <a:ea typeface="Calibri"/>
                        <a:cs typeface="Calibri"/>
                        <a:sym typeface="Calibri"/>
                      </a:endParaRPr>
                    </a:p>
                  </a:txBody>
                  <a:tcPr marT="91425" marB="19050" marR="19050" marL="19050">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US" sz="1900">
                          <a:solidFill>
                            <a:srgbClr val="FFFFFF"/>
                          </a:solidFill>
                          <a:latin typeface="Calibri"/>
                          <a:ea typeface="Calibri"/>
                          <a:cs typeface="Calibri"/>
                          <a:sym typeface="Calibri"/>
                        </a:rPr>
                        <a:t>p-value</a:t>
                      </a:r>
                      <a:endParaRPr b="1" sz="1900">
                        <a:solidFill>
                          <a:srgbClr val="FFFFFF"/>
                        </a:solidFill>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2"/>
                    </a:solidFill>
                  </a:tcPr>
                </a:tc>
              </a:tr>
              <a:tr h="567475">
                <a:tc>
                  <a:txBody>
                    <a:bodyPr/>
                    <a:lstStyle/>
                    <a:p>
                      <a:pPr indent="0" lvl="0" marL="0" rtl="0" algn="ctr">
                        <a:lnSpc>
                          <a:spcPct val="115000"/>
                        </a:lnSpc>
                        <a:spcBef>
                          <a:spcPts val="0"/>
                        </a:spcBef>
                        <a:spcAft>
                          <a:spcPts val="0"/>
                        </a:spcAft>
                        <a:buNone/>
                      </a:pPr>
                      <a:r>
                        <a:rPr b="1" lang="en-US" sz="1900">
                          <a:latin typeface="Calibri"/>
                          <a:ea typeface="Calibri"/>
                          <a:cs typeface="Calibri"/>
                          <a:sym typeface="Calibri"/>
                        </a:rPr>
                        <a:t>Anemia</a:t>
                      </a:r>
                      <a:endParaRPr b="1" sz="190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900">
                          <a:latin typeface="Calibri"/>
                          <a:ea typeface="Calibri"/>
                          <a:cs typeface="Calibri"/>
                          <a:sym typeface="Calibri"/>
                        </a:rPr>
                        <a:t>5.76</a:t>
                      </a:r>
                      <a:endParaRPr b="1" sz="190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900">
                          <a:latin typeface="Calibri"/>
                          <a:ea typeface="Calibri"/>
                          <a:cs typeface="Calibri"/>
                          <a:sym typeface="Calibri"/>
                        </a:rPr>
                        <a:t>0.67</a:t>
                      </a:r>
                      <a:endParaRPr b="1" sz="190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80350">
                <a:tc>
                  <a:txBody>
                    <a:bodyPr/>
                    <a:lstStyle/>
                    <a:p>
                      <a:pPr indent="0" lvl="0" marL="0" rtl="0" algn="ctr">
                        <a:lnSpc>
                          <a:spcPct val="115000"/>
                        </a:lnSpc>
                        <a:spcBef>
                          <a:spcPts val="0"/>
                        </a:spcBef>
                        <a:spcAft>
                          <a:spcPts val="0"/>
                        </a:spcAft>
                        <a:buNone/>
                      </a:pPr>
                      <a:r>
                        <a:rPr b="1" lang="en-US" sz="1900">
                          <a:latin typeface="Calibri"/>
                          <a:ea typeface="Calibri"/>
                          <a:cs typeface="Calibri"/>
                          <a:sym typeface="Calibri"/>
                        </a:rPr>
                        <a:t>Stunting</a:t>
                      </a:r>
                      <a:endParaRPr b="1" sz="190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900">
                          <a:latin typeface="Calibri"/>
                          <a:ea typeface="Calibri"/>
                          <a:cs typeface="Calibri"/>
                          <a:sym typeface="Calibri"/>
                        </a:rPr>
                        <a:t>12.97</a:t>
                      </a:r>
                      <a:endParaRPr b="1" sz="190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900">
                          <a:latin typeface="Calibri"/>
                          <a:ea typeface="Calibri"/>
                          <a:cs typeface="Calibri"/>
                          <a:sym typeface="Calibri"/>
                        </a:rPr>
                        <a:t>0.11</a:t>
                      </a:r>
                      <a:endParaRPr b="1" sz="190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84" name="Google Shape;284;p65"/>
          <p:cNvSpPr txBox="1"/>
          <p:nvPr/>
        </p:nvSpPr>
        <p:spPr>
          <a:xfrm>
            <a:off x="917850" y="2663450"/>
            <a:ext cx="3234600" cy="7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a:solidFill>
                  <a:srgbClr val="212325"/>
                </a:solidFill>
                <a:latin typeface="DM Sans"/>
                <a:ea typeface="DM Sans"/>
                <a:cs typeface="DM Sans"/>
                <a:sym typeface="DM Sans"/>
              </a:rPr>
              <a:t>At 0.10 cutoff, both models show a reasonable fit to the data</a:t>
            </a:r>
            <a:endParaRPr b="1" sz="1800">
              <a:solidFill>
                <a:srgbClr val="212325"/>
              </a:solidFill>
              <a:latin typeface="DM Sans"/>
              <a:ea typeface="DM Sans"/>
              <a:cs typeface="DM Sans"/>
              <a:sym typeface="DM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66"/>
          <p:cNvSpPr/>
          <p:nvPr/>
        </p:nvSpPr>
        <p:spPr>
          <a:xfrm>
            <a:off x="8305005" y="0"/>
            <a:ext cx="38871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0" name="Google Shape;290;p66"/>
          <p:cNvSpPr txBox="1"/>
          <p:nvPr/>
        </p:nvSpPr>
        <p:spPr>
          <a:xfrm>
            <a:off x="479425" y="764540"/>
            <a:ext cx="11355000" cy="388500"/>
          </a:xfrm>
          <a:prstGeom prst="rect">
            <a:avLst/>
          </a:prstGeom>
          <a:noFill/>
          <a:ln>
            <a:noFill/>
          </a:ln>
        </p:spPr>
        <p:txBody>
          <a:bodyPr anchorCtr="0" anchor="t" bIns="45700" lIns="91425" spcFirstLastPara="1" rIns="91425" wrap="square" tIns="45700">
            <a:noAutofit/>
          </a:bodyPr>
          <a:lstStyle/>
          <a:p>
            <a:pPr indent="0" lvl="0" marL="0" rtl="0" algn="l">
              <a:lnSpc>
                <a:spcPct val="85000"/>
              </a:lnSpc>
              <a:spcBef>
                <a:spcPts val="0"/>
              </a:spcBef>
              <a:spcAft>
                <a:spcPts val="0"/>
              </a:spcAft>
              <a:buClr>
                <a:schemeClr val="dk1"/>
              </a:buClr>
              <a:buSzPts val="1100"/>
              <a:buFont typeface="Arial"/>
              <a:buNone/>
            </a:pPr>
            <a:r>
              <a:rPr b="1" lang="en-US" sz="2400">
                <a:solidFill>
                  <a:schemeClr val="accent2"/>
                </a:solidFill>
                <a:latin typeface="DM Sans"/>
                <a:ea typeface="DM Sans"/>
                <a:cs typeface="DM Sans"/>
                <a:sym typeface="DM Sans"/>
              </a:rPr>
              <a:t>Prediction Accuracy</a:t>
            </a:r>
            <a:endParaRPr b="1" sz="2400">
              <a:solidFill>
                <a:schemeClr val="accent2"/>
              </a:solidFill>
              <a:latin typeface="DM Sans"/>
              <a:ea typeface="DM Sans"/>
              <a:cs typeface="DM Sans"/>
              <a:sym typeface="DM Sans"/>
            </a:endParaRPr>
          </a:p>
          <a:p>
            <a:pPr indent="0" lvl="0" marL="0" rtl="0" algn="l">
              <a:lnSpc>
                <a:spcPct val="85000"/>
              </a:lnSpc>
              <a:spcBef>
                <a:spcPts val="0"/>
              </a:spcBef>
              <a:spcAft>
                <a:spcPts val="0"/>
              </a:spcAft>
              <a:buClr>
                <a:schemeClr val="dk1"/>
              </a:buClr>
              <a:buSzPts val="1100"/>
              <a:buFont typeface="Arial"/>
              <a:buNone/>
            </a:pPr>
            <a:r>
              <a:t/>
            </a:r>
            <a:endParaRPr b="1" sz="2600">
              <a:solidFill>
                <a:schemeClr val="accent2"/>
              </a:solidFill>
              <a:latin typeface="DM Sans"/>
              <a:ea typeface="DM Sans"/>
              <a:cs typeface="DM Sans"/>
              <a:sym typeface="DM Sans"/>
            </a:endParaRPr>
          </a:p>
          <a:p>
            <a:pPr indent="0" lvl="0" marL="0" marR="0" rtl="0" algn="l">
              <a:lnSpc>
                <a:spcPct val="85000"/>
              </a:lnSpc>
              <a:spcBef>
                <a:spcPts val="0"/>
              </a:spcBef>
              <a:spcAft>
                <a:spcPts val="0"/>
              </a:spcAft>
              <a:buClr>
                <a:srgbClr val="000000"/>
              </a:buClr>
              <a:buSzPts val="2600"/>
              <a:buFont typeface="Arial"/>
              <a:buNone/>
            </a:pPr>
            <a:r>
              <a:t/>
            </a:r>
            <a:endParaRPr b="1" sz="2600">
              <a:solidFill>
                <a:schemeClr val="accent2"/>
              </a:solidFill>
              <a:latin typeface="DM Sans"/>
              <a:ea typeface="DM Sans"/>
              <a:cs typeface="DM Sans"/>
              <a:sym typeface="DM Sans"/>
            </a:endParaRPr>
          </a:p>
        </p:txBody>
      </p:sp>
      <p:sp>
        <p:nvSpPr>
          <p:cNvPr id="291" name="Google Shape;291;p66"/>
          <p:cNvSpPr/>
          <p:nvPr/>
        </p:nvSpPr>
        <p:spPr>
          <a:xfrm>
            <a:off x="476250" y="1542232"/>
            <a:ext cx="11236200" cy="47517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92" name="Google Shape;292;p66"/>
          <p:cNvPicPr preferRelativeResize="0"/>
          <p:nvPr/>
        </p:nvPicPr>
        <p:blipFill>
          <a:blip r:embed="rId3">
            <a:alphaModFix/>
          </a:blip>
          <a:stretch>
            <a:fillRect/>
          </a:stretch>
        </p:blipFill>
        <p:spPr>
          <a:xfrm>
            <a:off x="917850" y="2515787"/>
            <a:ext cx="4971299" cy="2982775"/>
          </a:xfrm>
          <a:prstGeom prst="rect">
            <a:avLst/>
          </a:prstGeom>
          <a:noFill/>
          <a:ln>
            <a:noFill/>
          </a:ln>
        </p:spPr>
      </p:pic>
      <p:pic>
        <p:nvPicPr>
          <p:cNvPr id="293" name="Google Shape;293;p66"/>
          <p:cNvPicPr preferRelativeResize="0"/>
          <p:nvPr/>
        </p:nvPicPr>
        <p:blipFill>
          <a:blip r:embed="rId4">
            <a:alphaModFix/>
          </a:blip>
          <a:stretch>
            <a:fillRect/>
          </a:stretch>
        </p:blipFill>
        <p:spPr>
          <a:xfrm>
            <a:off x="6273730" y="2515787"/>
            <a:ext cx="4971291" cy="2982775"/>
          </a:xfrm>
          <a:prstGeom prst="rect">
            <a:avLst/>
          </a:prstGeom>
          <a:noFill/>
          <a:ln>
            <a:noFill/>
          </a:ln>
        </p:spPr>
      </p:pic>
      <p:sp>
        <p:nvSpPr>
          <p:cNvPr id="294" name="Google Shape;294;p66"/>
          <p:cNvSpPr txBox="1"/>
          <p:nvPr/>
        </p:nvSpPr>
        <p:spPr>
          <a:xfrm>
            <a:off x="917854" y="1964925"/>
            <a:ext cx="2780400" cy="323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1" lang="en-US" sz="1800">
                <a:solidFill>
                  <a:schemeClr val="accent2"/>
                </a:solidFill>
                <a:latin typeface="DM Sans"/>
                <a:ea typeface="DM Sans"/>
                <a:cs typeface="DM Sans"/>
                <a:sym typeface="DM Sans"/>
              </a:rPr>
              <a:t>ROC-Anemia</a:t>
            </a:r>
            <a:endParaRPr b="1" i="0" sz="1800" u="none" cap="none" strike="noStrike">
              <a:solidFill>
                <a:schemeClr val="accent2"/>
              </a:solidFill>
              <a:latin typeface="DM Sans"/>
              <a:ea typeface="DM Sans"/>
              <a:cs typeface="DM Sans"/>
              <a:sym typeface="DM Sans"/>
            </a:endParaRPr>
          </a:p>
        </p:txBody>
      </p:sp>
      <p:sp>
        <p:nvSpPr>
          <p:cNvPr id="295" name="Google Shape;295;p66"/>
          <p:cNvSpPr txBox="1"/>
          <p:nvPr/>
        </p:nvSpPr>
        <p:spPr>
          <a:xfrm>
            <a:off x="6273729" y="1964925"/>
            <a:ext cx="2780400" cy="323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1" lang="en-US" sz="1800">
                <a:solidFill>
                  <a:schemeClr val="accent2"/>
                </a:solidFill>
                <a:latin typeface="DM Sans"/>
                <a:ea typeface="DM Sans"/>
                <a:cs typeface="DM Sans"/>
                <a:sym typeface="DM Sans"/>
              </a:rPr>
              <a:t>ROC-Anemia</a:t>
            </a:r>
            <a:endParaRPr b="1" i="0" sz="1800" u="none" cap="none" strike="noStrike">
              <a:solidFill>
                <a:schemeClr val="accent2"/>
              </a:solidFill>
              <a:latin typeface="DM Sans"/>
              <a:ea typeface="DM Sans"/>
              <a:cs typeface="DM Sans"/>
              <a:sym typeface="DM Sans"/>
            </a:endParaRPr>
          </a:p>
        </p:txBody>
      </p:sp>
      <p:sp>
        <p:nvSpPr>
          <p:cNvPr id="296" name="Google Shape;296;p66"/>
          <p:cNvSpPr txBox="1"/>
          <p:nvPr/>
        </p:nvSpPr>
        <p:spPr>
          <a:xfrm>
            <a:off x="917850" y="5648062"/>
            <a:ext cx="4533000" cy="323100"/>
          </a:xfrm>
          <a:prstGeom prst="rect">
            <a:avLst/>
          </a:prstGeom>
          <a:noFill/>
          <a:ln>
            <a:noFill/>
          </a:ln>
        </p:spPr>
        <p:txBody>
          <a:bodyPr anchorCtr="0" anchor="t" bIns="45700" lIns="91425" spcFirstLastPara="1" rIns="91425" wrap="square" tIns="45700">
            <a:noAutofit/>
          </a:bodyPr>
          <a:lstStyle/>
          <a:p>
            <a:pPr indent="-196850" lvl="0" marL="171450" marR="0" rtl="0" algn="l">
              <a:lnSpc>
                <a:spcPct val="150000"/>
              </a:lnSpc>
              <a:spcBef>
                <a:spcPts val="0"/>
              </a:spcBef>
              <a:spcAft>
                <a:spcPts val="0"/>
              </a:spcAft>
              <a:buClr>
                <a:srgbClr val="000000"/>
              </a:buClr>
              <a:buSzPts val="1600"/>
              <a:buFont typeface="Arial"/>
              <a:buChar char="•"/>
            </a:pPr>
            <a:r>
              <a:rPr lang="en-US" sz="1600">
                <a:solidFill>
                  <a:schemeClr val="accent2"/>
                </a:solidFill>
                <a:latin typeface="DM Sans"/>
                <a:ea typeface="DM Sans"/>
                <a:cs typeface="DM Sans"/>
                <a:sym typeface="DM Sans"/>
              </a:rPr>
              <a:t>AUC = 0.71, indicating good discrimination</a:t>
            </a:r>
            <a:endParaRPr b="0" i="0" sz="1200" u="none" cap="none" strike="noStrike">
              <a:solidFill>
                <a:schemeClr val="accent2"/>
              </a:solidFill>
              <a:latin typeface="DM Sans"/>
              <a:ea typeface="DM Sans"/>
              <a:cs typeface="DM Sans"/>
              <a:sym typeface="DM Sans"/>
            </a:endParaRPr>
          </a:p>
        </p:txBody>
      </p:sp>
      <p:sp>
        <p:nvSpPr>
          <p:cNvPr id="297" name="Google Shape;297;p66"/>
          <p:cNvSpPr txBox="1"/>
          <p:nvPr/>
        </p:nvSpPr>
        <p:spPr>
          <a:xfrm>
            <a:off x="6273725" y="5648062"/>
            <a:ext cx="4971300" cy="323100"/>
          </a:xfrm>
          <a:prstGeom prst="rect">
            <a:avLst/>
          </a:prstGeom>
          <a:noFill/>
          <a:ln>
            <a:noFill/>
          </a:ln>
        </p:spPr>
        <p:txBody>
          <a:bodyPr anchorCtr="0" anchor="t" bIns="45700" lIns="91425" spcFirstLastPara="1" rIns="91425" wrap="square" tIns="45700">
            <a:noAutofit/>
          </a:bodyPr>
          <a:lstStyle/>
          <a:p>
            <a:pPr indent="-196850" lvl="0" marL="171450" marR="0" rtl="0" algn="l">
              <a:lnSpc>
                <a:spcPct val="150000"/>
              </a:lnSpc>
              <a:spcBef>
                <a:spcPts val="0"/>
              </a:spcBef>
              <a:spcAft>
                <a:spcPts val="0"/>
              </a:spcAft>
              <a:buClr>
                <a:srgbClr val="000000"/>
              </a:buClr>
              <a:buSzPts val="1600"/>
              <a:buFont typeface="Arial"/>
              <a:buChar char="•"/>
            </a:pPr>
            <a:r>
              <a:rPr lang="en-US" sz="1600">
                <a:solidFill>
                  <a:schemeClr val="accent2"/>
                </a:solidFill>
                <a:latin typeface="DM Sans"/>
                <a:ea typeface="DM Sans"/>
                <a:cs typeface="DM Sans"/>
                <a:sym typeface="DM Sans"/>
              </a:rPr>
              <a:t>AUC = 0.86, indicating excellent discrimination</a:t>
            </a:r>
            <a:endParaRPr b="0" i="0" sz="1200" u="none" cap="none" strike="noStrike">
              <a:solidFill>
                <a:schemeClr val="accent2"/>
              </a:solidFill>
              <a:latin typeface="DM Sans"/>
              <a:ea typeface="DM Sans"/>
              <a:cs typeface="DM Sans"/>
              <a:sym typeface="DM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67"/>
          <p:cNvSpPr txBox="1"/>
          <p:nvPr/>
        </p:nvSpPr>
        <p:spPr>
          <a:xfrm>
            <a:off x="479425" y="764550"/>
            <a:ext cx="3516300" cy="107370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00"/>
              </a:buClr>
              <a:buSzPts val="2600"/>
              <a:buFont typeface="Arial"/>
              <a:buNone/>
            </a:pPr>
            <a:r>
              <a:rPr b="1" lang="en-US" sz="2400">
                <a:solidFill>
                  <a:schemeClr val="accent2"/>
                </a:solidFill>
                <a:latin typeface="DM Sans"/>
                <a:ea typeface="DM Sans"/>
                <a:cs typeface="DM Sans"/>
                <a:sym typeface="DM Sans"/>
              </a:rPr>
              <a:t>Mixed-effect</a:t>
            </a:r>
            <a:r>
              <a:rPr b="1" i="0" lang="en-US" sz="2400" u="none" cap="none" strike="noStrike">
                <a:solidFill>
                  <a:schemeClr val="accent2"/>
                </a:solidFill>
                <a:latin typeface="DM Sans"/>
                <a:ea typeface="DM Sans"/>
                <a:cs typeface="DM Sans"/>
                <a:sym typeface="DM Sans"/>
              </a:rPr>
              <a:t> Logistic Regression </a:t>
            </a:r>
            <a:r>
              <a:rPr b="1" lang="en-US" sz="2400">
                <a:solidFill>
                  <a:schemeClr val="accent2"/>
                </a:solidFill>
                <a:latin typeface="DM Sans"/>
                <a:ea typeface="DM Sans"/>
                <a:cs typeface="DM Sans"/>
                <a:sym typeface="DM Sans"/>
              </a:rPr>
              <a:t>- </a:t>
            </a:r>
            <a:r>
              <a:rPr b="1" i="0" lang="en-US" sz="2400" u="none" cap="none" strike="noStrike">
                <a:solidFill>
                  <a:schemeClr val="accent2"/>
                </a:solidFill>
                <a:latin typeface="DM Sans"/>
                <a:ea typeface="DM Sans"/>
                <a:cs typeface="DM Sans"/>
                <a:sym typeface="DM Sans"/>
              </a:rPr>
              <a:t>Anemia</a:t>
            </a:r>
            <a:endParaRPr b="1" i="0" sz="2400" u="none" cap="none" strike="noStrike">
              <a:solidFill>
                <a:schemeClr val="accent2"/>
              </a:solidFill>
              <a:latin typeface="DM Sans"/>
              <a:ea typeface="DM Sans"/>
              <a:cs typeface="DM Sans"/>
              <a:sym typeface="DM Sans"/>
            </a:endParaRPr>
          </a:p>
        </p:txBody>
      </p:sp>
      <p:sp>
        <p:nvSpPr>
          <p:cNvPr id="303" name="Google Shape;303;p67"/>
          <p:cNvSpPr txBox="1"/>
          <p:nvPr/>
        </p:nvSpPr>
        <p:spPr>
          <a:xfrm>
            <a:off x="479425" y="1838250"/>
            <a:ext cx="3626100" cy="4565100"/>
          </a:xfrm>
          <a:prstGeom prst="rect">
            <a:avLst/>
          </a:prstGeom>
          <a:noFill/>
          <a:ln>
            <a:noFill/>
          </a:ln>
        </p:spPr>
        <p:txBody>
          <a:bodyPr anchorCtr="0" anchor="t" bIns="45700" lIns="91425" spcFirstLastPara="1" rIns="91425" wrap="square" tIns="45700">
            <a:noAutofit/>
          </a:bodyPr>
          <a:lstStyle/>
          <a:p>
            <a:pPr indent="-196850" lvl="0" marL="171450" marR="0" rtl="0" algn="l">
              <a:lnSpc>
                <a:spcPct val="150000"/>
              </a:lnSpc>
              <a:spcBef>
                <a:spcPts val="0"/>
              </a:spcBef>
              <a:spcAft>
                <a:spcPts val="0"/>
              </a:spcAft>
              <a:buClr>
                <a:srgbClr val="000000"/>
              </a:buClr>
              <a:buSzPts val="1600"/>
              <a:buFont typeface="Arial"/>
              <a:buChar char="•"/>
            </a:pPr>
            <a:r>
              <a:rPr lang="en-US" sz="1600">
                <a:solidFill>
                  <a:schemeClr val="accent2"/>
                </a:solidFill>
                <a:latin typeface="DM Sans"/>
                <a:ea typeface="DM Sans"/>
                <a:cs typeface="DM Sans"/>
                <a:sym typeface="DM Sans"/>
              </a:rPr>
              <a:t>Accounting for lack of independence [5]</a:t>
            </a:r>
            <a:endParaRPr sz="1600">
              <a:solidFill>
                <a:schemeClr val="accent2"/>
              </a:solidFill>
              <a:latin typeface="DM Sans"/>
              <a:ea typeface="DM Sans"/>
              <a:cs typeface="DM Sans"/>
              <a:sym typeface="DM Sans"/>
            </a:endParaRPr>
          </a:p>
          <a:p>
            <a:pPr indent="-196850" lvl="0" marL="171450" marR="0" rtl="0" algn="l">
              <a:lnSpc>
                <a:spcPct val="150000"/>
              </a:lnSpc>
              <a:spcBef>
                <a:spcPts val="0"/>
              </a:spcBef>
              <a:spcAft>
                <a:spcPts val="0"/>
              </a:spcAft>
              <a:buClr>
                <a:srgbClr val="000000"/>
              </a:buClr>
              <a:buSzPts val="1600"/>
              <a:buFont typeface="Arial"/>
              <a:buChar char="•"/>
            </a:pPr>
            <a:r>
              <a:rPr lang="en-US" sz="1600">
                <a:solidFill>
                  <a:schemeClr val="accent2"/>
                </a:solidFill>
                <a:latin typeface="DM Sans"/>
                <a:ea typeface="DM Sans"/>
                <a:cs typeface="DM Sans"/>
                <a:sym typeface="DM Sans"/>
              </a:rPr>
              <a:t>Results are very similar to the logistic model</a:t>
            </a:r>
            <a:endParaRPr sz="1600">
              <a:solidFill>
                <a:schemeClr val="accent2"/>
              </a:solidFill>
              <a:latin typeface="DM Sans"/>
              <a:ea typeface="DM Sans"/>
              <a:cs typeface="DM Sans"/>
              <a:sym typeface="DM Sans"/>
            </a:endParaRPr>
          </a:p>
          <a:p>
            <a:pPr indent="-196850" lvl="0" marL="171450" marR="0" rtl="0" algn="l">
              <a:lnSpc>
                <a:spcPct val="150000"/>
              </a:lnSpc>
              <a:spcBef>
                <a:spcPts val="0"/>
              </a:spcBef>
              <a:spcAft>
                <a:spcPts val="0"/>
              </a:spcAft>
              <a:buClr>
                <a:srgbClr val="000000"/>
              </a:buClr>
              <a:buSzPts val="1600"/>
              <a:buFont typeface="Arial"/>
              <a:buChar char="•"/>
            </a:pPr>
            <a:r>
              <a:rPr lang="en-US" sz="1600">
                <a:solidFill>
                  <a:schemeClr val="accent2"/>
                </a:solidFill>
                <a:latin typeface="DM Sans"/>
                <a:ea typeface="DM Sans"/>
                <a:cs typeface="DM Sans"/>
                <a:sym typeface="DM Sans"/>
              </a:rPr>
              <a:t>Cluster-level variance (0.08) is small → little added variability</a:t>
            </a:r>
            <a:endParaRPr sz="1600">
              <a:solidFill>
                <a:schemeClr val="accent2"/>
              </a:solidFill>
              <a:latin typeface="DM Sans"/>
              <a:ea typeface="DM Sans"/>
              <a:cs typeface="DM Sans"/>
              <a:sym typeface="DM Sans"/>
            </a:endParaRPr>
          </a:p>
          <a:p>
            <a:pPr indent="-196850" lvl="0" marL="171450" marR="0" rtl="0" algn="l">
              <a:lnSpc>
                <a:spcPct val="150000"/>
              </a:lnSpc>
              <a:spcBef>
                <a:spcPts val="0"/>
              </a:spcBef>
              <a:spcAft>
                <a:spcPts val="0"/>
              </a:spcAft>
              <a:buClr>
                <a:srgbClr val="000000"/>
              </a:buClr>
              <a:buSzPts val="1600"/>
              <a:buFont typeface="Arial"/>
              <a:buChar char="•"/>
            </a:pPr>
            <a:r>
              <a:rPr lang="en-US" sz="1600">
                <a:solidFill>
                  <a:schemeClr val="accent2"/>
                </a:solidFill>
                <a:latin typeface="DM Sans"/>
                <a:ea typeface="DM Sans"/>
                <a:cs typeface="DM Sans"/>
                <a:sym typeface="DM Sans"/>
              </a:rPr>
              <a:t>LR test (p-value = 0.17) is not significant → random effects not statistically required</a:t>
            </a:r>
            <a:endParaRPr sz="1600">
              <a:solidFill>
                <a:schemeClr val="accent2"/>
              </a:solidFill>
              <a:latin typeface="DM Sans"/>
              <a:ea typeface="DM Sans"/>
              <a:cs typeface="DM Sans"/>
              <a:sym typeface="DM Sans"/>
            </a:endParaRPr>
          </a:p>
          <a:p>
            <a:pPr indent="-196850" lvl="0" marL="171450" marR="0" rtl="0" algn="l">
              <a:lnSpc>
                <a:spcPct val="150000"/>
              </a:lnSpc>
              <a:spcBef>
                <a:spcPts val="0"/>
              </a:spcBef>
              <a:spcAft>
                <a:spcPts val="0"/>
              </a:spcAft>
              <a:buClr>
                <a:srgbClr val="000000"/>
              </a:buClr>
              <a:buSzPts val="1600"/>
              <a:buFont typeface="Arial"/>
              <a:buChar char="•"/>
            </a:pPr>
            <a:r>
              <a:rPr lang="en-US" sz="1600">
                <a:solidFill>
                  <a:schemeClr val="accent2"/>
                </a:solidFill>
                <a:latin typeface="DM Sans"/>
                <a:ea typeface="DM Sans"/>
                <a:cs typeface="DM Sans"/>
                <a:sym typeface="DM Sans"/>
              </a:rPr>
              <a:t>But data are not independent, so a mixed-effects model remains the appropriate choice</a:t>
            </a:r>
            <a:endParaRPr b="0" i="0" sz="1200" u="none" cap="none" strike="noStrike">
              <a:solidFill>
                <a:schemeClr val="accent2"/>
              </a:solidFill>
              <a:latin typeface="DM Sans"/>
              <a:ea typeface="DM Sans"/>
              <a:cs typeface="DM Sans"/>
              <a:sym typeface="DM Sans"/>
            </a:endParaRPr>
          </a:p>
        </p:txBody>
      </p:sp>
      <p:graphicFrame>
        <p:nvGraphicFramePr>
          <p:cNvPr id="304" name="Google Shape;304;p67"/>
          <p:cNvGraphicFramePr/>
          <p:nvPr/>
        </p:nvGraphicFramePr>
        <p:xfrm>
          <a:off x="5129750" y="2088"/>
          <a:ext cx="3000000" cy="3000000"/>
        </p:xfrm>
        <a:graphic>
          <a:graphicData uri="http://schemas.openxmlformats.org/drawingml/2006/table">
            <a:tbl>
              <a:tblPr>
                <a:noFill/>
                <a:tableStyleId>{4114AE29-F4E9-42FB-9A9B-1C0D1D059E13}</a:tableStyleId>
              </a:tblPr>
              <a:tblGrid>
                <a:gridCol w="2816425"/>
                <a:gridCol w="1162000"/>
                <a:gridCol w="1043850"/>
                <a:gridCol w="1536225"/>
              </a:tblGrid>
              <a:tr h="376925">
                <a:tc>
                  <a:txBody>
                    <a:bodyPr/>
                    <a:lstStyle/>
                    <a:p>
                      <a:pPr indent="0" lvl="0" marL="0" rtl="0" algn="ctr">
                        <a:lnSpc>
                          <a:spcPct val="115000"/>
                        </a:lnSpc>
                        <a:spcBef>
                          <a:spcPts val="0"/>
                        </a:spcBef>
                        <a:spcAft>
                          <a:spcPts val="0"/>
                        </a:spcAft>
                        <a:buNone/>
                      </a:pPr>
                      <a:r>
                        <a:rPr b="1" lang="en-US" sz="1850">
                          <a:solidFill>
                            <a:srgbClr val="FFFFFF"/>
                          </a:solidFill>
                          <a:latin typeface="Calibri"/>
                          <a:ea typeface="Calibri"/>
                          <a:cs typeface="Calibri"/>
                          <a:sym typeface="Calibri"/>
                        </a:rPr>
                        <a:t>Variable</a:t>
                      </a:r>
                      <a:endParaRPr b="1" sz="1850">
                        <a:solidFill>
                          <a:srgbClr val="FFFFFF"/>
                        </a:solidFill>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US" sz="1850">
                          <a:solidFill>
                            <a:srgbClr val="FFFFFF"/>
                          </a:solidFill>
                          <a:latin typeface="Calibri"/>
                          <a:ea typeface="Calibri"/>
                          <a:cs typeface="Calibri"/>
                          <a:sym typeface="Calibri"/>
                        </a:rPr>
                        <a:t>Odds Ratio </a:t>
                      </a:r>
                      <a:endParaRPr b="1" sz="1850">
                        <a:solidFill>
                          <a:srgbClr val="FFFFFF"/>
                        </a:solidFill>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US" sz="1850">
                          <a:solidFill>
                            <a:srgbClr val="FFFFFF"/>
                          </a:solidFill>
                          <a:latin typeface="Calibri"/>
                          <a:ea typeface="Calibri"/>
                          <a:cs typeface="Calibri"/>
                          <a:sym typeface="Calibri"/>
                        </a:rPr>
                        <a:t>p-value</a:t>
                      </a:r>
                      <a:endParaRPr b="1" sz="1850">
                        <a:solidFill>
                          <a:srgbClr val="FFFFFF"/>
                        </a:solidFill>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US" sz="1850">
                          <a:solidFill>
                            <a:srgbClr val="FFFFFF"/>
                          </a:solidFill>
                          <a:latin typeface="Calibri"/>
                          <a:ea typeface="Calibri"/>
                          <a:cs typeface="Calibri"/>
                          <a:sym typeface="Calibri"/>
                        </a:rPr>
                        <a:t>95% CI</a:t>
                      </a:r>
                      <a:endParaRPr b="1" sz="1850">
                        <a:solidFill>
                          <a:srgbClr val="FFFFFF"/>
                        </a:solidFill>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2"/>
                    </a:solidFill>
                  </a:tcPr>
                </a:tc>
              </a:tr>
              <a:tr h="441875">
                <a:tc>
                  <a:txBody>
                    <a:bodyPr/>
                    <a:lstStyle/>
                    <a:p>
                      <a:pPr indent="0" lvl="0" marL="0" rtl="0" algn="l">
                        <a:lnSpc>
                          <a:spcPct val="115000"/>
                        </a:lnSpc>
                        <a:spcBef>
                          <a:spcPts val="0"/>
                        </a:spcBef>
                        <a:spcAft>
                          <a:spcPts val="0"/>
                        </a:spcAft>
                        <a:buNone/>
                      </a:pPr>
                      <a:r>
                        <a:rPr b="1" lang="en-US" sz="1850">
                          <a:latin typeface="Calibri"/>
                          <a:ea typeface="Calibri"/>
                          <a:cs typeface="Calibri"/>
                          <a:sym typeface="Calibri"/>
                        </a:rPr>
                        <a:t>Region (Barisal)</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b="1" sz="1850"/>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b="1" sz="1850"/>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b="1" sz="1850"/>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8700">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Chittagong</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0.72</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0.080</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0.5 – 1.04</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8700">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Dhaka</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0.60</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0.007</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0.41 – 0.87</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8700">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Khulna</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0.91</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0.635</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0.61 – 1.35</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8700">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Rajshahi</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0.65</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0.032</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0.44 – 0.96</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8700">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Rangpur</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0.89</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0.554</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0.60 – 1.31</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8700">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Sylhet</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0.61</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0.009</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0.42 – 0.89</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41875">
                <a:tc>
                  <a:txBody>
                    <a:bodyPr/>
                    <a:lstStyle/>
                    <a:p>
                      <a:pPr indent="0" lvl="0" marL="0" rtl="0" algn="l">
                        <a:lnSpc>
                          <a:spcPct val="115000"/>
                        </a:lnSpc>
                        <a:spcBef>
                          <a:spcPts val="0"/>
                        </a:spcBef>
                        <a:spcAft>
                          <a:spcPts val="0"/>
                        </a:spcAft>
                        <a:buNone/>
                      </a:pPr>
                      <a:r>
                        <a:rPr b="1" lang="en-US" sz="1850">
                          <a:latin typeface="Calibri"/>
                          <a:ea typeface="Calibri"/>
                          <a:cs typeface="Calibri"/>
                          <a:sym typeface="Calibri"/>
                        </a:rPr>
                        <a:t>Socioeconomic Status (Poor)</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b="1" sz="1850"/>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b="1" sz="1850"/>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b="1" sz="1850"/>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8700">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Middle</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0.84</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0.199</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0.65 – 1.094</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8700">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Rich</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0.71</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0.002</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0.57 – 0.89</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66650">
                <a:tc>
                  <a:txBody>
                    <a:bodyPr/>
                    <a:lstStyle/>
                    <a:p>
                      <a:pPr indent="0" lvl="0" marL="0" rtl="0" algn="l">
                        <a:lnSpc>
                          <a:spcPct val="115000"/>
                        </a:lnSpc>
                        <a:spcBef>
                          <a:spcPts val="0"/>
                        </a:spcBef>
                        <a:spcAft>
                          <a:spcPts val="0"/>
                        </a:spcAft>
                        <a:buNone/>
                      </a:pPr>
                      <a:r>
                        <a:rPr b="1" lang="en-US" sz="1850">
                          <a:latin typeface="Calibri"/>
                          <a:ea typeface="Calibri"/>
                          <a:cs typeface="Calibri"/>
                          <a:sym typeface="Calibri"/>
                        </a:rPr>
                        <a:t>Mother age at first birth (year)</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0.96</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0.006</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0.93 – 0.99</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8700">
                <a:tc>
                  <a:txBody>
                    <a:bodyPr/>
                    <a:lstStyle/>
                    <a:p>
                      <a:pPr indent="0" lvl="0" marL="0" rtl="0" algn="l">
                        <a:lnSpc>
                          <a:spcPct val="115000"/>
                        </a:lnSpc>
                        <a:spcBef>
                          <a:spcPts val="0"/>
                        </a:spcBef>
                        <a:spcAft>
                          <a:spcPts val="0"/>
                        </a:spcAft>
                        <a:buNone/>
                      </a:pPr>
                      <a:r>
                        <a:rPr b="1" lang="en-US" sz="1850">
                          <a:latin typeface="Calibri"/>
                          <a:ea typeface="Calibri"/>
                          <a:cs typeface="Calibri"/>
                          <a:sym typeface="Calibri"/>
                        </a:rPr>
                        <a:t>Mother hemoglobin (g/dL)</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0.97</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&lt;0.001</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0.97 – 0.98</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8700">
                <a:tc>
                  <a:txBody>
                    <a:bodyPr/>
                    <a:lstStyle/>
                    <a:p>
                      <a:pPr indent="0" lvl="0" marL="0" rtl="0" algn="l">
                        <a:lnSpc>
                          <a:spcPct val="115000"/>
                        </a:lnSpc>
                        <a:spcBef>
                          <a:spcPts val="0"/>
                        </a:spcBef>
                        <a:spcAft>
                          <a:spcPts val="0"/>
                        </a:spcAft>
                        <a:buNone/>
                      </a:pPr>
                      <a:r>
                        <a:rPr b="1" lang="en-US" sz="1850">
                          <a:latin typeface="Calibri"/>
                          <a:ea typeface="Calibri"/>
                          <a:cs typeface="Calibri"/>
                          <a:sym typeface="Calibri"/>
                        </a:rPr>
                        <a:t>Child age (months)</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0.96</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&lt;0.001</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0.96 – 0.97</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8700">
                <a:tc>
                  <a:txBody>
                    <a:bodyPr/>
                    <a:lstStyle/>
                    <a:p>
                      <a:pPr indent="0" lvl="0" marL="0" rtl="0" algn="l">
                        <a:lnSpc>
                          <a:spcPct val="115000"/>
                        </a:lnSpc>
                        <a:spcBef>
                          <a:spcPts val="0"/>
                        </a:spcBef>
                        <a:spcAft>
                          <a:spcPts val="0"/>
                        </a:spcAft>
                        <a:buNone/>
                      </a:pPr>
                      <a:r>
                        <a:rPr b="1" lang="en-US" sz="1850">
                          <a:latin typeface="Calibri"/>
                          <a:ea typeface="Calibri"/>
                          <a:cs typeface="Calibri"/>
                          <a:sym typeface="Calibri"/>
                        </a:rPr>
                        <a:t>WAZ</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0.99</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0.013</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0.998 – 1.0</a:t>
                      </a:r>
                      <a:endParaRPr b="1" sz="1850">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68"/>
          <p:cNvSpPr txBox="1"/>
          <p:nvPr/>
        </p:nvSpPr>
        <p:spPr>
          <a:xfrm>
            <a:off x="479425" y="1838250"/>
            <a:ext cx="3626100" cy="4565100"/>
          </a:xfrm>
          <a:prstGeom prst="rect">
            <a:avLst/>
          </a:prstGeom>
          <a:noFill/>
          <a:ln>
            <a:noFill/>
          </a:ln>
        </p:spPr>
        <p:txBody>
          <a:bodyPr anchorCtr="0" anchor="t" bIns="45700" lIns="91425" spcFirstLastPara="1" rIns="91425" wrap="square" tIns="45700">
            <a:noAutofit/>
          </a:bodyPr>
          <a:lstStyle/>
          <a:p>
            <a:pPr indent="-196850" lvl="0" marL="171450" marR="0" rtl="0" algn="l">
              <a:lnSpc>
                <a:spcPct val="150000"/>
              </a:lnSpc>
              <a:spcBef>
                <a:spcPts val="0"/>
              </a:spcBef>
              <a:spcAft>
                <a:spcPts val="0"/>
              </a:spcAft>
              <a:buClr>
                <a:srgbClr val="000000"/>
              </a:buClr>
              <a:buSzPts val="1600"/>
              <a:buFont typeface="Arial"/>
              <a:buChar char="•"/>
            </a:pPr>
            <a:r>
              <a:rPr lang="en-US" sz="1600">
                <a:solidFill>
                  <a:schemeClr val="accent2"/>
                </a:solidFill>
                <a:latin typeface="DM Sans"/>
                <a:ea typeface="DM Sans"/>
                <a:cs typeface="DM Sans"/>
                <a:sym typeface="DM Sans"/>
              </a:rPr>
              <a:t>Accounting for lack of independence [5]</a:t>
            </a:r>
            <a:endParaRPr sz="1600">
              <a:solidFill>
                <a:schemeClr val="accent2"/>
              </a:solidFill>
              <a:latin typeface="DM Sans"/>
              <a:ea typeface="DM Sans"/>
              <a:cs typeface="DM Sans"/>
              <a:sym typeface="DM Sans"/>
            </a:endParaRPr>
          </a:p>
          <a:p>
            <a:pPr indent="-196850" lvl="0" marL="171450" marR="0" rtl="0" algn="l">
              <a:lnSpc>
                <a:spcPct val="150000"/>
              </a:lnSpc>
              <a:spcBef>
                <a:spcPts val="0"/>
              </a:spcBef>
              <a:spcAft>
                <a:spcPts val="0"/>
              </a:spcAft>
              <a:buClr>
                <a:srgbClr val="000000"/>
              </a:buClr>
              <a:buSzPts val="1600"/>
              <a:buFont typeface="Arial"/>
              <a:buChar char="•"/>
            </a:pPr>
            <a:r>
              <a:rPr lang="en-US" sz="1600">
                <a:solidFill>
                  <a:schemeClr val="accent2"/>
                </a:solidFill>
                <a:latin typeface="DM Sans"/>
                <a:ea typeface="DM Sans"/>
                <a:cs typeface="DM Sans"/>
                <a:sym typeface="DM Sans"/>
              </a:rPr>
              <a:t>Results are very similar to the Multivariable logistic model</a:t>
            </a:r>
            <a:endParaRPr sz="1600">
              <a:solidFill>
                <a:schemeClr val="accent2"/>
              </a:solidFill>
              <a:latin typeface="DM Sans"/>
              <a:ea typeface="DM Sans"/>
              <a:cs typeface="DM Sans"/>
              <a:sym typeface="DM Sans"/>
            </a:endParaRPr>
          </a:p>
          <a:p>
            <a:pPr indent="-196850" lvl="0" marL="171450" marR="0" rtl="0" algn="l">
              <a:lnSpc>
                <a:spcPct val="150000"/>
              </a:lnSpc>
              <a:spcBef>
                <a:spcPts val="0"/>
              </a:spcBef>
              <a:spcAft>
                <a:spcPts val="0"/>
              </a:spcAft>
              <a:buClr>
                <a:srgbClr val="000000"/>
              </a:buClr>
              <a:buSzPts val="1600"/>
              <a:buFont typeface="Arial"/>
              <a:buChar char="•"/>
            </a:pPr>
            <a:r>
              <a:rPr lang="en-US" sz="1600">
                <a:solidFill>
                  <a:schemeClr val="accent2"/>
                </a:solidFill>
                <a:latin typeface="DM Sans"/>
                <a:ea typeface="DM Sans"/>
                <a:cs typeface="DM Sans"/>
                <a:sym typeface="DM Sans"/>
              </a:rPr>
              <a:t>Cluster-level variance (0.14) is small → little added variability</a:t>
            </a:r>
            <a:endParaRPr sz="1600">
              <a:solidFill>
                <a:schemeClr val="accent2"/>
              </a:solidFill>
              <a:latin typeface="DM Sans"/>
              <a:ea typeface="DM Sans"/>
              <a:cs typeface="DM Sans"/>
              <a:sym typeface="DM Sans"/>
            </a:endParaRPr>
          </a:p>
          <a:p>
            <a:pPr indent="-196850" lvl="0" marL="171450" marR="0" rtl="0" algn="l">
              <a:lnSpc>
                <a:spcPct val="150000"/>
              </a:lnSpc>
              <a:spcBef>
                <a:spcPts val="0"/>
              </a:spcBef>
              <a:spcAft>
                <a:spcPts val="0"/>
              </a:spcAft>
              <a:buClr>
                <a:srgbClr val="000000"/>
              </a:buClr>
              <a:buSzPts val="1600"/>
              <a:buFont typeface="Arial"/>
              <a:buChar char="•"/>
            </a:pPr>
            <a:r>
              <a:rPr lang="en-US" sz="1600">
                <a:solidFill>
                  <a:schemeClr val="accent2"/>
                </a:solidFill>
                <a:latin typeface="DM Sans"/>
                <a:ea typeface="DM Sans"/>
                <a:cs typeface="DM Sans"/>
                <a:sym typeface="DM Sans"/>
              </a:rPr>
              <a:t>LR test is significant (p-value = 0.02)→ random effects statistically improved the model</a:t>
            </a:r>
            <a:endParaRPr sz="1600">
              <a:solidFill>
                <a:schemeClr val="accent2"/>
              </a:solidFill>
              <a:latin typeface="DM Sans"/>
              <a:ea typeface="DM Sans"/>
              <a:cs typeface="DM Sans"/>
              <a:sym typeface="DM Sans"/>
            </a:endParaRPr>
          </a:p>
          <a:p>
            <a:pPr indent="-196850" lvl="0" marL="171450" marR="0" rtl="0" algn="l">
              <a:lnSpc>
                <a:spcPct val="150000"/>
              </a:lnSpc>
              <a:spcBef>
                <a:spcPts val="0"/>
              </a:spcBef>
              <a:spcAft>
                <a:spcPts val="0"/>
              </a:spcAft>
              <a:buClr>
                <a:srgbClr val="000000"/>
              </a:buClr>
              <a:buSzPts val="1600"/>
              <a:buFont typeface="Arial"/>
              <a:buChar char="•"/>
            </a:pPr>
            <a:r>
              <a:rPr lang="en-US" sz="1600">
                <a:solidFill>
                  <a:schemeClr val="accent2"/>
                </a:solidFill>
                <a:latin typeface="DM Sans"/>
                <a:ea typeface="DM Sans"/>
                <a:cs typeface="DM Sans"/>
                <a:sym typeface="DM Sans"/>
              </a:rPr>
              <a:t>Mix-effect logistics is the preferred model for Stunting</a:t>
            </a:r>
            <a:endParaRPr b="0" i="0" sz="1200" u="none" cap="none" strike="noStrike">
              <a:solidFill>
                <a:schemeClr val="accent2"/>
              </a:solidFill>
              <a:latin typeface="DM Sans"/>
              <a:ea typeface="DM Sans"/>
              <a:cs typeface="DM Sans"/>
              <a:sym typeface="DM Sans"/>
            </a:endParaRPr>
          </a:p>
        </p:txBody>
      </p:sp>
      <p:sp>
        <p:nvSpPr>
          <p:cNvPr id="310" name="Google Shape;310;p68"/>
          <p:cNvSpPr txBox="1"/>
          <p:nvPr/>
        </p:nvSpPr>
        <p:spPr>
          <a:xfrm>
            <a:off x="479425" y="764550"/>
            <a:ext cx="3500700" cy="128730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00"/>
              </a:buClr>
              <a:buSzPts val="2600"/>
              <a:buFont typeface="Arial"/>
              <a:buNone/>
            </a:pPr>
            <a:r>
              <a:rPr b="1" lang="en-US" sz="2400">
                <a:solidFill>
                  <a:schemeClr val="accent2"/>
                </a:solidFill>
                <a:latin typeface="DM Sans"/>
                <a:ea typeface="DM Sans"/>
                <a:cs typeface="DM Sans"/>
                <a:sym typeface="DM Sans"/>
              </a:rPr>
              <a:t>Mixed-effect Logistic Regression (Stunting)</a:t>
            </a:r>
            <a:endParaRPr b="1" i="0" sz="2400" u="none" cap="none" strike="noStrike">
              <a:solidFill>
                <a:schemeClr val="accent2"/>
              </a:solidFill>
              <a:latin typeface="DM Sans"/>
              <a:ea typeface="DM Sans"/>
              <a:cs typeface="DM Sans"/>
              <a:sym typeface="DM Sans"/>
            </a:endParaRPr>
          </a:p>
        </p:txBody>
      </p:sp>
      <p:graphicFrame>
        <p:nvGraphicFramePr>
          <p:cNvPr id="311" name="Google Shape;311;p68"/>
          <p:cNvGraphicFramePr/>
          <p:nvPr/>
        </p:nvGraphicFramePr>
        <p:xfrm>
          <a:off x="4237213" y="1838250"/>
          <a:ext cx="3000000" cy="3000000"/>
        </p:xfrm>
        <a:graphic>
          <a:graphicData uri="http://schemas.openxmlformats.org/drawingml/2006/table">
            <a:tbl>
              <a:tblPr>
                <a:noFill/>
                <a:tableStyleId>{4114AE29-F4E9-42FB-9A9B-1C0D1D059E13}</a:tableStyleId>
              </a:tblPr>
              <a:tblGrid>
                <a:gridCol w="3324450"/>
                <a:gridCol w="1554025"/>
                <a:gridCol w="786825"/>
                <a:gridCol w="1947500"/>
              </a:tblGrid>
              <a:tr h="349975">
                <a:tc>
                  <a:txBody>
                    <a:bodyPr/>
                    <a:lstStyle/>
                    <a:p>
                      <a:pPr indent="0" lvl="0" marL="0" rtl="0" algn="ctr">
                        <a:lnSpc>
                          <a:spcPct val="115000"/>
                        </a:lnSpc>
                        <a:spcBef>
                          <a:spcPts val="0"/>
                        </a:spcBef>
                        <a:spcAft>
                          <a:spcPts val="0"/>
                        </a:spcAft>
                        <a:buNone/>
                      </a:pPr>
                      <a:r>
                        <a:rPr b="1" lang="en-US" sz="1850">
                          <a:solidFill>
                            <a:srgbClr val="FFFFFF"/>
                          </a:solidFill>
                          <a:latin typeface="Calibri"/>
                          <a:ea typeface="Calibri"/>
                          <a:cs typeface="Calibri"/>
                          <a:sym typeface="Calibri"/>
                        </a:rPr>
                        <a:t>Variable</a:t>
                      </a:r>
                      <a:endParaRPr b="1" sz="1850">
                        <a:solidFill>
                          <a:srgbClr val="FFFFFF"/>
                        </a:solidFill>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US" sz="1850">
                          <a:solidFill>
                            <a:srgbClr val="FFFFFF"/>
                          </a:solidFill>
                          <a:latin typeface="Calibri"/>
                          <a:ea typeface="Calibri"/>
                          <a:cs typeface="Calibri"/>
                          <a:sym typeface="Calibri"/>
                        </a:rPr>
                        <a:t>Odds Ratio</a:t>
                      </a:r>
                      <a:endParaRPr b="1" sz="1850">
                        <a:solidFill>
                          <a:srgbClr val="FFFFFF"/>
                        </a:solidFill>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US" sz="1850">
                          <a:solidFill>
                            <a:srgbClr val="FFFFFF"/>
                          </a:solidFill>
                          <a:latin typeface="Calibri"/>
                          <a:ea typeface="Calibri"/>
                          <a:cs typeface="Calibri"/>
                          <a:sym typeface="Calibri"/>
                        </a:rPr>
                        <a:t>p-value</a:t>
                      </a:r>
                      <a:endParaRPr b="1" sz="1850">
                        <a:solidFill>
                          <a:srgbClr val="FFFFFF"/>
                        </a:solidFill>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US" sz="1850">
                          <a:solidFill>
                            <a:srgbClr val="FFFFFF"/>
                          </a:solidFill>
                          <a:latin typeface="Calibri"/>
                          <a:ea typeface="Calibri"/>
                          <a:cs typeface="Calibri"/>
                          <a:sym typeface="Calibri"/>
                        </a:rPr>
                        <a:t>95% CI</a:t>
                      </a:r>
                      <a:endParaRPr b="1" sz="1850">
                        <a:solidFill>
                          <a:srgbClr val="FFFFFF"/>
                        </a:solidFill>
                        <a:latin typeface="Calibri"/>
                        <a:ea typeface="Calibri"/>
                        <a:cs typeface="Calibri"/>
                        <a:sym typeface="Calibri"/>
                      </a:endParaRPr>
                    </a:p>
                  </a:txBody>
                  <a:tcPr marT="91425" marB="19050" marR="19050" marL="190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2"/>
                    </a:solidFill>
                  </a:tcPr>
                </a:tc>
              </a:tr>
              <a:tr h="100000">
                <a:tc>
                  <a:txBody>
                    <a:bodyPr/>
                    <a:lstStyle/>
                    <a:p>
                      <a:pPr indent="0" lvl="0" marL="0" rtl="0" algn="l">
                        <a:lnSpc>
                          <a:spcPct val="115000"/>
                        </a:lnSpc>
                        <a:spcBef>
                          <a:spcPts val="0"/>
                        </a:spcBef>
                        <a:spcAft>
                          <a:spcPts val="0"/>
                        </a:spcAft>
                        <a:buNone/>
                      </a:pPr>
                      <a:r>
                        <a:rPr b="1" lang="en-US" sz="1850">
                          <a:latin typeface="Calibri"/>
                          <a:ea typeface="Calibri"/>
                          <a:cs typeface="Calibri"/>
                          <a:sym typeface="Calibri"/>
                        </a:rPr>
                        <a:t>WAZ</a:t>
                      </a:r>
                      <a:endParaRPr b="1" sz="18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0.98</a:t>
                      </a:r>
                      <a:endParaRPr b="1" sz="18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&lt;0.001</a:t>
                      </a:r>
                      <a:endParaRPr b="1" sz="18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0.981 – 0.984</a:t>
                      </a:r>
                      <a:endParaRPr b="1" sz="18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73300">
                <a:tc>
                  <a:txBody>
                    <a:bodyPr/>
                    <a:lstStyle/>
                    <a:p>
                      <a:pPr indent="0" lvl="0" marL="0" rtl="0" algn="l">
                        <a:lnSpc>
                          <a:spcPct val="115000"/>
                        </a:lnSpc>
                        <a:spcBef>
                          <a:spcPts val="0"/>
                        </a:spcBef>
                        <a:spcAft>
                          <a:spcPts val="0"/>
                        </a:spcAft>
                        <a:buNone/>
                      </a:pPr>
                      <a:r>
                        <a:rPr b="1" lang="en-US" sz="1850">
                          <a:latin typeface="Calibri"/>
                          <a:ea typeface="Calibri"/>
                          <a:cs typeface="Calibri"/>
                          <a:sym typeface="Calibri"/>
                        </a:rPr>
                        <a:t>Education Level (No Education)</a:t>
                      </a:r>
                      <a:endParaRPr b="1" sz="18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b="1" sz="1850"/>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b="1" sz="1850"/>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b="1" sz="1850"/>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73300">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Primary</a:t>
                      </a:r>
                      <a:endParaRPr b="1" sz="18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0.75</a:t>
                      </a:r>
                      <a:endParaRPr b="1" sz="18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0.065</a:t>
                      </a:r>
                      <a:endParaRPr b="1" sz="18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0.546 – 1.018</a:t>
                      </a:r>
                      <a:endParaRPr b="1" sz="18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34900">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Secondary</a:t>
                      </a:r>
                      <a:endParaRPr b="1" sz="18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0.55</a:t>
                      </a:r>
                      <a:endParaRPr b="1" sz="18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&lt;0.001</a:t>
                      </a:r>
                      <a:endParaRPr b="1" sz="18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0.402 – 0.752</a:t>
                      </a:r>
                      <a:endParaRPr b="1" sz="18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73300">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Higher</a:t>
                      </a:r>
                      <a:endParaRPr b="1" sz="18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0.36</a:t>
                      </a:r>
                      <a:endParaRPr b="1" sz="18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0.002</a:t>
                      </a:r>
                      <a:endParaRPr b="1" sz="18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50">
                          <a:latin typeface="Calibri"/>
                          <a:ea typeface="Calibri"/>
                          <a:cs typeface="Calibri"/>
                          <a:sym typeface="Calibri"/>
                        </a:rPr>
                        <a:t>0.188 – 0.682</a:t>
                      </a:r>
                      <a:endParaRPr b="1" sz="1850">
                        <a:latin typeface="Calibri"/>
                        <a:ea typeface="Calibri"/>
                        <a:cs typeface="Calibri"/>
                        <a:sym typeface="Calibri"/>
                      </a:endParaRPr>
                    </a:p>
                  </a:txBody>
                  <a:tcPr marT="91425" marB="19050" marR="19050" marL="190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69"/>
          <p:cNvSpPr txBox="1"/>
          <p:nvPr/>
        </p:nvSpPr>
        <p:spPr>
          <a:xfrm>
            <a:off x="479425" y="764540"/>
            <a:ext cx="7917300" cy="45090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00"/>
              </a:buClr>
              <a:buSzPts val="2800"/>
              <a:buFont typeface="Arial"/>
              <a:buNone/>
            </a:pPr>
            <a:r>
              <a:rPr b="1" lang="en-US" sz="2400">
                <a:solidFill>
                  <a:schemeClr val="accent2"/>
                </a:solidFill>
                <a:latin typeface="DM Sans"/>
                <a:ea typeface="DM Sans"/>
                <a:cs typeface="DM Sans"/>
                <a:sym typeface="DM Sans"/>
              </a:rPr>
              <a:t>Discussion</a:t>
            </a:r>
            <a:endParaRPr b="1" i="0" sz="2400" u="none" cap="none" strike="noStrike">
              <a:solidFill>
                <a:schemeClr val="accent2"/>
              </a:solidFill>
              <a:latin typeface="DM Sans"/>
              <a:ea typeface="DM Sans"/>
              <a:cs typeface="DM Sans"/>
              <a:sym typeface="DM Sans"/>
            </a:endParaRPr>
          </a:p>
        </p:txBody>
      </p:sp>
      <p:sp>
        <p:nvSpPr>
          <p:cNvPr id="317" name="Google Shape;317;p69"/>
          <p:cNvSpPr txBox="1"/>
          <p:nvPr/>
        </p:nvSpPr>
        <p:spPr>
          <a:xfrm>
            <a:off x="479450" y="1628925"/>
            <a:ext cx="11172900" cy="5229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500"/>
              <a:buFont typeface="Arial"/>
              <a:buNone/>
            </a:pPr>
            <a:r>
              <a:rPr b="1" lang="en-US" sz="1500">
                <a:solidFill>
                  <a:schemeClr val="accent2"/>
                </a:solidFill>
                <a:latin typeface="DM Sans"/>
                <a:ea typeface="DM Sans"/>
                <a:cs typeface="DM Sans"/>
                <a:sym typeface="DM Sans"/>
              </a:rPr>
              <a:t>Purpose of Study: </a:t>
            </a:r>
            <a:endParaRPr b="1" sz="1500">
              <a:solidFill>
                <a:schemeClr val="accent2"/>
              </a:solidFill>
              <a:latin typeface="DM Sans"/>
              <a:ea typeface="DM Sans"/>
              <a:cs typeface="DM Sans"/>
              <a:sym typeface="DM Sans"/>
            </a:endParaRPr>
          </a:p>
          <a:p>
            <a:pPr indent="-323850" lvl="0" marL="457200" rtl="0" algn="l">
              <a:spcBef>
                <a:spcPts val="0"/>
              </a:spcBef>
              <a:spcAft>
                <a:spcPts val="0"/>
              </a:spcAft>
              <a:buClr>
                <a:schemeClr val="accent2"/>
              </a:buClr>
              <a:buSzPts val="1500"/>
              <a:buFont typeface="DM Sans"/>
              <a:buChar char="●"/>
            </a:pPr>
            <a:r>
              <a:rPr lang="en-US" sz="1500">
                <a:solidFill>
                  <a:schemeClr val="accent2"/>
                </a:solidFill>
                <a:latin typeface="DM Sans"/>
                <a:ea typeface="DM Sans"/>
                <a:cs typeface="DM Sans"/>
                <a:sym typeface="DM Sans"/>
              </a:rPr>
              <a:t>Using BDHS data, determine which maternal, child, and social factors are most associated with childhood anemia and stunting and whether socioeconomic factors are stronger predictors, as suggested by Vaivada et al.</a:t>
            </a:r>
            <a:endParaRPr sz="1500">
              <a:solidFill>
                <a:schemeClr val="accent2"/>
              </a:solidFill>
              <a:latin typeface="DM Sans"/>
              <a:ea typeface="DM Sans"/>
              <a:cs typeface="DM Sans"/>
              <a:sym typeface="DM Sans"/>
            </a:endParaRPr>
          </a:p>
          <a:p>
            <a:pPr indent="0" lvl="0" marL="0" rtl="0" algn="l">
              <a:spcBef>
                <a:spcPts val="0"/>
              </a:spcBef>
              <a:spcAft>
                <a:spcPts val="0"/>
              </a:spcAft>
              <a:buClr>
                <a:schemeClr val="dk1"/>
              </a:buClr>
              <a:buSzPts val="1500"/>
              <a:buFont typeface="Arial"/>
              <a:buNone/>
            </a:pPr>
            <a:r>
              <a:t/>
            </a:r>
            <a:endParaRPr b="1" sz="1500">
              <a:solidFill>
                <a:schemeClr val="accent2"/>
              </a:solidFill>
              <a:latin typeface="DM Sans"/>
              <a:ea typeface="DM Sans"/>
              <a:cs typeface="DM Sans"/>
              <a:sym typeface="DM Sans"/>
            </a:endParaRPr>
          </a:p>
          <a:p>
            <a:pPr indent="0" lvl="0" marL="0" rtl="0" algn="l">
              <a:spcBef>
                <a:spcPts val="0"/>
              </a:spcBef>
              <a:spcAft>
                <a:spcPts val="0"/>
              </a:spcAft>
              <a:buClr>
                <a:schemeClr val="dk1"/>
              </a:buClr>
              <a:buSzPts val="1500"/>
              <a:buFont typeface="Arial"/>
              <a:buNone/>
            </a:pPr>
            <a:r>
              <a:rPr b="1" lang="en-US" sz="1500">
                <a:solidFill>
                  <a:schemeClr val="accent2"/>
                </a:solidFill>
                <a:latin typeface="DM Sans"/>
                <a:ea typeface="DM Sans"/>
                <a:cs typeface="DM Sans"/>
                <a:sym typeface="DM Sans"/>
              </a:rPr>
              <a:t>Major Analytical Findings:</a:t>
            </a:r>
            <a:endParaRPr b="1" sz="1500">
              <a:solidFill>
                <a:schemeClr val="accent2"/>
              </a:solidFill>
              <a:latin typeface="DM Sans"/>
              <a:ea typeface="DM Sans"/>
              <a:cs typeface="DM Sans"/>
              <a:sym typeface="DM Sans"/>
            </a:endParaRPr>
          </a:p>
          <a:p>
            <a:pPr indent="-330200" lvl="0" marL="457200" rtl="0" algn="l">
              <a:lnSpc>
                <a:spcPct val="150000"/>
              </a:lnSpc>
              <a:spcBef>
                <a:spcPts val="0"/>
              </a:spcBef>
              <a:spcAft>
                <a:spcPts val="0"/>
              </a:spcAft>
              <a:buClr>
                <a:schemeClr val="dk1"/>
              </a:buClr>
              <a:buSzPts val="1600"/>
              <a:buChar char="●"/>
            </a:pPr>
            <a:r>
              <a:rPr lang="en-US" sz="1600">
                <a:solidFill>
                  <a:schemeClr val="accent2"/>
                </a:solidFill>
                <a:latin typeface="DM Sans"/>
                <a:ea typeface="DM Sans"/>
                <a:cs typeface="DM Sans"/>
                <a:sym typeface="DM Sans"/>
              </a:rPr>
              <a:t>Anemia: </a:t>
            </a:r>
            <a:r>
              <a:rPr lang="en-US" sz="1500">
                <a:solidFill>
                  <a:schemeClr val="dk1"/>
                </a:solidFill>
                <a:latin typeface="DM Sans"/>
                <a:ea typeface="DM Sans"/>
                <a:cs typeface="DM Sans"/>
                <a:sym typeface="DM Sans"/>
              </a:rPr>
              <a:t>Higher maternal hemoglobin, older maternal age at first birth, older child age, higher WAZ, and being from Dhaka or Sylhet, plus higher socioeconomic status, were all associated to lower odds of anemia.</a:t>
            </a:r>
            <a:endParaRPr sz="1600">
              <a:solidFill>
                <a:schemeClr val="accent2"/>
              </a:solidFill>
              <a:latin typeface="DM Sans"/>
              <a:ea typeface="DM Sans"/>
              <a:cs typeface="DM Sans"/>
              <a:sym typeface="DM Sans"/>
            </a:endParaRPr>
          </a:p>
          <a:p>
            <a:pPr indent="-330200" lvl="0" marL="457200" rtl="0" algn="l">
              <a:lnSpc>
                <a:spcPct val="150000"/>
              </a:lnSpc>
              <a:spcBef>
                <a:spcPts val="0"/>
              </a:spcBef>
              <a:spcAft>
                <a:spcPts val="0"/>
              </a:spcAft>
              <a:buClr>
                <a:schemeClr val="dk1"/>
              </a:buClr>
              <a:buSzPts val="1600"/>
              <a:buChar char="●"/>
            </a:pPr>
            <a:r>
              <a:rPr lang="en-US" sz="1600">
                <a:solidFill>
                  <a:schemeClr val="accent2"/>
                </a:solidFill>
                <a:latin typeface="DM Sans"/>
                <a:ea typeface="DM Sans"/>
                <a:cs typeface="DM Sans"/>
                <a:sym typeface="DM Sans"/>
              </a:rPr>
              <a:t>Stunting: Higher WAZ and higher maternal education levels were strongly associated with lower odds of childhood stunting.</a:t>
            </a:r>
            <a:endParaRPr sz="1600">
              <a:solidFill>
                <a:schemeClr val="accent2"/>
              </a:solidFill>
              <a:latin typeface="DM Sans"/>
              <a:ea typeface="DM Sans"/>
              <a:cs typeface="DM Sans"/>
              <a:sym typeface="DM Sans"/>
            </a:endParaRPr>
          </a:p>
          <a:p>
            <a:pPr indent="0" lvl="0" marL="0" rtl="0" algn="l">
              <a:spcBef>
                <a:spcPts val="0"/>
              </a:spcBef>
              <a:spcAft>
                <a:spcPts val="0"/>
              </a:spcAft>
              <a:buNone/>
            </a:pPr>
            <a:r>
              <a:rPr b="1" lang="en-US" sz="1500">
                <a:solidFill>
                  <a:schemeClr val="accent2"/>
                </a:solidFill>
                <a:latin typeface="DM Sans"/>
                <a:ea typeface="DM Sans"/>
                <a:cs typeface="DM Sans"/>
                <a:sym typeface="DM Sans"/>
              </a:rPr>
              <a:t>Public Health Implications: </a:t>
            </a:r>
            <a:endParaRPr b="1" sz="1500">
              <a:solidFill>
                <a:schemeClr val="accent2"/>
              </a:solidFill>
              <a:latin typeface="DM Sans"/>
              <a:ea typeface="DM Sans"/>
              <a:cs typeface="DM Sans"/>
              <a:sym typeface="DM Sans"/>
            </a:endParaRPr>
          </a:p>
          <a:p>
            <a:pPr indent="-323850" lvl="0" marL="457200" rtl="0" algn="l">
              <a:lnSpc>
                <a:spcPct val="150000"/>
              </a:lnSpc>
              <a:spcBef>
                <a:spcPts val="0"/>
              </a:spcBef>
              <a:spcAft>
                <a:spcPts val="0"/>
              </a:spcAft>
              <a:buClr>
                <a:schemeClr val="accent2"/>
              </a:buClr>
              <a:buSzPts val="1500"/>
              <a:buFont typeface="DM Sans"/>
              <a:buChar char="●"/>
            </a:pPr>
            <a:r>
              <a:rPr lang="en-US" sz="1500">
                <a:solidFill>
                  <a:schemeClr val="accent2"/>
                </a:solidFill>
                <a:latin typeface="DM Sans"/>
                <a:ea typeface="DM Sans"/>
                <a:cs typeface="DM Sans"/>
                <a:sym typeface="DM Sans"/>
              </a:rPr>
              <a:t>Improving maternal nutrition, Strengthen women’s education,  may reduce anemia risk in children</a:t>
            </a:r>
            <a:endParaRPr sz="1500">
              <a:solidFill>
                <a:schemeClr val="accent2"/>
              </a:solidFill>
              <a:latin typeface="DM Sans"/>
              <a:ea typeface="DM Sans"/>
              <a:cs typeface="DM Sans"/>
              <a:sym typeface="DM Sans"/>
            </a:endParaRPr>
          </a:p>
          <a:p>
            <a:pPr indent="-323850" lvl="0" marL="457200" rtl="0" algn="l">
              <a:lnSpc>
                <a:spcPct val="150000"/>
              </a:lnSpc>
              <a:spcBef>
                <a:spcPts val="0"/>
              </a:spcBef>
              <a:spcAft>
                <a:spcPts val="0"/>
              </a:spcAft>
              <a:buClr>
                <a:schemeClr val="accent2"/>
              </a:buClr>
              <a:buSzPts val="1500"/>
              <a:buFont typeface="DM Sans"/>
              <a:buChar char="●"/>
            </a:pPr>
            <a:r>
              <a:rPr lang="en-US" sz="1500">
                <a:solidFill>
                  <a:schemeClr val="accent2"/>
                </a:solidFill>
                <a:latin typeface="DM Sans"/>
                <a:ea typeface="DM Sans"/>
                <a:cs typeface="DM Sans"/>
                <a:sym typeface="DM Sans"/>
              </a:rPr>
              <a:t>Region disparities suggest a need for target interventions in high-risk areas</a:t>
            </a:r>
            <a:endParaRPr sz="1500">
              <a:solidFill>
                <a:schemeClr val="accent2"/>
              </a:solidFill>
              <a:latin typeface="DM Sans"/>
              <a:ea typeface="DM Sans"/>
              <a:cs typeface="DM Sans"/>
              <a:sym typeface="DM Sans"/>
            </a:endParaRPr>
          </a:p>
          <a:p>
            <a:pPr indent="0" lvl="0" marL="457200" rtl="0" algn="l">
              <a:spcBef>
                <a:spcPts val="0"/>
              </a:spcBef>
              <a:spcAft>
                <a:spcPts val="0"/>
              </a:spcAft>
              <a:buNone/>
            </a:pPr>
            <a:r>
              <a:t/>
            </a:r>
            <a:endParaRPr b="1" sz="1500">
              <a:solidFill>
                <a:schemeClr val="accent2"/>
              </a:solidFill>
              <a:latin typeface="DM Sans"/>
              <a:ea typeface="DM Sans"/>
              <a:cs typeface="DM Sans"/>
              <a:sym typeface="DM Sans"/>
            </a:endParaRPr>
          </a:p>
          <a:p>
            <a:pPr indent="0" lvl="0" marL="0" rtl="0" algn="l">
              <a:spcBef>
                <a:spcPts val="0"/>
              </a:spcBef>
              <a:spcAft>
                <a:spcPts val="0"/>
              </a:spcAft>
              <a:buNone/>
            </a:pPr>
            <a:r>
              <a:rPr b="1" lang="en-US" sz="1500">
                <a:solidFill>
                  <a:schemeClr val="accent2"/>
                </a:solidFill>
                <a:latin typeface="DM Sans"/>
                <a:ea typeface="DM Sans"/>
                <a:cs typeface="DM Sans"/>
                <a:sym typeface="DM Sans"/>
              </a:rPr>
              <a:t>Strengths: </a:t>
            </a:r>
            <a:endParaRPr b="1" sz="1500">
              <a:solidFill>
                <a:schemeClr val="accent2"/>
              </a:solidFill>
              <a:latin typeface="DM Sans"/>
              <a:ea typeface="DM Sans"/>
              <a:cs typeface="DM Sans"/>
              <a:sym typeface="DM Sans"/>
            </a:endParaRPr>
          </a:p>
          <a:p>
            <a:pPr indent="-323850" lvl="0" marL="457200" rtl="0" algn="l">
              <a:lnSpc>
                <a:spcPct val="150000"/>
              </a:lnSpc>
              <a:spcBef>
                <a:spcPts val="0"/>
              </a:spcBef>
              <a:spcAft>
                <a:spcPts val="0"/>
              </a:spcAft>
              <a:buClr>
                <a:schemeClr val="accent2"/>
              </a:buClr>
              <a:buSzPts val="1500"/>
              <a:buFont typeface="DM Sans"/>
              <a:buChar char="●"/>
            </a:pPr>
            <a:r>
              <a:rPr lang="en-US" sz="1500">
                <a:solidFill>
                  <a:schemeClr val="accent2"/>
                </a:solidFill>
                <a:latin typeface="DM Sans"/>
                <a:ea typeface="DM Sans"/>
                <a:cs typeface="DM Sans"/>
                <a:sym typeface="DM Sans"/>
              </a:rPr>
              <a:t>Strict variable selection and full assumption checking</a:t>
            </a:r>
            <a:endParaRPr sz="1500">
              <a:solidFill>
                <a:schemeClr val="accent2"/>
              </a:solidFill>
              <a:latin typeface="DM Sans"/>
              <a:ea typeface="DM Sans"/>
              <a:cs typeface="DM Sans"/>
              <a:sym typeface="DM Sans"/>
            </a:endParaRPr>
          </a:p>
          <a:p>
            <a:pPr indent="-323850" lvl="0" marL="457200" rtl="0" algn="l">
              <a:lnSpc>
                <a:spcPct val="150000"/>
              </a:lnSpc>
              <a:spcBef>
                <a:spcPts val="0"/>
              </a:spcBef>
              <a:spcAft>
                <a:spcPts val="0"/>
              </a:spcAft>
              <a:buClr>
                <a:schemeClr val="accent2"/>
              </a:buClr>
              <a:buSzPts val="1500"/>
              <a:buFont typeface="DM Sans"/>
              <a:buChar char="●"/>
            </a:pPr>
            <a:r>
              <a:rPr lang="en-US" sz="1500">
                <a:solidFill>
                  <a:schemeClr val="accent2"/>
                </a:solidFill>
                <a:latin typeface="DM Sans"/>
                <a:ea typeface="DM Sans"/>
                <a:cs typeface="DM Sans"/>
                <a:sym typeface="DM Sans"/>
              </a:rPr>
              <a:t>Used mixed-effect model to correctly account for multilevel data</a:t>
            </a:r>
            <a:endParaRPr sz="1500">
              <a:solidFill>
                <a:schemeClr val="accent2"/>
              </a:solidFill>
              <a:latin typeface="DM Sans"/>
              <a:ea typeface="DM Sans"/>
              <a:cs typeface="DM Sans"/>
              <a:sym typeface="DM Sans"/>
            </a:endParaRPr>
          </a:p>
          <a:p>
            <a:pPr indent="-323850" lvl="0" marL="457200" rtl="0" algn="l">
              <a:lnSpc>
                <a:spcPct val="150000"/>
              </a:lnSpc>
              <a:spcBef>
                <a:spcPts val="0"/>
              </a:spcBef>
              <a:spcAft>
                <a:spcPts val="0"/>
              </a:spcAft>
              <a:buClr>
                <a:schemeClr val="accent2"/>
              </a:buClr>
              <a:buSzPts val="1500"/>
              <a:buFont typeface="DM Sans"/>
              <a:buChar char="●"/>
            </a:pPr>
            <a:r>
              <a:rPr lang="en-US" sz="1500">
                <a:solidFill>
                  <a:schemeClr val="accent2"/>
                </a:solidFill>
                <a:latin typeface="DM Sans"/>
                <a:ea typeface="DM Sans"/>
                <a:cs typeface="DM Sans"/>
                <a:sym typeface="DM Sans"/>
              </a:rPr>
              <a:t>High predictive performance, anemia-AUC = 0.71, &amp; stunting-AUC = 0.86</a:t>
            </a:r>
            <a:endParaRPr sz="1500">
              <a:solidFill>
                <a:schemeClr val="accent2"/>
              </a:solidFill>
              <a:latin typeface="DM Sans"/>
              <a:ea typeface="DM Sans"/>
              <a:cs typeface="DM Sans"/>
              <a:sym typeface="DM Sans"/>
            </a:endParaRPr>
          </a:p>
          <a:p>
            <a:pPr indent="0" lvl="0" marL="0" rtl="0" algn="l">
              <a:spcBef>
                <a:spcPts val="0"/>
              </a:spcBef>
              <a:spcAft>
                <a:spcPts val="0"/>
              </a:spcAft>
              <a:buNone/>
            </a:pPr>
            <a:r>
              <a:t/>
            </a:r>
            <a:endParaRPr sz="1600">
              <a:solidFill>
                <a:schemeClr val="accent2"/>
              </a:solidFill>
              <a:latin typeface="DM Sans"/>
              <a:ea typeface="DM Sans"/>
              <a:cs typeface="DM Sans"/>
              <a:sym typeface="DM Sans"/>
            </a:endParaRPr>
          </a:p>
          <a:p>
            <a:pPr indent="0" lvl="0" marL="0" rtl="0" algn="l">
              <a:lnSpc>
                <a:spcPct val="150000"/>
              </a:lnSpc>
              <a:spcBef>
                <a:spcPts val="0"/>
              </a:spcBef>
              <a:spcAft>
                <a:spcPts val="0"/>
              </a:spcAft>
              <a:buNone/>
            </a:pPr>
            <a:r>
              <a:t/>
            </a:r>
            <a:endParaRPr sz="1600">
              <a:solidFill>
                <a:schemeClr val="accent2"/>
              </a:solidFill>
              <a:latin typeface="DM Sans"/>
              <a:ea typeface="DM Sans"/>
              <a:cs typeface="DM Sans"/>
              <a:sym typeface="DM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70"/>
          <p:cNvSpPr txBox="1"/>
          <p:nvPr/>
        </p:nvSpPr>
        <p:spPr>
          <a:xfrm>
            <a:off x="479425" y="764540"/>
            <a:ext cx="7917300" cy="45090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00"/>
              </a:buClr>
              <a:buSzPts val="2800"/>
              <a:buFont typeface="Arial"/>
              <a:buNone/>
            </a:pPr>
            <a:r>
              <a:rPr b="1" lang="en-US" sz="2400">
                <a:solidFill>
                  <a:schemeClr val="accent2"/>
                </a:solidFill>
                <a:latin typeface="DM Sans"/>
                <a:ea typeface="DM Sans"/>
                <a:cs typeface="DM Sans"/>
                <a:sym typeface="DM Sans"/>
              </a:rPr>
              <a:t>Limitations &amp; Future Directions</a:t>
            </a:r>
            <a:endParaRPr b="1" i="0" sz="2400" u="none" cap="none" strike="noStrike">
              <a:solidFill>
                <a:schemeClr val="accent2"/>
              </a:solidFill>
              <a:latin typeface="DM Sans"/>
              <a:ea typeface="DM Sans"/>
              <a:cs typeface="DM Sans"/>
              <a:sym typeface="DM Sans"/>
            </a:endParaRPr>
          </a:p>
        </p:txBody>
      </p:sp>
      <p:sp>
        <p:nvSpPr>
          <p:cNvPr id="323" name="Google Shape;323;p70"/>
          <p:cNvSpPr txBox="1"/>
          <p:nvPr/>
        </p:nvSpPr>
        <p:spPr>
          <a:xfrm>
            <a:off x="479450" y="1628925"/>
            <a:ext cx="11172900" cy="4681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500">
                <a:solidFill>
                  <a:schemeClr val="accent2"/>
                </a:solidFill>
                <a:latin typeface="DM Sans"/>
                <a:ea typeface="DM Sans"/>
                <a:cs typeface="DM Sans"/>
                <a:sym typeface="DM Sans"/>
              </a:rPr>
              <a:t>Limitations:</a:t>
            </a:r>
            <a:endParaRPr sz="1500">
              <a:solidFill>
                <a:schemeClr val="accent2"/>
              </a:solidFill>
              <a:latin typeface="DM Sans"/>
              <a:ea typeface="DM Sans"/>
              <a:cs typeface="DM Sans"/>
              <a:sym typeface="DM Sans"/>
            </a:endParaRPr>
          </a:p>
          <a:p>
            <a:pPr indent="-323850" lvl="0" marL="457200" rtl="0" algn="l">
              <a:lnSpc>
                <a:spcPct val="150000"/>
              </a:lnSpc>
              <a:spcBef>
                <a:spcPts val="0"/>
              </a:spcBef>
              <a:spcAft>
                <a:spcPts val="0"/>
              </a:spcAft>
              <a:buClr>
                <a:schemeClr val="accent2"/>
              </a:buClr>
              <a:buSzPts val="1500"/>
              <a:buFont typeface="DM Sans"/>
              <a:buChar char="●"/>
            </a:pPr>
            <a:r>
              <a:rPr lang="en-US" sz="1500">
                <a:solidFill>
                  <a:schemeClr val="accent2"/>
                </a:solidFill>
                <a:latin typeface="DM Sans"/>
                <a:ea typeface="DM Sans"/>
                <a:cs typeface="DM Sans"/>
                <a:sym typeface="DM Sans"/>
              </a:rPr>
              <a:t>Unmeasured </a:t>
            </a:r>
            <a:r>
              <a:rPr lang="en-US" sz="1500">
                <a:solidFill>
                  <a:schemeClr val="accent2"/>
                </a:solidFill>
                <a:latin typeface="DM Sans"/>
                <a:ea typeface="DM Sans"/>
                <a:cs typeface="DM Sans"/>
                <a:sym typeface="DM Sans"/>
              </a:rPr>
              <a:t>confounders</a:t>
            </a:r>
            <a:r>
              <a:rPr lang="en-US" sz="1500">
                <a:solidFill>
                  <a:schemeClr val="accent2"/>
                </a:solidFill>
                <a:latin typeface="DM Sans"/>
                <a:ea typeface="DM Sans"/>
                <a:cs typeface="DM Sans"/>
                <a:sym typeface="DM Sans"/>
              </a:rPr>
              <a:t> (e.g. diet, infection history) not available</a:t>
            </a:r>
            <a:endParaRPr sz="1500">
              <a:solidFill>
                <a:schemeClr val="accent2"/>
              </a:solidFill>
              <a:latin typeface="DM Sans"/>
              <a:ea typeface="DM Sans"/>
              <a:cs typeface="DM Sans"/>
              <a:sym typeface="DM Sans"/>
            </a:endParaRPr>
          </a:p>
          <a:p>
            <a:pPr indent="-323850" lvl="0" marL="457200" rtl="0" algn="l">
              <a:lnSpc>
                <a:spcPct val="150000"/>
              </a:lnSpc>
              <a:spcBef>
                <a:spcPts val="0"/>
              </a:spcBef>
              <a:spcAft>
                <a:spcPts val="0"/>
              </a:spcAft>
              <a:buClr>
                <a:schemeClr val="accent2"/>
              </a:buClr>
              <a:buSzPts val="1500"/>
              <a:buFont typeface="DM Sans"/>
              <a:buChar char="●"/>
            </a:pPr>
            <a:r>
              <a:rPr lang="en-US" sz="1500">
                <a:solidFill>
                  <a:schemeClr val="accent2"/>
                </a:solidFill>
                <a:latin typeface="DM Sans"/>
                <a:ea typeface="DM Sans"/>
                <a:cs typeface="DM Sans"/>
                <a:sym typeface="DM Sans"/>
              </a:rPr>
              <a:t>Cross-sectional data, no causal conclusions (i.e. can identify association but not determine the cause of the disease)</a:t>
            </a:r>
            <a:endParaRPr sz="1500">
              <a:solidFill>
                <a:schemeClr val="accent2"/>
              </a:solidFill>
              <a:latin typeface="DM Sans"/>
              <a:ea typeface="DM Sans"/>
              <a:cs typeface="DM Sans"/>
              <a:sym typeface="DM Sans"/>
            </a:endParaRPr>
          </a:p>
          <a:p>
            <a:pPr indent="-323850" lvl="0" marL="457200" rtl="0" algn="l">
              <a:lnSpc>
                <a:spcPct val="150000"/>
              </a:lnSpc>
              <a:spcBef>
                <a:spcPts val="0"/>
              </a:spcBef>
              <a:spcAft>
                <a:spcPts val="0"/>
              </a:spcAft>
              <a:buClr>
                <a:schemeClr val="accent2"/>
              </a:buClr>
              <a:buSzPts val="1500"/>
              <a:buFont typeface="DM Sans"/>
              <a:buChar char="●"/>
            </a:pPr>
            <a:r>
              <a:rPr lang="en-US" sz="1500">
                <a:solidFill>
                  <a:schemeClr val="accent2"/>
                </a:solidFill>
                <a:latin typeface="DM Sans"/>
                <a:ea typeface="DM Sans"/>
                <a:cs typeface="DM Sans"/>
                <a:sym typeface="DM Sans"/>
              </a:rPr>
              <a:t>Self-reported socioeconomic and maternal variables may contain reporting bias</a:t>
            </a:r>
            <a:endParaRPr sz="1500">
              <a:solidFill>
                <a:schemeClr val="accent2"/>
              </a:solidFill>
              <a:latin typeface="DM Sans"/>
              <a:ea typeface="DM Sans"/>
              <a:cs typeface="DM Sans"/>
              <a:sym typeface="DM Sans"/>
            </a:endParaRPr>
          </a:p>
          <a:p>
            <a:pPr indent="-323850" lvl="0" marL="457200" rtl="0" algn="l">
              <a:lnSpc>
                <a:spcPct val="150000"/>
              </a:lnSpc>
              <a:spcBef>
                <a:spcPts val="0"/>
              </a:spcBef>
              <a:spcAft>
                <a:spcPts val="0"/>
              </a:spcAft>
              <a:buClr>
                <a:schemeClr val="accent2"/>
              </a:buClr>
              <a:buSzPts val="1500"/>
              <a:buFont typeface="DM Sans"/>
              <a:buChar char="●"/>
            </a:pPr>
            <a:r>
              <a:rPr lang="en-US" sz="1500">
                <a:solidFill>
                  <a:schemeClr val="accent2"/>
                </a:solidFill>
                <a:latin typeface="DM Sans"/>
                <a:ea typeface="DM Sans"/>
                <a:cs typeface="DM Sans"/>
                <a:sym typeface="DM Sans"/>
              </a:rPr>
              <a:t>Multilevel clustering may be more complex than the model </a:t>
            </a:r>
            <a:r>
              <a:rPr lang="en-US" sz="1500">
                <a:solidFill>
                  <a:schemeClr val="accent2"/>
                </a:solidFill>
                <a:latin typeface="DM Sans"/>
                <a:ea typeface="DM Sans"/>
                <a:cs typeface="DM Sans"/>
                <a:sym typeface="DM Sans"/>
              </a:rPr>
              <a:t>structure</a:t>
            </a:r>
            <a:r>
              <a:rPr lang="en-US" sz="1500">
                <a:solidFill>
                  <a:schemeClr val="accent2"/>
                </a:solidFill>
                <a:latin typeface="DM Sans"/>
                <a:ea typeface="DM Sans"/>
                <a:cs typeface="DM Sans"/>
                <a:sym typeface="DM Sans"/>
              </a:rPr>
              <a:t> allows</a:t>
            </a:r>
            <a:endParaRPr sz="1500">
              <a:solidFill>
                <a:schemeClr val="accent2"/>
              </a:solidFill>
              <a:latin typeface="DM Sans"/>
              <a:ea typeface="DM Sans"/>
              <a:cs typeface="DM Sans"/>
              <a:sym typeface="DM Sans"/>
            </a:endParaRPr>
          </a:p>
          <a:p>
            <a:pPr indent="-323850" lvl="0" marL="457200" rtl="0" algn="l">
              <a:lnSpc>
                <a:spcPct val="150000"/>
              </a:lnSpc>
              <a:spcBef>
                <a:spcPts val="0"/>
              </a:spcBef>
              <a:spcAft>
                <a:spcPts val="0"/>
              </a:spcAft>
              <a:buClr>
                <a:schemeClr val="accent2"/>
              </a:buClr>
              <a:buSzPts val="1500"/>
              <a:buFont typeface="DM Sans"/>
              <a:buChar char="●"/>
            </a:pPr>
            <a:r>
              <a:rPr lang="en-US" sz="1500">
                <a:solidFill>
                  <a:schemeClr val="accent2"/>
                </a:solidFill>
                <a:latin typeface="DM Sans"/>
                <a:ea typeface="DM Sans"/>
                <a:cs typeface="DM Sans"/>
                <a:sym typeface="DM Sans"/>
              </a:rPr>
              <a:t>Regional disparities were identified but not deeply explored due to data limits</a:t>
            </a:r>
            <a:endParaRPr sz="1500">
              <a:solidFill>
                <a:schemeClr val="accent2"/>
              </a:solidFill>
              <a:latin typeface="DM Sans"/>
              <a:ea typeface="DM Sans"/>
              <a:cs typeface="DM Sans"/>
              <a:sym typeface="DM Sans"/>
            </a:endParaRPr>
          </a:p>
          <a:p>
            <a:pPr indent="0" lvl="0" marL="457200" rtl="0" algn="l">
              <a:spcBef>
                <a:spcPts val="0"/>
              </a:spcBef>
              <a:spcAft>
                <a:spcPts val="0"/>
              </a:spcAft>
              <a:buNone/>
            </a:pPr>
            <a:r>
              <a:t/>
            </a:r>
            <a:endParaRPr sz="1500">
              <a:solidFill>
                <a:schemeClr val="accent2"/>
              </a:solidFill>
              <a:latin typeface="DM Sans"/>
              <a:ea typeface="DM Sans"/>
              <a:cs typeface="DM Sans"/>
              <a:sym typeface="DM Sans"/>
            </a:endParaRPr>
          </a:p>
          <a:p>
            <a:pPr indent="0" lvl="0" marL="0" rtl="0" algn="l">
              <a:spcBef>
                <a:spcPts val="0"/>
              </a:spcBef>
              <a:spcAft>
                <a:spcPts val="0"/>
              </a:spcAft>
              <a:buNone/>
            </a:pPr>
            <a:r>
              <a:t/>
            </a:r>
            <a:endParaRPr sz="1500">
              <a:solidFill>
                <a:schemeClr val="accent2"/>
              </a:solidFill>
              <a:latin typeface="DM Sans"/>
              <a:ea typeface="DM Sans"/>
              <a:cs typeface="DM Sans"/>
              <a:sym typeface="DM Sans"/>
            </a:endParaRPr>
          </a:p>
          <a:p>
            <a:pPr indent="0" lvl="0" marL="0" rtl="0" algn="l">
              <a:spcBef>
                <a:spcPts val="0"/>
              </a:spcBef>
              <a:spcAft>
                <a:spcPts val="0"/>
              </a:spcAft>
              <a:buNone/>
            </a:pPr>
            <a:r>
              <a:rPr b="1" lang="en-US" sz="1500">
                <a:solidFill>
                  <a:schemeClr val="accent2"/>
                </a:solidFill>
                <a:latin typeface="DM Sans"/>
                <a:ea typeface="DM Sans"/>
                <a:cs typeface="DM Sans"/>
                <a:sym typeface="DM Sans"/>
              </a:rPr>
              <a:t>Future Directions:</a:t>
            </a:r>
            <a:endParaRPr b="1" sz="1500">
              <a:solidFill>
                <a:schemeClr val="accent2"/>
              </a:solidFill>
              <a:latin typeface="DM Sans"/>
              <a:ea typeface="DM Sans"/>
              <a:cs typeface="DM Sans"/>
              <a:sym typeface="DM Sans"/>
            </a:endParaRPr>
          </a:p>
          <a:p>
            <a:pPr indent="-323850" lvl="0" marL="457200" rtl="0" algn="l">
              <a:lnSpc>
                <a:spcPct val="150000"/>
              </a:lnSpc>
              <a:spcBef>
                <a:spcPts val="0"/>
              </a:spcBef>
              <a:spcAft>
                <a:spcPts val="0"/>
              </a:spcAft>
              <a:buClr>
                <a:schemeClr val="accent2"/>
              </a:buClr>
              <a:buSzPts val="1500"/>
              <a:buFont typeface="DM Sans"/>
              <a:buChar char="●"/>
            </a:pPr>
            <a:r>
              <a:rPr lang="en-US" sz="1500">
                <a:solidFill>
                  <a:schemeClr val="accent2"/>
                </a:solidFill>
                <a:latin typeface="DM Sans"/>
                <a:ea typeface="DM Sans"/>
                <a:cs typeface="DM Sans"/>
                <a:sym typeface="DM Sans"/>
              </a:rPr>
              <a:t>Develop prediction tool for field workers to identify at-risk children</a:t>
            </a:r>
            <a:endParaRPr sz="1500" u="sng">
              <a:solidFill>
                <a:schemeClr val="accent2"/>
              </a:solidFill>
              <a:latin typeface="DM Sans"/>
              <a:ea typeface="DM Sans"/>
              <a:cs typeface="DM Sans"/>
              <a:sym typeface="DM Sans"/>
            </a:endParaRPr>
          </a:p>
          <a:p>
            <a:pPr indent="-323850" lvl="0" marL="457200" rtl="0" algn="l">
              <a:lnSpc>
                <a:spcPct val="150000"/>
              </a:lnSpc>
              <a:spcBef>
                <a:spcPts val="0"/>
              </a:spcBef>
              <a:spcAft>
                <a:spcPts val="0"/>
              </a:spcAft>
              <a:buClr>
                <a:schemeClr val="accent2"/>
              </a:buClr>
              <a:buSzPts val="1500"/>
              <a:buFont typeface="DM Sans"/>
              <a:buChar char="●"/>
            </a:pPr>
            <a:r>
              <a:rPr lang="en-US" sz="1500">
                <a:solidFill>
                  <a:schemeClr val="accent2"/>
                </a:solidFill>
                <a:latin typeface="DM Sans"/>
                <a:ea typeface="DM Sans"/>
                <a:cs typeface="DM Sans"/>
                <a:sym typeface="DM Sans"/>
              </a:rPr>
              <a:t>Incorporate additional biological, dietary, and environmental variables</a:t>
            </a:r>
            <a:endParaRPr sz="1500">
              <a:solidFill>
                <a:schemeClr val="accent2"/>
              </a:solidFill>
              <a:latin typeface="DM Sans"/>
              <a:ea typeface="DM Sans"/>
              <a:cs typeface="DM Sans"/>
              <a:sym typeface="DM Sans"/>
            </a:endParaRPr>
          </a:p>
          <a:p>
            <a:pPr indent="-323850" lvl="0" marL="457200" rtl="0" algn="l">
              <a:lnSpc>
                <a:spcPct val="150000"/>
              </a:lnSpc>
              <a:spcBef>
                <a:spcPts val="0"/>
              </a:spcBef>
              <a:spcAft>
                <a:spcPts val="0"/>
              </a:spcAft>
              <a:buClr>
                <a:schemeClr val="accent2"/>
              </a:buClr>
              <a:buSzPts val="1500"/>
              <a:buFont typeface="DM Sans"/>
              <a:buChar char="●"/>
            </a:pPr>
            <a:r>
              <a:rPr lang="en-US" sz="1500">
                <a:solidFill>
                  <a:schemeClr val="accent2"/>
                </a:solidFill>
                <a:latin typeface="DM Sans"/>
                <a:ea typeface="DM Sans"/>
                <a:cs typeface="DM Sans"/>
                <a:sym typeface="DM Sans"/>
              </a:rPr>
              <a:t>Use complex model structures to capture nonlinear predictors and interactions</a:t>
            </a:r>
            <a:endParaRPr sz="1500">
              <a:solidFill>
                <a:schemeClr val="accent2"/>
              </a:solidFill>
              <a:latin typeface="DM Sans"/>
              <a:ea typeface="DM Sans"/>
              <a:cs typeface="DM Sans"/>
              <a:sym typeface="DM Sans"/>
            </a:endParaRPr>
          </a:p>
          <a:p>
            <a:pPr indent="-323850" lvl="0" marL="457200" rtl="0" algn="l">
              <a:lnSpc>
                <a:spcPct val="150000"/>
              </a:lnSpc>
              <a:spcBef>
                <a:spcPts val="0"/>
              </a:spcBef>
              <a:spcAft>
                <a:spcPts val="0"/>
              </a:spcAft>
              <a:buClr>
                <a:schemeClr val="accent2"/>
              </a:buClr>
              <a:buSzPts val="1500"/>
              <a:buFont typeface="DM Sans"/>
              <a:buChar char="●"/>
            </a:pPr>
            <a:r>
              <a:rPr lang="en-US" sz="1500">
                <a:solidFill>
                  <a:schemeClr val="dk1"/>
                </a:solidFill>
              </a:rPr>
              <a:t>Stunting and anemia often co-occur [6]. Perhaps a bivariate logit/probit model would be more appropriate.</a:t>
            </a:r>
            <a:endParaRPr sz="1000">
              <a:solidFill>
                <a:schemeClr val="accent2"/>
              </a:solidFill>
              <a:latin typeface="DM Sans"/>
              <a:ea typeface="DM Sans"/>
              <a:cs typeface="DM Sans"/>
              <a:sym typeface="DM Sans"/>
            </a:endParaRPr>
          </a:p>
          <a:p>
            <a:pPr indent="0" lvl="0" marL="0" rtl="0" algn="l">
              <a:lnSpc>
                <a:spcPct val="150000"/>
              </a:lnSpc>
              <a:spcBef>
                <a:spcPts val="0"/>
              </a:spcBef>
              <a:spcAft>
                <a:spcPts val="0"/>
              </a:spcAft>
              <a:buNone/>
            </a:pPr>
            <a:r>
              <a:t/>
            </a:r>
            <a:endParaRPr sz="1600">
              <a:solidFill>
                <a:schemeClr val="accent2"/>
              </a:solidFill>
              <a:latin typeface="DM Sans"/>
              <a:ea typeface="DM Sans"/>
              <a:cs typeface="DM Sans"/>
              <a:sym typeface="DM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71"/>
          <p:cNvSpPr/>
          <p:nvPr/>
        </p:nvSpPr>
        <p:spPr>
          <a:xfrm>
            <a:off x="8305005" y="0"/>
            <a:ext cx="38871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9" name="Google Shape;329;p71"/>
          <p:cNvSpPr txBox="1"/>
          <p:nvPr/>
        </p:nvSpPr>
        <p:spPr>
          <a:xfrm>
            <a:off x="479425" y="764540"/>
            <a:ext cx="11355000" cy="388500"/>
          </a:xfrm>
          <a:prstGeom prst="rect">
            <a:avLst/>
          </a:prstGeom>
          <a:noFill/>
          <a:ln>
            <a:noFill/>
          </a:ln>
        </p:spPr>
        <p:txBody>
          <a:bodyPr anchorCtr="0" anchor="t" bIns="45700" lIns="91425" spcFirstLastPara="1" rIns="91425" wrap="square" tIns="45700">
            <a:noAutofit/>
          </a:bodyPr>
          <a:lstStyle/>
          <a:p>
            <a:pPr indent="0" lvl="0" marL="0" rtl="0" algn="l">
              <a:lnSpc>
                <a:spcPct val="85000"/>
              </a:lnSpc>
              <a:spcBef>
                <a:spcPts val="0"/>
              </a:spcBef>
              <a:spcAft>
                <a:spcPts val="0"/>
              </a:spcAft>
              <a:buClr>
                <a:schemeClr val="dk1"/>
              </a:buClr>
              <a:buSzPts val="1100"/>
              <a:buFont typeface="Arial"/>
              <a:buNone/>
            </a:pPr>
            <a:r>
              <a:rPr b="1" lang="en-US" sz="2400">
                <a:solidFill>
                  <a:schemeClr val="accent2"/>
                </a:solidFill>
                <a:latin typeface="DM Sans"/>
                <a:ea typeface="DM Sans"/>
                <a:cs typeface="DM Sans"/>
                <a:sym typeface="DM Sans"/>
              </a:rPr>
              <a:t>References</a:t>
            </a:r>
            <a:endParaRPr b="1" sz="2400">
              <a:solidFill>
                <a:schemeClr val="accent2"/>
              </a:solidFill>
              <a:latin typeface="DM Sans"/>
              <a:ea typeface="DM Sans"/>
              <a:cs typeface="DM Sans"/>
              <a:sym typeface="DM Sans"/>
            </a:endParaRPr>
          </a:p>
          <a:p>
            <a:pPr indent="0" lvl="0" marL="0" rtl="0" algn="l">
              <a:lnSpc>
                <a:spcPct val="85000"/>
              </a:lnSpc>
              <a:spcBef>
                <a:spcPts val="0"/>
              </a:spcBef>
              <a:spcAft>
                <a:spcPts val="0"/>
              </a:spcAft>
              <a:buClr>
                <a:schemeClr val="dk1"/>
              </a:buClr>
              <a:buSzPts val="1100"/>
              <a:buFont typeface="Arial"/>
              <a:buNone/>
            </a:pPr>
            <a:r>
              <a:t/>
            </a:r>
            <a:endParaRPr b="1" sz="2600">
              <a:solidFill>
                <a:schemeClr val="accent2"/>
              </a:solidFill>
              <a:latin typeface="DM Sans"/>
              <a:ea typeface="DM Sans"/>
              <a:cs typeface="DM Sans"/>
              <a:sym typeface="DM Sans"/>
            </a:endParaRPr>
          </a:p>
          <a:p>
            <a:pPr indent="0" lvl="0" marL="0" marR="0" rtl="0" algn="l">
              <a:lnSpc>
                <a:spcPct val="85000"/>
              </a:lnSpc>
              <a:spcBef>
                <a:spcPts val="0"/>
              </a:spcBef>
              <a:spcAft>
                <a:spcPts val="0"/>
              </a:spcAft>
              <a:buClr>
                <a:srgbClr val="000000"/>
              </a:buClr>
              <a:buSzPts val="2600"/>
              <a:buFont typeface="Arial"/>
              <a:buNone/>
            </a:pPr>
            <a:r>
              <a:t/>
            </a:r>
            <a:endParaRPr b="1" sz="2600">
              <a:solidFill>
                <a:schemeClr val="accent2"/>
              </a:solidFill>
              <a:latin typeface="DM Sans"/>
              <a:ea typeface="DM Sans"/>
              <a:cs typeface="DM Sans"/>
              <a:sym typeface="DM Sans"/>
            </a:endParaRPr>
          </a:p>
        </p:txBody>
      </p:sp>
      <p:sp>
        <p:nvSpPr>
          <p:cNvPr id="330" name="Google Shape;330;p71"/>
          <p:cNvSpPr/>
          <p:nvPr/>
        </p:nvSpPr>
        <p:spPr>
          <a:xfrm>
            <a:off x="476250" y="1542232"/>
            <a:ext cx="11236200" cy="47517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1" name="Google Shape;331;p71"/>
          <p:cNvSpPr txBox="1"/>
          <p:nvPr/>
        </p:nvSpPr>
        <p:spPr>
          <a:xfrm>
            <a:off x="479425" y="1542300"/>
            <a:ext cx="11236200" cy="4751700"/>
          </a:xfrm>
          <a:prstGeom prst="rect">
            <a:avLst/>
          </a:prstGeom>
          <a:noFill/>
          <a:ln>
            <a:noFill/>
          </a:ln>
        </p:spPr>
        <p:txBody>
          <a:bodyPr anchorCtr="0" anchor="t" bIns="45700" lIns="0" spcFirstLastPara="1" rIns="0" wrap="square" tIns="45700">
            <a:noAutofit/>
          </a:bodyPr>
          <a:lstStyle/>
          <a:p>
            <a:pPr indent="-97155" lvl="0" marL="91440" rtl="0" algn="l">
              <a:spcBef>
                <a:spcPts val="0"/>
              </a:spcBef>
              <a:spcAft>
                <a:spcPts val="0"/>
              </a:spcAft>
              <a:buClr>
                <a:srgbClr val="424242"/>
              </a:buClr>
              <a:buSzPts val="1530"/>
              <a:buFont typeface="Nunito"/>
              <a:buChar char="●"/>
            </a:pPr>
            <a:r>
              <a:rPr lang="en-US" sz="1390">
                <a:solidFill>
                  <a:srgbClr val="424242"/>
                </a:solidFill>
                <a:latin typeface="Nunito"/>
                <a:ea typeface="Nunito"/>
                <a:cs typeface="Nunito"/>
                <a:sym typeface="Nunito"/>
              </a:rPr>
              <a:t>[1] World Health Organization. (2011). Haemoglobin concentrations for the diagnosis of anaemia and assessment of severity url: </a:t>
            </a:r>
            <a:r>
              <a:rPr lang="en-US" sz="1390" u="sng">
                <a:solidFill>
                  <a:srgbClr val="27278B"/>
                </a:solidFill>
                <a:latin typeface="Nunito"/>
                <a:ea typeface="Nunito"/>
                <a:cs typeface="Nunito"/>
                <a:sym typeface="Nunito"/>
                <a:hlinkClick r:id="rId3">
                  <a:extLst>
                    <a:ext uri="{A12FA001-AC4F-418D-AE19-62706E023703}">
                      <ahyp:hlinkClr val="tx"/>
                    </a:ext>
                  </a:extLst>
                </a:hlinkClick>
              </a:rPr>
              <a:t>https://iris.who.int/server/api/core/bitstreams/b82789de-df63-41ba-8058-25f9f5da0c40/content</a:t>
            </a:r>
            <a:endParaRPr sz="1390">
              <a:solidFill>
                <a:srgbClr val="424242"/>
              </a:solidFill>
              <a:latin typeface="Nunito"/>
              <a:ea typeface="Nunito"/>
              <a:cs typeface="Nunito"/>
              <a:sym typeface="Nunito"/>
            </a:endParaRPr>
          </a:p>
          <a:p>
            <a:pPr indent="-97155" lvl="0" marL="91440" rtl="0" algn="l">
              <a:spcBef>
                <a:spcPts val="1400"/>
              </a:spcBef>
              <a:spcAft>
                <a:spcPts val="0"/>
              </a:spcAft>
              <a:buClr>
                <a:srgbClr val="424242"/>
              </a:buClr>
              <a:buSzPts val="1530"/>
              <a:buFont typeface="Nunito"/>
              <a:buChar char="●"/>
            </a:pPr>
            <a:r>
              <a:rPr lang="en-US" sz="1390">
                <a:solidFill>
                  <a:srgbClr val="424242"/>
                </a:solidFill>
                <a:latin typeface="Nunito"/>
                <a:ea typeface="Nunito"/>
                <a:cs typeface="Nunito"/>
                <a:sym typeface="Nunito"/>
              </a:rPr>
              <a:t>[2] World Health Organization. (2015, November 19). Stunting in a nutshell. url: </a:t>
            </a:r>
            <a:r>
              <a:rPr lang="en-US" sz="1390" u="sng">
                <a:solidFill>
                  <a:srgbClr val="27278B"/>
                </a:solidFill>
                <a:latin typeface="Nunito"/>
                <a:ea typeface="Nunito"/>
                <a:cs typeface="Nunito"/>
                <a:sym typeface="Nunito"/>
                <a:hlinkClick r:id="rId4">
                  <a:extLst>
                    <a:ext uri="{A12FA001-AC4F-418D-AE19-62706E023703}">
                      <ahyp:hlinkClr val="tx"/>
                    </a:ext>
                  </a:extLst>
                </a:hlinkClick>
              </a:rPr>
              <a:t>https://www.who.int/news/item/19-11-2015-stunting-in-a-nutshell</a:t>
            </a:r>
            <a:endParaRPr sz="1390">
              <a:solidFill>
                <a:srgbClr val="424242"/>
              </a:solidFill>
              <a:latin typeface="Nunito"/>
              <a:ea typeface="Nunito"/>
              <a:cs typeface="Nunito"/>
              <a:sym typeface="Nunito"/>
            </a:endParaRPr>
          </a:p>
          <a:p>
            <a:pPr indent="-97155" lvl="0" marL="91440" rtl="0" algn="l">
              <a:spcBef>
                <a:spcPts val="1400"/>
              </a:spcBef>
              <a:spcAft>
                <a:spcPts val="0"/>
              </a:spcAft>
              <a:buClr>
                <a:srgbClr val="424242"/>
              </a:buClr>
              <a:buSzPts val="1530"/>
              <a:buFont typeface="Nunito"/>
              <a:buChar char="●"/>
            </a:pPr>
            <a:r>
              <a:rPr lang="en-US" sz="1390">
                <a:solidFill>
                  <a:srgbClr val="424242"/>
                </a:solidFill>
                <a:latin typeface="Nunito"/>
                <a:ea typeface="Nunito"/>
                <a:cs typeface="Nunito"/>
                <a:sym typeface="Nunito"/>
              </a:rPr>
              <a:t>[3] Bursac, Z., Gauss, C. H., Williams, D. K., &amp; Hosmer, D. W. </a:t>
            </a:r>
            <a:r>
              <a:rPr i="1" lang="en-US" sz="1390">
                <a:solidFill>
                  <a:srgbClr val="424242"/>
                </a:solidFill>
                <a:latin typeface="Nunito"/>
                <a:ea typeface="Nunito"/>
                <a:cs typeface="Nunito"/>
                <a:sym typeface="Nunito"/>
              </a:rPr>
              <a:t>Purposeful selection of variables in logistic regression. </a:t>
            </a:r>
            <a:r>
              <a:rPr b="1" lang="en-US" sz="1390">
                <a:solidFill>
                  <a:srgbClr val="424242"/>
                </a:solidFill>
                <a:latin typeface="Nunito"/>
                <a:ea typeface="Nunito"/>
                <a:cs typeface="Nunito"/>
                <a:sym typeface="Nunito"/>
              </a:rPr>
              <a:t>Source Code for Biology and Medicine</a:t>
            </a:r>
            <a:r>
              <a:rPr lang="en-US" sz="1390">
                <a:solidFill>
                  <a:srgbClr val="424242"/>
                </a:solidFill>
                <a:latin typeface="Nunito"/>
                <a:ea typeface="Nunito"/>
                <a:cs typeface="Nunito"/>
                <a:sym typeface="Nunito"/>
              </a:rPr>
              <a:t> (2008) 3:17</a:t>
            </a:r>
            <a:endParaRPr sz="1390">
              <a:solidFill>
                <a:srgbClr val="424242"/>
              </a:solidFill>
              <a:latin typeface="Nunito"/>
              <a:ea typeface="Nunito"/>
              <a:cs typeface="Nunito"/>
              <a:sym typeface="Nunito"/>
            </a:endParaRPr>
          </a:p>
          <a:p>
            <a:pPr indent="-97155" lvl="0" marL="91440" rtl="0" algn="l">
              <a:spcBef>
                <a:spcPts val="1400"/>
              </a:spcBef>
              <a:spcAft>
                <a:spcPts val="0"/>
              </a:spcAft>
              <a:buClr>
                <a:srgbClr val="424242"/>
              </a:buClr>
              <a:buSzPts val="1530"/>
              <a:buFont typeface="Nunito"/>
              <a:buChar char="●"/>
            </a:pPr>
            <a:r>
              <a:rPr lang="en-US" sz="1390">
                <a:solidFill>
                  <a:srgbClr val="424242"/>
                </a:solidFill>
                <a:latin typeface="Nunito"/>
                <a:ea typeface="Nunito"/>
                <a:cs typeface="Nunito"/>
                <a:sym typeface="Nunito"/>
              </a:rPr>
              <a:t>[4] Hosmer, D. W., Lemeshow, S., &amp; Sturdivant, R. X. </a:t>
            </a:r>
            <a:r>
              <a:rPr i="1" lang="en-US" sz="1390">
                <a:solidFill>
                  <a:srgbClr val="424242"/>
                </a:solidFill>
                <a:latin typeface="Nunito"/>
                <a:ea typeface="Nunito"/>
                <a:cs typeface="Nunito"/>
                <a:sym typeface="Nunito"/>
              </a:rPr>
              <a:t>Model-Building Strategies and Methods for Logistic Regression.</a:t>
            </a:r>
            <a:r>
              <a:rPr lang="en-US" sz="1390">
                <a:solidFill>
                  <a:srgbClr val="424242"/>
                </a:solidFill>
                <a:latin typeface="Nunito"/>
                <a:ea typeface="Nunito"/>
                <a:cs typeface="Nunito"/>
                <a:sym typeface="Nunito"/>
              </a:rPr>
              <a:t> In: Applied Logistic Regression, Chapter 4, Wiley (2000), pp. 91–142.</a:t>
            </a:r>
            <a:endParaRPr sz="1390">
              <a:solidFill>
                <a:srgbClr val="424242"/>
              </a:solidFill>
              <a:latin typeface="Nunito"/>
              <a:ea typeface="Nunito"/>
              <a:cs typeface="Nunito"/>
              <a:sym typeface="Nunito"/>
            </a:endParaRPr>
          </a:p>
          <a:p>
            <a:pPr indent="-88265" lvl="0" marL="91440" rtl="0" algn="l">
              <a:spcBef>
                <a:spcPts val="1400"/>
              </a:spcBef>
              <a:spcAft>
                <a:spcPts val="0"/>
              </a:spcAft>
              <a:buClr>
                <a:srgbClr val="424242"/>
              </a:buClr>
              <a:buSzPts val="1390"/>
              <a:buFont typeface="Nunito"/>
              <a:buChar char="●"/>
            </a:pPr>
            <a:r>
              <a:rPr lang="en-US" sz="1390">
                <a:solidFill>
                  <a:srgbClr val="424242"/>
                </a:solidFill>
                <a:latin typeface="Nunito"/>
                <a:ea typeface="Nunito"/>
                <a:cs typeface="Nunito"/>
                <a:sym typeface="Nunito"/>
              </a:rPr>
              <a:t>[5] Hosmer, D. W., Lemeshow, S., &amp; Sturdivant, R. X. </a:t>
            </a:r>
            <a:r>
              <a:rPr i="1" lang="en-US" sz="1390">
                <a:solidFill>
                  <a:srgbClr val="424242"/>
                </a:solidFill>
                <a:latin typeface="Nunito"/>
                <a:ea typeface="Nunito"/>
                <a:cs typeface="Nunito"/>
                <a:sym typeface="Nunito"/>
              </a:rPr>
              <a:t>Model-Building Strategies and Methods for Logistic Regression.</a:t>
            </a:r>
            <a:r>
              <a:rPr lang="en-US" sz="1390">
                <a:solidFill>
                  <a:srgbClr val="424242"/>
                </a:solidFill>
                <a:latin typeface="Nunito"/>
                <a:ea typeface="Nunito"/>
                <a:cs typeface="Nunito"/>
                <a:sym typeface="Nunito"/>
              </a:rPr>
              <a:t> In: Applied Logistic Regression, Chapter 9.2 - 9.5, Wiley (2000)</a:t>
            </a:r>
            <a:endParaRPr sz="1390">
              <a:solidFill>
                <a:srgbClr val="424242"/>
              </a:solidFill>
              <a:latin typeface="Nunito"/>
              <a:ea typeface="Nunito"/>
              <a:cs typeface="Nunito"/>
              <a:sym typeface="Nunito"/>
            </a:endParaRPr>
          </a:p>
          <a:p>
            <a:pPr indent="-88265" lvl="0" marL="91440" rtl="0" algn="l">
              <a:spcBef>
                <a:spcPts val="1400"/>
              </a:spcBef>
              <a:spcAft>
                <a:spcPts val="0"/>
              </a:spcAft>
              <a:buClr>
                <a:srgbClr val="424242"/>
              </a:buClr>
              <a:buSzPts val="1390"/>
              <a:buFont typeface="Nunito"/>
              <a:buChar char="●"/>
            </a:pPr>
            <a:r>
              <a:rPr lang="en-US" sz="1390">
                <a:solidFill>
                  <a:srgbClr val="424242"/>
                </a:solidFill>
                <a:latin typeface="Nunito"/>
                <a:ea typeface="Nunito"/>
                <a:cs typeface="Nunito"/>
                <a:sym typeface="Nunito"/>
              </a:rPr>
              <a:t>[6] Gosdin L, Martorell R, Bartolini RM, Mehta R, Srikantiah S, Young MF. The co-occurrence of anaemia and stunting in young children. Matern Child Nutr. 2018 Jul;14(3):e12597. doi: 10.1111/mcn.12597.</a:t>
            </a:r>
            <a:endParaRPr sz="1390">
              <a:solidFill>
                <a:srgbClr val="424242"/>
              </a:solidFill>
              <a:latin typeface="Nunito"/>
              <a:ea typeface="Nunito"/>
              <a:cs typeface="Nunito"/>
              <a:sym typeface="Nunito"/>
            </a:endParaRPr>
          </a:p>
          <a:p>
            <a:pPr indent="-88265" lvl="0" marL="91440" rtl="0" algn="l">
              <a:spcBef>
                <a:spcPts val="1400"/>
              </a:spcBef>
              <a:spcAft>
                <a:spcPts val="0"/>
              </a:spcAft>
              <a:buClr>
                <a:srgbClr val="424242"/>
              </a:buClr>
              <a:buSzPts val="1390"/>
              <a:buFont typeface="Nunito"/>
              <a:buChar char="●"/>
            </a:pPr>
            <a:r>
              <a:rPr lang="en-US" sz="1390">
                <a:solidFill>
                  <a:srgbClr val="424242"/>
                </a:solidFill>
                <a:latin typeface="Nunito"/>
                <a:ea typeface="Nunito"/>
                <a:cs typeface="Nunito"/>
                <a:sym typeface="Nunito"/>
              </a:rPr>
              <a:t>[7] Vaivada T, Akseer N, Akseer S, Somaskandan A, Stefopulos M, Bhutta ZA. Stunting in childhood: an overview of global burden, trends, determinants, and drivers of decline. Am J Clin Nutr. 2020;112(Suppl 2):777S–791S. doi: https://doi.org/10.1093/ajcn/nqaa159.</a:t>
            </a:r>
            <a:endParaRPr sz="1390">
              <a:solidFill>
                <a:srgbClr val="424242"/>
              </a:solidFill>
              <a:latin typeface="Nunito"/>
              <a:ea typeface="Nunito"/>
              <a:cs typeface="Nunito"/>
              <a:sym typeface="Nuni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72"/>
          <p:cNvSpPr/>
          <p:nvPr/>
        </p:nvSpPr>
        <p:spPr>
          <a:xfrm>
            <a:off x="89" y="0"/>
            <a:ext cx="121920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Calibri"/>
              <a:ea typeface="Calibri"/>
              <a:cs typeface="Calibri"/>
              <a:sym typeface="Calibri"/>
            </a:endParaRPr>
          </a:p>
        </p:txBody>
      </p:sp>
      <p:sp>
        <p:nvSpPr>
          <p:cNvPr id="337" name="Google Shape;337;p72"/>
          <p:cNvSpPr/>
          <p:nvPr/>
        </p:nvSpPr>
        <p:spPr>
          <a:xfrm>
            <a:off x="3028950" y="1895476"/>
            <a:ext cx="6134100" cy="1065473"/>
          </a:xfrm>
          <a:custGeom>
            <a:rect b="b" l="l" r="r" t="t"/>
            <a:pathLst>
              <a:path extrusionOk="0" h="1065473" w="6134100">
                <a:moveTo>
                  <a:pt x="0" y="0"/>
                </a:moveTo>
                <a:lnTo>
                  <a:pt x="6134100" y="0"/>
                </a:lnTo>
                <a:lnTo>
                  <a:pt x="6134100" y="1065473"/>
                </a:lnTo>
                <a:lnTo>
                  <a:pt x="6104932" y="1065473"/>
                </a:lnTo>
                <a:lnTo>
                  <a:pt x="6104932" y="29168"/>
                </a:lnTo>
                <a:lnTo>
                  <a:pt x="29168" y="29168"/>
                </a:lnTo>
                <a:lnTo>
                  <a:pt x="29168" y="1065473"/>
                </a:lnTo>
                <a:lnTo>
                  <a:pt x="0" y="1065473"/>
                </a:lnTo>
                <a:lnTo>
                  <a:pt x="0" y="0"/>
                </a:ln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8" name="Google Shape;338;p72"/>
          <p:cNvSpPr/>
          <p:nvPr/>
        </p:nvSpPr>
        <p:spPr>
          <a:xfrm>
            <a:off x="3028950" y="3897053"/>
            <a:ext cx="6134100" cy="1065473"/>
          </a:xfrm>
          <a:custGeom>
            <a:rect b="b" l="l" r="r" t="t"/>
            <a:pathLst>
              <a:path extrusionOk="0" h="1065473" w="6134100">
                <a:moveTo>
                  <a:pt x="0" y="0"/>
                </a:moveTo>
                <a:lnTo>
                  <a:pt x="29168" y="0"/>
                </a:lnTo>
                <a:lnTo>
                  <a:pt x="29168" y="1036305"/>
                </a:lnTo>
                <a:lnTo>
                  <a:pt x="6104932" y="1036305"/>
                </a:lnTo>
                <a:lnTo>
                  <a:pt x="6104932" y="0"/>
                </a:lnTo>
                <a:lnTo>
                  <a:pt x="6134100" y="0"/>
                </a:lnTo>
                <a:lnTo>
                  <a:pt x="6134100" y="1065473"/>
                </a:lnTo>
                <a:lnTo>
                  <a:pt x="0" y="1065473"/>
                </a:lnTo>
                <a:lnTo>
                  <a:pt x="0" y="0"/>
                </a:ln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9" name="Google Shape;339;p72"/>
          <p:cNvSpPr txBox="1"/>
          <p:nvPr/>
        </p:nvSpPr>
        <p:spPr>
          <a:xfrm>
            <a:off x="3029050" y="2673450"/>
            <a:ext cx="6134100" cy="151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9000">
                <a:solidFill>
                  <a:schemeClr val="lt1"/>
                </a:solidFill>
                <a:latin typeface="DM Sans"/>
                <a:ea typeface="DM Sans"/>
                <a:cs typeface="DM Sans"/>
                <a:sym typeface="DM Sans"/>
              </a:rPr>
              <a:t>Questions?</a:t>
            </a:r>
            <a:endParaRPr sz="9000">
              <a:solidFill>
                <a:schemeClr val="lt1"/>
              </a:solidFill>
              <a:latin typeface="DM Sans"/>
              <a:ea typeface="DM Sans"/>
              <a:cs typeface="DM Sans"/>
              <a:sym typeface="DM Sans"/>
            </a:endParaRPr>
          </a:p>
        </p:txBody>
      </p:sp>
      <p:sp>
        <p:nvSpPr>
          <p:cNvPr id="340" name="Google Shape;340;p72"/>
          <p:cNvSpPr txBox="1"/>
          <p:nvPr/>
        </p:nvSpPr>
        <p:spPr>
          <a:xfrm>
            <a:off x="3055375" y="5031425"/>
            <a:ext cx="6134100" cy="5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72"/>
          <p:cNvSpPr txBox="1"/>
          <p:nvPr/>
        </p:nvSpPr>
        <p:spPr>
          <a:xfrm>
            <a:off x="3022175" y="5097825"/>
            <a:ext cx="6134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800">
                <a:solidFill>
                  <a:schemeClr val="lt1"/>
                </a:solidFill>
              </a:rPr>
              <a:t>“Until next time, stay significant”</a:t>
            </a:r>
            <a:endParaRPr sz="18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12">
      <a:dk1>
        <a:srgbClr val="000000"/>
      </a:dk1>
      <a:lt1>
        <a:srgbClr val="FFFFFF"/>
      </a:lt1>
      <a:dk2>
        <a:srgbClr val="44546A"/>
      </a:dk2>
      <a:lt2>
        <a:srgbClr val="E7E6E6"/>
      </a:lt2>
      <a:accent1>
        <a:srgbClr val="D5C8BD"/>
      </a:accent1>
      <a:accent2>
        <a:srgbClr val="171717"/>
      </a:accent2>
      <a:accent3>
        <a:srgbClr val="D8D8D8"/>
      </a:accent3>
      <a:accent4>
        <a:srgbClr val="FFFFFF"/>
      </a:accent4>
      <a:accent5>
        <a:srgbClr val="FFFFFF"/>
      </a:accent5>
      <a:accent6>
        <a:srgbClr val="FFFFFF"/>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